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59" r:id="rId3"/>
    <p:sldId id="263" r:id="rId4"/>
    <p:sldId id="270" r:id="rId5"/>
    <p:sldId id="271" r:id="rId6"/>
    <p:sldId id="272" r:id="rId7"/>
    <p:sldId id="273" r:id="rId8"/>
    <p:sldId id="274" r:id="rId9"/>
    <p:sldId id="275" r:id="rId10"/>
    <p:sldId id="276" r:id="rId11"/>
    <p:sldId id="277" r:id="rId12"/>
    <p:sldId id="260" r:id="rId13"/>
    <p:sldId id="269" r:id="rId14"/>
    <p:sldId id="268" r:id="rId15"/>
    <p:sldId id="267" r:id="rId16"/>
    <p:sldId id="266" r:id="rId17"/>
    <p:sldId id="265" r:id="rId18"/>
    <p:sldId id="261" r:id="rId19"/>
    <p:sldId id="264" r:id="rId20"/>
    <p:sldId id="26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6" userDrawn="1">
          <p15:clr>
            <a:srgbClr val="A4A3A4"/>
          </p15:clr>
        </p15:guide>
        <p15:guide id="4" pos="75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94660"/>
  </p:normalViewPr>
  <p:slideViewPr>
    <p:cSldViewPr snapToGrid="0" showGuides="1">
      <p:cViewPr varScale="1">
        <p:scale>
          <a:sx n="92" d="100"/>
          <a:sy n="92" d="100"/>
        </p:scale>
        <p:origin x="420" y="36"/>
      </p:cViewPr>
      <p:guideLst>
        <p:guide orient="horz" pos="2160"/>
        <p:guide pos="3840"/>
        <p:guide pos="166"/>
        <p:guide pos="75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29:57.893"/>
    </inkml:context>
    <inkml:brush xml:id="br0">
      <inkml:brushProperty name="width" value="0.05292" units="cm"/>
      <inkml:brushProperty name="height" value="0.05292" units="cm"/>
      <inkml:brushProperty name="color" value="#FF0000"/>
    </inkml:brush>
  </inkml:definitions>
  <inkml:trace contextRef="#ctx0" brushRef="#br0">2853 12452 0,'49'0'32,"1"0"-17,24 0 1,125 0-1,-1 0 1,75 0 0,49 0-1,-24 0 1,-199 0-16,25 0 16,50 0-1,-75 0-15,25 0 16,-49 0-16,24 0 15,124 0 1,99 0 0,1-25 15,-50 0-15,-100 1-1,-24 24 1,0 0-1,-25 0 1,25 0 0,-124 0-16,24 0 15,75 0 1,-49 0 0,24 0-1,-49 0 1,24 0-1,0 0 17</inkml:trace>
  <inkml:trace contextRef="#ctx0" brushRef="#br0" timeOffset="1429.27">18852 12477 0,'49'0'15,"1"0"1,74 0-1,0-25 1,149 0 0,-50-24-1,-25 49 1,-49 0 0,25 0-1,-125 0 1</inkml:trace>
</inkml:ink>
</file>

<file path=ppt/ink/ink2.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30:43.299"/>
    </inkml:context>
    <inkml:brush xml:id="br0">
      <inkml:brushProperty name="width" value="0.05292" units="cm"/>
      <inkml:brushProperty name="height" value="0.05292" units="cm"/>
      <inkml:brushProperty name="color" value="#FF0000"/>
    </inkml:brush>
  </inkml:definitions>
  <inkml:trace contextRef="#ctx0" brushRef="#br0">4514 12353 0,'25'0'63,"50"0"-32,-1 0 0,25 0-15,100 0 0,49 0-1,49 0 1,26 0 0,-149 0-16,24 25 15,-49-25-15,49 0 16,323 0-1,-174 0 1,-123 0 0,24 0-1,-50 0 17,-24 0-17,24 0 1,-24 0-1,-1 0 1,-123 0-16,49 0 16,-24 0-16,24 0 15,25-25-15,0 0 16,174 25 0,-75-25-1,25 25 1,-74 0-1,-1 0 1,-49 0 0,50 0 15,-25 0-15,-50 0-1,-25 0-15,-24 0 16,74-49-1,-74 24 1,24 25 0,0-25-1,1 25 1,-26-25 0,51 0-1,-76 25 1,51-25-1,-26 1 1,1-26 0,-25 0 15,0 1-15,24-26-1,-49-49 1,50 25-1,-50-50 1,0 1 0,0 48-1,0-24 1,0-25 0,-50-74-1,-24-99 1,-25 24-1,49 149 1,0-49 15,-74-1-15,100 125 0,-100-149-1,49 99 1,-24-25-1,99 99-15,-74-24 16,24-25 0,-49-25-1,49 74 1,-24-49 0,24 74-1,0-25 1,1 26-1,-1-26 17,1 25-17,-1 25 1,25-25-16,0-24 16,-24 49-16,-26 0 15,-24-50 1,50 25-1,-75 1 1,49-1 0,-24-25-1,-50 50 1,75-25 0,-50-24-1,0 49 1,-25-25 15,74 0-15,51 25-16,-100-25 15,-50 0 1,25 1 0,50 24-1,-75-25 1,50 25-1,-49 0 1,73 0 0,1 0-1,0 0 1,49 0-16,25 0 16,-49 0-16,24 0 15,-98 0 16,-1 0-15,50 0 0,-1 0-1,-48 0 1,24 0 0,-50 0-1,50 0 1,-75 0-1,100 0-15,0 0 16,-174-50 0,149 50-1,-25-25 1,75 25 0,-75-24 15,0-1-16,50 25 1,-50 0 0,0 0-1,50 0 1,25 0 0,-1 0-16,-24 0 15,0 0 1,-50 0-1,75 0 1,-100 0 0,25 0-1,-74 0 1,74 0 0,-25 0 15,75 0-31,50 0 15,-125 0 1,100 0-16,-100 0 16,25 0-1,0 0 1,50 0 0,-50 0-1,50 0 1,0 0-1,24 0 1,-24 0 0,50 0-1,-26 25 1,26 24-16,-1-24 16,-24 49-1,-125 26 1,125-75-1,24 49 1,50-49 0,-25 0-1,0 74 1,25 0 0,0 75-1,0-1 1,0-74-16,0 1 15,25-1-15,0 0 16,99 174 0,-25-75-1,-24-49 17,24 50-17,-25-1 1,26-49-1,-1 74 1,25 25 0,-25-74-1,-25-100-15,-24 1 16,148 247 0,-98-198-1,24 75 1,25-26-1,-25-74 1,49 50 0,-74-99 15,25 0-15,-49-26-1,-50-24-15,24 25 16,-24 0-1,25-25 1,74 25 0,-75-25-1,-24 49 1,0-49 0,49 0-1,26 0 1,-51 0-1,-24 0 32,0 0-31,0 0 31,-1 0-32,26 0 17,-25 0-17,24 0 79,75 0-63,-74 0-15,0 0 0,-26 0-1,1 0 16,0 0 1,0-24-1,0 24 31,-1 0-30,26-25 93,-25 25-94</inkml:trace>
</inkml:ink>
</file>

<file path=ppt/ink/ink3.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31:12.323"/>
    </inkml:context>
    <inkml:brush xml:id="br0">
      <inkml:brushProperty name="width" value="0.05292" units="cm"/>
      <inkml:brushProperty name="height" value="0.05292" units="cm"/>
      <inkml:brushProperty name="color" value="#FF0000"/>
    </inkml:brush>
  </inkml:definitions>
  <inkml:trace contextRef="#ctx0" brushRef="#br0">9029 5680 0,'25'0'94,"74"25"-79,323-25 32,148 0-31,-322 0-1,248 0 17,-223 0-17,-198 0 1,24 25 0,-25-25-1,25 0 1,25 0-1,-24 0 1,-1 0 0,25 0-1,-50 0-15,50 0 16,224 0 0,-76 0-1,-73 0 1,24 0 15,-24 0-15,-26 0-1,-49 0 1,-49 0 0,-1 0-1,-24 0 1,-26 0-1,1 0-15,25 0 16,-25 0 0,24 0-1,-24-25 17</inkml:trace>
  <inkml:trace contextRef="#ctx0" brushRef="#br0" timeOffset="5280.12">18182 5854 0,'25'0'94,"-1"0"-79,26 0 1,198 25 0,99 49-1,50-24 1,174-50 0,-50 0 15,-25 0-16,-25 0 1,-322 0-16,0 0 16,-75 0-16,25 0 15,50 0 1,25 0 0,-50 0-1,49 0 1,-73 0-1,48 0 1,51 0 0,49 0-1,-74 0 1,24 0 0,-99 0 15,-74 0 0</inkml:trace>
  <inkml:trace contextRef="#ctx0" brushRef="#br0" timeOffset="9295.17">10592 7491 0,'24'25'125,"448"-25"-94,247 0 0,0 0 1,-396 0-17,-75 0 1,0 0 0,-25 0-1,50 0 1,-25 0-1,-25 0 1,25 0 0,-24 0-1,48 0 1,-148 0 0,-24 0-1,-51 0 1,1 0-1,-25 0 32,0 0 0,-1 0 16</inkml:trace>
  <inkml:trace contextRef="#ctx0" brushRef="#br0" timeOffset="13864.18">16917 7491 0,'0'-25'78,"25"25"-62,49 0-1,0 0 1,50 0-1,149 0 1,0 0 0,25 0-1,-1 0 1,-98 0 0,-25 0-1,-50 0 1,-50-25-16,0 25 15,26 0 1,-51-24 0,26 24 15,-26 0-15,75 0-1,0 0 1,50 0-1,0 0 1,-50 0 0,-75 0-16,-24 0 15,0 0-15,24 0 16,-24 0 0,25 0-1,-1 0 1,-24 0-1,50 0 1,-51 0 15,26 0-15,24 0 31,-49 0-32,25 0 1,24 0 0,-24 0-1,-25 0 1,49 0 0,-49 0-1,25 0 1,-26 0-1,1 0 17,0 0-17,0 0 1,0 0 0,-1 0-1,1 0 1,25 0-1,-25 0 1,24 0 0,1 0-1,-25 0 1,24 0 0,-24 0-16,25 0 62,-26 0-46,1 0 15,0 0 0</inkml:trace>
</inkml:ink>
</file>

<file path=ppt/ink/ink4.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32:44.307"/>
    </inkml:context>
    <inkml:brush xml:id="br0">
      <inkml:brushProperty name="width" value="0.05292" units="cm"/>
      <inkml:brushProperty name="height" value="0.05292" units="cm"/>
      <inkml:brushProperty name="color" value="#FF0000"/>
    </inkml:brush>
  </inkml:definitions>
  <inkml:trace contextRef="#ctx0" brushRef="#br0">5680 5829 0,'0'25'62,"25"-25"-46,25 0-1,-1 0 1,125 0 0,49 25 15,50-25-15,124 0-1,25 0 1,-150 0-1,1 0 1,-49 0 0,24 0-1,0 0 1,-100 0-16,76 25 16,-51-25-1,1 0 1,-25 0-1,-75 0 1,-49 0 15,25 0-15,-26 24 0,26-24-1,0 0 1,74 0-1,-100 0-15,76 0 16,-51 0 0,-24 0 15,0 0-15,0 0-1,0 0 48,-1 0-48</inkml:trace>
  <inkml:trace contextRef="#ctx0" brushRef="#br0" timeOffset="2295.96">16594 5829 0,'124'-25'172,"422"25"-156,-50 0-1,-49 0 1,-26 0 0,-49 0-1,-248 0 1,0 0 0,-74 0-1,-25 0 1,0 0-1,-1 0 1,1 0 0,0 0-16,49-25 31,1 25-15,24 0-1,0 0 1,-24 0-1,-1 0 1,1 0 0,-1 0-1,0 0 1,50 0 0,-24-24-1,-51 24-15,1 0 16,-25 0-1,-1 0 79,1 0-31,0 0-48,0 0 32</inkml:trace>
  <inkml:trace contextRef="#ctx0" brushRef="#br0" timeOffset="72799.27">11733 11658 0,'24'0'203,"26"0"-187,24 25 15,75 25-16,-50-50 1,26 0 0,48 0-1,-98 0 1,-1 0 0,0 0-1,-24 0 1,-25 0-1,24 0 1,1 0 0,0 0-1,74 0 1,-25 24 0,50 1-1,0-25 1,-25 0-1,-25 0 1,50 0 0,-25 0-1,-75 0-15,1 0 16,24 0 0,25 0 15,-49 0-16,74 0 1,-49 0 0,-1 0-1,25-25 1,-49 25 0,74 0-1,-50 0-15,-24 0 16,99 0-1,-75 0 1,25 0 0,-24 0-1,-1 0 1,25-24 15,-49 24-15,-25 0-1,0-25 1,24 25 0,50 0-1,-74 0 1,50 0 0,-51 0-1,1 0 16,0 0-15,0-50 15,0 50 126</inkml:trace>
</inkml:ink>
</file>

<file path=ppt/ink/ink5.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34:15.538"/>
    </inkml:context>
    <inkml:brush xml:id="br0">
      <inkml:brushProperty name="width" value="0.05292" units="cm"/>
      <inkml:brushProperty name="height" value="0.05292" units="cm"/>
      <inkml:brushProperty name="color" value="#FF0000"/>
    </inkml:brush>
  </inkml:definitions>
  <inkml:trace contextRef="#ctx0" brushRef="#br0">3150 5779 0,'75'0'94,"-51"0"-78,26 0-1,-25 0 1,24 0 0,51 0-1,-26 0 1,0 0 0,26 0-1,-1 0 16,-25 0-31,1 0 16,198 0 0,-25 0-1,-124 0 1,0 0 0,-100 0-1,1 0 16,0 0-15,0 0 15,25 0-15,-26 0 31,26 0-16,-25 0-15,24 0 15,-24 0-15,0 0 15,0 0-16,0 0 110</inkml:trace>
  <inkml:trace contextRef="#ctx0" brushRef="#br0" timeOffset="2843.44">15999 5829 0,'74'0'157,"1"0"-142,347 0 1,-75 0-1,124 0 1,-49 0 0,49 0-1,-198 0 1,-124 0 0,24-25-1,-73 0 16,48 1-15,-98 24-16,-25 0 16,148-25-1,1 25 1,0 0 0,-50 0-1,74 0 1,25 0-1,50-25 1,-49 25 0,-26 0-1,-124 0 1,50 0-16,75 0 16,-50 0-1,74 0 1,-49 0-1,-1 0 1,-24 0 0,0 0-1,74 50 1,124-50 0,25 0-1,-74 0 1,0 0-1,-199 0-15,25 0 16,174 0 0,-125 0-1,-24 0 1,25 24 15,-1 1-15,-49 25-1,0-50 1,75 0 0,24 25-1,25 0 1,-49-25 0,-125 0-16,-24 0 15,-26 0 1</inkml:trace>
</inkml:ink>
</file>

<file path=ppt/ink/ink6.xml><?xml version="1.0" encoding="utf-8"?>
<inkml:ink xmlns:inkml="http://www.w3.org/2003/InkML">
  <inkml:definitions>
    <inkml:context xml:id="ctx0">
      <inkml:inkSource xml:id="inkSrc0">
        <inkml:traceFormat>
          <inkml:channel name="X" type="integer" max="5206" units="cm"/>
          <inkml:channel name="Y" type="integer" max="2400" units="cm"/>
          <inkml:channel name="T" type="integer" max="2.14748E9" units="dev"/>
        </inkml:traceFormat>
        <inkml:channelProperties>
          <inkml:channelProperty channel="X" name="resolution" value="154.94048" units="1/cm"/>
          <inkml:channelProperty channel="Y" name="resolution" value="114.28571" units="1/cm"/>
          <inkml:channelProperty channel="T" name="resolution" value="1" units="1/dev"/>
        </inkml:channelProperties>
      </inkml:inkSource>
      <inkml:timestamp xml:id="ts0" timeString="2026-10-28T04:35:43.027"/>
    </inkml:context>
    <inkml:brush xml:id="br0">
      <inkml:brushProperty name="width" value="0.05292" units="cm"/>
      <inkml:brushProperty name="height" value="0.05292" units="cm"/>
      <inkml:brushProperty name="color" value="#FF0000"/>
    </inkml:brush>
  </inkml:definitions>
  <inkml:trace contextRef="#ctx0" brushRef="#br0">12303 5755 0,'75'0'62,"123"0"-46,75 49-1,198-24 1,-173 0-16,198-25 16,-50 0-1,26 0 1,-51 0 15,-148 0-15,-25 0-1,-25 0 1,50 0 0,-124 0-16,-50 0 15,125 0 1,123 0-1,199 0 1,-274 0 0,26 0-1,-50 0 1,-49 0 0,24 0-1,-149 0 1,1 0 15,24 0-15,-25 0-16,-49 0 15,124 0 1,-124 0-16,74 0 16,50 0-1,-50 0 1,-25 0-1,1 0 1,-50 0 0,24 0 15,-24 0-15,25 0-1,-1 0 16,1 0-31,24 0 16,25 0 0,-24 0-1,24 0 1,50 0 0,-50 0-1,-24 0 1,-51 0-1</inkml:trace>
  <inkml:trace contextRef="#ctx0" brushRef="#br0" timeOffset="3904.12">7193 7317 0,'25'0'109,"570"0"-77,199 0-1,-595 0-15,98 0-1,-49 0 1,-148 0-16,-26 0 15,75 0 1,-50 0 0,25 0-1,-25 0 1,1 0 0,-51 0-1,1 0 1,-25 0-1,-1 0 32,1 0 16</inkml:trace>
  <inkml:trace contextRef="#ctx0" brushRef="#br0" timeOffset="5717.39">13965 7218 0,'99'0'172,"224"0"-157,-1 0 1,100 0-1,-50 0 1,-25 75 0,-99-75-1,-49 0 1,-50 0 0,-1 0-1,1 0 1,25 0-1,-50 0 1,25 0 0</inkml:trace>
  <inkml:trace contextRef="#ctx0" brushRef="#br0" timeOffset="7015.88">23019 7367 0,'0'-50'47,"49"50"-31,26 0 0,74-24-1,322-51 16,75 75-15,-50 0 0,-99-25-1,-249 1-15,-98 24 16,-25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8CAB6-0A18-B12A-06A5-CFD0B0666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51E932-87D4-E4A3-5EC5-FD37D2ADB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361194-F8BE-C949-EFCA-00EE7F867912}"/>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FF334BE2-760E-FA63-F53E-6EC6D65C14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019652-B072-95C3-666A-824B223F073C}"/>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20810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6250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55807-6537-7A6D-A641-B2A17376E9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5B0403-42FF-1C59-1D5B-32C3D76224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186C83-3353-0411-EE9B-3502DB3E4588}"/>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470F388B-76FB-C020-4F27-4E8F47369B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013B55-0C9D-95FE-DE57-76D9CAC53846}"/>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0718621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0200A-4353-C353-E184-88D52DADCD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E2DB6-9BB8-38D4-16CA-0544ED95B0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E55387-24D0-58FA-83A3-7DE9457A88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6792733-6AE7-EB0F-FA3B-AF5CDFCC84AC}"/>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051F2C6F-7464-367E-E3F8-97DC8C8F38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816EA2-7E56-7BA3-2439-E543C4160FC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2368239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A9EF-5440-6E76-FF73-0CF065E3FE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746708-25E5-77F6-A964-227D0EE4C5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C22E3-5FB3-FA79-ED62-21819A6A00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96025A-E802-D170-D6B8-690A286BCE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B7203-20FE-415A-F923-11A30CAAC6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7DA1C9-7D6A-71D0-70D9-9B0828718429}"/>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8" name="Footer Placeholder 7">
            <a:extLst>
              <a:ext uri="{FF2B5EF4-FFF2-40B4-BE49-F238E27FC236}">
                <a16:creationId xmlns:a16="http://schemas.microsoft.com/office/drawing/2014/main" id="{C5FE8C4F-142A-8803-C2AD-C6393A49A3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83C7CE-86E2-2A63-0ECE-6F7089A68601}"/>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181712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AE12F-6D65-52A0-48AA-B03A63F84E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2C2E755-9EA8-6439-9AA9-91FF3D9183D1}"/>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4" name="Footer Placeholder 3">
            <a:extLst>
              <a:ext uri="{FF2B5EF4-FFF2-40B4-BE49-F238E27FC236}">
                <a16:creationId xmlns:a16="http://schemas.microsoft.com/office/drawing/2014/main" id="{3DEB468B-111F-CF06-6C38-3BC8CFF43D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D94801-333D-738E-07D1-D8DAF45C098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65337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345271-495D-152E-CF4A-DF4710D8BEC2}"/>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3" name="Footer Placeholder 2">
            <a:extLst>
              <a:ext uri="{FF2B5EF4-FFF2-40B4-BE49-F238E27FC236}">
                <a16:creationId xmlns:a16="http://schemas.microsoft.com/office/drawing/2014/main" id="{24F704DD-032D-53A7-BFF6-45E5965DD4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277178-4230-89A4-5872-75B349208232}"/>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53700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A69D6-24F8-42C9-1D77-EC88669074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9D61D7-9867-D57B-393C-47C770AA65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ED94E2-1CFC-4DFF-4491-2085D8036D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0CD279-5116-5E15-60C5-9EF79DDB4C64}"/>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69031C19-F77D-04E3-B033-CF6338C139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8963EA-8864-E6BE-24F5-23AFDA15D8B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808667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6FE6-775B-5F83-EEAB-E36547DB1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964366-F9DB-7570-8134-3DDD5A1017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EFF4E6-78FE-6A93-F107-25294F26CE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A6E5D-D1B7-97B4-E5F0-293D2283C25B}"/>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7470F263-4F04-05C5-5AB8-17B4BF4369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8888F2-58F4-670D-C34D-AD8FC7455A6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40883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8A30-B913-89F3-B532-786CB42C2F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D29D4D-DEE7-6A1D-B42E-38574A7273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96FAF5-A696-3446-BF82-38164F6A8A2C}"/>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24EE94DE-54DD-A6A8-474C-AB93008EA0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98F6DA-A2A6-C945-BF21-6706B5FA6B6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139727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308265-AD14-4580-CC74-9C4CF00E99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F309DA-5772-6FBD-97A3-F137B93F90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C1C790-714C-45F7-D996-F901BECA504F}"/>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7BF76402-000D-C35B-9564-25F55D31AC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067743-5BF8-DFC2-CBDC-EB27E01169C7}"/>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6375857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B05E56-8D2F-5F2F-8551-44A2B095FC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6445D5-7E47-8624-9AC3-BB3BCD2772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9B5D27-2F61-7E25-7C4F-55CEB62622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628E40CC-F5EF-5459-5DE6-51B24194D7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C677AFA-267B-483B-8828-7D5EC7CBFD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0C9D19-9CC2-4BD0-80ED-38FDA6BAD898}" type="slidenum">
              <a:rPr lang="en-IN" smtClean="0"/>
              <a:pPr/>
              <a:t>‹#›</a:t>
            </a:fld>
            <a:endParaRPr lang="en-IN"/>
          </a:p>
        </p:txBody>
      </p:sp>
    </p:spTree>
    <p:extLst>
      <p:ext uri="{BB962C8B-B14F-4D97-AF65-F5344CB8AC3E}">
        <p14:creationId xmlns:p14="http://schemas.microsoft.com/office/powerpoint/2010/main" val="892197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978768-F190-8DFE-4C91-491E032C8E73}"/>
              </a:ext>
            </a:extLst>
          </p:cNvPr>
          <p:cNvSpPr txBox="1"/>
          <p:nvPr/>
        </p:nvSpPr>
        <p:spPr>
          <a:xfrm>
            <a:off x="1009996" y="2690336"/>
            <a:ext cx="10332720" cy="1477328"/>
          </a:xfrm>
          <a:prstGeom prst="rect">
            <a:avLst/>
          </a:prstGeom>
          <a:noFill/>
        </p:spPr>
        <p:txBody>
          <a:bodyPr wrap="square">
            <a:spAutoFit/>
          </a:bodyPr>
          <a:lstStyle/>
          <a:p>
            <a:pPr algn="ctr"/>
            <a:r>
              <a:rPr lang="en-US" sz="3000" dirty="0">
                <a:solidFill>
                  <a:srgbClr val="FF0000"/>
                </a:solidFill>
                <a:latin typeface="Montserrat SemiBold" pitchFamily="2" charset="0"/>
              </a:rPr>
              <a:t>Introduction to Machine Learning and Its Fundamental Types</a:t>
            </a:r>
            <a:endParaRPr lang="en-IN" sz="3000" dirty="0">
              <a:solidFill>
                <a:srgbClr val="FF0000"/>
              </a:solidFill>
              <a:latin typeface="Montserrat SemiBold" pitchFamily="2" charset="0"/>
            </a:endParaRPr>
          </a:p>
          <a:p>
            <a:pPr algn="ctr"/>
            <a:r>
              <a:rPr lang="en-US" sz="3000" dirty="0" err="1">
                <a:solidFill>
                  <a:schemeClr val="bg1"/>
                </a:solidFill>
                <a:latin typeface="Montserrat SemiBold" pitchFamily="2" charset="0"/>
              </a:rPr>
              <a:t>ypes</a:t>
            </a:r>
            <a:endParaRPr lang="en-IN" sz="3000" dirty="0">
              <a:solidFill>
                <a:schemeClr val="bg1"/>
              </a:solidFill>
              <a:latin typeface="Montserrat SemiBold" pitchFamily="2" charset="0"/>
            </a:endParaRPr>
          </a:p>
        </p:txBody>
      </p:sp>
    </p:spTree>
    <p:extLst>
      <p:ext uri="{BB962C8B-B14F-4D97-AF65-F5344CB8AC3E}">
        <p14:creationId xmlns:p14="http://schemas.microsoft.com/office/powerpoint/2010/main" val="273672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538364"/>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r>
              <a:rPr lang="en-US">
                <a:latin typeface=""/>
                <a:ea typeface="Times New Roman"/>
                <a:cs typeface="Times New Roman"/>
              </a:rPr>
              <a:t> </a:t>
            </a:r>
          </a:p>
          <a:p>
            <a:pPr>
              <a:lnSpc>
                <a:spcPct val="115000"/>
              </a:lnSpc>
              <a:spcAft>
                <a:spcPts val="1000"/>
              </a:spcAft>
            </a:pPr>
            <a:r>
              <a:rPr lang="en-US">
                <a:latin typeface=""/>
                <a:ea typeface="Times New Roman"/>
                <a:cs typeface="Times New Roman"/>
              </a:rPr>
              <a:t>•   Define machine learning and its core principles.</a:t>
            </a:r>
          </a:p>
          <a:p>
            <a:pPr>
              <a:lnSpc>
                <a:spcPct val="115000"/>
              </a:lnSpc>
              <a:spcAft>
                <a:spcPts val="1000"/>
              </a:spcAft>
            </a:pPr>
            <a:r>
              <a:rPr lang="en-US">
                <a:latin typeface=""/>
                <a:ea typeface="Times New Roman"/>
                <a:cs typeface="Times New Roman"/>
              </a:rPr>
              <a:t>•   Differentiate machine learning from traditional programming paradigms.</a:t>
            </a:r>
          </a:p>
          <a:p>
            <a:pPr>
              <a:lnSpc>
                <a:spcPct val="115000"/>
              </a:lnSpc>
              <a:spcAft>
                <a:spcPts val="1000"/>
              </a:spcAft>
            </a:pPr>
            <a:r>
              <a:rPr lang="en-US">
                <a:latin typeface=""/>
                <a:ea typeface="Times New Roman"/>
                <a:cs typeface="Times New Roman"/>
              </a:rPr>
              <a:t>•   Identify diverse real-world applications of machine learning.</a:t>
            </a:r>
          </a:p>
          <a:p>
            <a:pPr>
              <a:lnSpc>
                <a:spcPct val="115000"/>
              </a:lnSpc>
              <a:spcAft>
                <a:spcPts val="1000"/>
              </a:spcAft>
            </a:pPr>
            <a:r>
              <a:rPr lang="en-US">
                <a:latin typeface=""/>
                <a:ea typeface="Times New Roman"/>
                <a:cs typeface="Times New Roman"/>
              </a:rPr>
              <a:t>•   Recognize the main types of machine learning: supervised, unsupervised, semi-supervised, and reinforcement learning.</a:t>
            </a:r>
          </a:p>
          <a:p>
            <a:pPr>
              <a:lnSpc>
                <a:spcPct val="115000"/>
              </a:lnSpc>
              <a:spcAft>
                <a:spcPts val="1000"/>
              </a:spcAft>
            </a:pPr>
            <a:r>
              <a:rPr lang="en-US">
                <a:latin typeface=""/>
                <a:ea typeface="Times New Roman"/>
                <a:cs typeface="Times New Roman"/>
              </a:rPr>
              <a:t>•   Understand the key characteristics and use cases for each machine learning type.</a:t>
            </a:r>
          </a:p>
          <a:p>
            <a:pPr>
              <a:lnSpc>
                <a:spcPct val="115000"/>
              </a:lnSpc>
              <a:spcAft>
                <a:spcPts val="1000"/>
              </a:spcAft>
            </a:pPr>
            <a:r>
              <a:rPr lang="en-US">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Machine learning is a transformative field within computer science and artificial intelligence.</a:t>
            </a:r>
          </a:p>
          <a:p>
            <a:endParaRPr lang="en-US" sz="2000"/>
          </a:p>
          <a:p>
            <a:r>
              <a:rPr lang="en-US" sz="2000"/>
              <a:t>•   It empowers computers to learn from data and enhance performance without explicit programming.</a:t>
            </a:r>
          </a:p>
          <a:p>
            <a:endParaRPr lang="en-US" sz="2000"/>
          </a:p>
          <a:p>
            <a:r>
              <a:rPr lang="en-US" sz="2000"/>
              <a:t>•   The core concept involves systems evolving and adapting by learning from new data.</a:t>
            </a:r>
          </a:p>
          <a:p>
            <a:endParaRPr lang="en-US" sz="2000"/>
          </a:p>
          <a:p>
            <a:r>
              <a:rPr lang="en-US" sz="2000"/>
              <a:t>•   It emerged as a solution to the rigid limitations of traditional, rule-based programming.</a:t>
            </a:r>
          </a:p>
          <a:p>
            <a:endParaRPr lang="en-US" sz="2000"/>
          </a:p>
          <a:p>
            <a:r>
              <a:rPr lang="en-US" sz="2000"/>
              <a:t>•   This field has garnered immense attention and found numerous applications across diverse industries.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Machine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Machine learning is defined as a subset of AI, enabling computers to learn from data and improve on tasks.</a:t>
            </a:r>
          </a:p>
          <a:p>
            <a:endParaRPr lang="en-US" sz="2000" dirty="0"/>
          </a:p>
          <a:p>
            <a:r>
              <a:rPr lang="en-US" sz="2000" dirty="0"/>
              <a:t>•   It involves developing algorithms and models that automatically identify patterns and make data-driven decisions.</a:t>
            </a:r>
          </a:p>
          <a:p>
            <a:endParaRPr lang="en-US" sz="2000" dirty="0"/>
          </a:p>
          <a:p>
            <a:r>
              <a:rPr lang="en-US" sz="2000" dirty="0"/>
              <a:t>•   The concept has a rich historical background, tracing back to the mid-20th century.</a:t>
            </a:r>
          </a:p>
          <a:p>
            <a:endParaRPr lang="en-US" sz="2000" dirty="0"/>
          </a:p>
          <a:p>
            <a:r>
              <a:rPr lang="en-US" sz="2000" dirty="0"/>
              <a:t>•   Arthur Samuel coined the term "machine learning" in 1959 with a program that learned to play checkers.</a:t>
            </a:r>
          </a:p>
          <a:p>
            <a:endParaRPr lang="en-US" sz="2000" dirty="0"/>
          </a:p>
          <a:p>
            <a:r>
              <a:rPr lang="en-US" sz="2000" dirty="0"/>
              <a:t>•   The field's evolution is marked by advancements in statistics, optimization, and computing power.</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Definitions and History</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2C3DE18A-B2CC-C111-9017-A439F0A9FF41}"/>
                  </a:ext>
                </a:extLst>
              </p14:cNvPr>
              <p14:cNvContentPartPr/>
              <p14:nvPr/>
            </p14:nvContentPartPr>
            <p14:xfrm>
              <a:off x="1027080" y="4456080"/>
              <a:ext cx="6268680" cy="36000"/>
            </p14:xfrm>
          </p:contentPart>
        </mc:Choice>
        <mc:Fallback>
          <p:pic>
            <p:nvPicPr>
              <p:cNvPr id="2" name="Ink 1">
                <a:extLst>
                  <a:ext uri="{FF2B5EF4-FFF2-40B4-BE49-F238E27FC236}">
                    <a16:creationId xmlns:a16="http://schemas.microsoft.com/office/drawing/2014/main" id="{2C3DE18A-B2CC-C111-9017-A439F0A9FF41}"/>
                  </a:ext>
                </a:extLst>
              </p:cNvPr>
              <p:cNvPicPr/>
              <p:nvPr/>
            </p:nvPicPr>
            <p:blipFill>
              <a:blip r:embed="rId3"/>
              <a:stretch>
                <a:fillRect/>
              </a:stretch>
            </p:blipFill>
            <p:spPr>
              <a:xfrm>
                <a:off x="1017720" y="4446720"/>
                <a:ext cx="6287400" cy="5472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Explicit Rules vs. Data-Driven Learning: Traditional programming relies on hard-coded rules, while ML learns rules automatically from data.</a:t>
            </a:r>
          </a:p>
          <a:p>
            <a:endParaRPr lang="en-US" sz="2000"/>
          </a:p>
          <a:p>
            <a:r>
              <a:rPr lang="en-US" sz="2000"/>
              <a:t>• Flexibility: Traditional programs are rigid; ML systems adapt gracefully to new data and unforeseen scenarios.</a:t>
            </a:r>
          </a:p>
          <a:p>
            <a:endParaRPr lang="en-US" sz="2000"/>
          </a:p>
          <a:p>
            <a:r>
              <a:rPr lang="en-US" sz="2000"/>
              <a:t>• Performance Improvement: ML systems improve their performance over time as they encounter more data.</a:t>
            </a:r>
          </a:p>
          <a:p>
            <a:endParaRPr lang="en-US" sz="2000"/>
          </a:p>
          <a:p>
            <a:r>
              <a:rPr lang="en-US" sz="2000"/>
              <a:t>• Consistent Performance: Traditional programs generally maintain performance unless explicitly updated by human programmers.</a:t>
            </a:r>
          </a:p>
          <a:p>
            <a:endParaRPr lang="en-US" sz="2000"/>
          </a:p>
          <a:p>
            <a:r>
              <a:rPr lang="en-US" sz="2000"/>
              <a:t>• Complexity: ML is ideal for complex tasks with vast datasets where traditional human programming would be impractical.</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Machine Learning vs. Traditional Programming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589181" y="1041212"/>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Healthcare: Used for disease diagnosis, drug discovery, and creating personalized treatment plans.</a:t>
            </a:r>
          </a:p>
          <a:p>
            <a:endParaRPr lang="en-US" sz="2000" dirty="0"/>
          </a:p>
          <a:p>
            <a:r>
              <a:rPr lang="en-US" sz="2000" dirty="0"/>
              <a:t>• Finance: Aids in fraud detection, stock market forecasting, and credit risk assessment.</a:t>
            </a:r>
          </a:p>
          <a:p>
            <a:endParaRPr lang="en-US" sz="2000" dirty="0"/>
          </a:p>
          <a:p>
            <a:r>
              <a:rPr lang="en-US" sz="2000" dirty="0"/>
              <a:t>• Natural Language Processing (NLP): Powers language translation, sentiment analysis, and conversational AI (</a:t>
            </a:r>
            <a:r>
              <a:rPr lang="en-US" sz="2000" dirty="0" err="1"/>
              <a:t>chatbots</a:t>
            </a:r>
            <a:r>
              <a:rPr lang="en-US" sz="2000" dirty="0"/>
              <a:t>).</a:t>
            </a:r>
          </a:p>
          <a:p>
            <a:endParaRPr lang="en-US" sz="2000" dirty="0"/>
          </a:p>
          <a:p>
            <a:r>
              <a:rPr lang="en-US" sz="2000" dirty="0"/>
              <a:t>• Autonomous Vehicles: Enables self-driving cars to perceive environments, make decisions, and navigate safely.</a:t>
            </a:r>
          </a:p>
          <a:p>
            <a:endParaRPr lang="en-US" sz="2000" dirty="0"/>
          </a:p>
          <a:p>
            <a:r>
              <a:rPr lang="en-US" sz="2000" dirty="0"/>
              <a:t>• Recommendation Systems: Personalizes content suggestions for users on platforms like Netflix and Amazon.</a:t>
            </a:r>
          </a:p>
          <a:p>
            <a:endParaRPr lang="en-US" sz="2000" dirty="0"/>
          </a:p>
          <a:p>
            <a:r>
              <a:rPr lang="en-US" sz="2000" dirty="0"/>
              <a:t>• Image and Video Analysis: Applied in facial recognition, object detection for security and entertainment.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Real-World Applications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Machine learning algorithms are broadly categorized based on how they learn from data.</a:t>
            </a:r>
          </a:p>
          <a:p>
            <a:endParaRPr lang="en-US" sz="2000" dirty="0"/>
          </a:p>
          <a:p>
            <a:r>
              <a:rPr lang="en-US" sz="2000" dirty="0"/>
              <a:t>•   These categories define the fundamental approaches to problem-solving within the field.</a:t>
            </a:r>
          </a:p>
          <a:p>
            <a:endParaRPr lang="en-US" sz="2000" dirty="0"/>
          </a:p>
          <a:p>
            <a:r>
              <a:rPr lang="en-US" sz="2000" dirty="0"/>
              <a:t>•   </a:t>
            </a:r>
            <a:r>
              <a:rPr lang="en-US" dirty="0"/>
              <a:t>The four primary types are </a:t>
            </a:r>
          </a:p>
          <a:p>
            <a:r>
              <a:rPr lang="en-US" dirty="0"/>
              <a:t>	supervised, </a:t>
            </a:r>
          </a:p>
          <a:p>
            <a:r>
              <a:rPr lang="en-US" dirty="0"/>
              <a:t>	unsupervised, </a:t>
            </a:r>
          </a:p>
          <a:p>
            <a:r>
              <a:rPr lang="en-US" dirty="0"/>
              <a:t>	semi-supervised, and </a:t>
            </a:r>
          </a:p>
          <a:p>
            <a:r>
              <a:rPr lang="en-US" dirty="0"/>
              <a:t>	reinforcement learning.</a:t>
            </a:r>
          </a:p>
          <a:p>
            <a:endParaRPr lang="en-US" sz="2000" dirty="0"/>
          </a:p>
          <a:p>
            <a:r>
              <a:rPr lang="en-US" sz="2000" dirty="0"/>
              <a:t>•   Each type possesses unique characteristics, employs specific techniques, and addresses different problem types.</a:t>
            </a:r>
          </a:p>
          <a:p>
            <a:endParaRPr lang="en-US" sz="2000" dirty="0"/>
          </a:p>
          <a:p>
            <a:r>
              <a:rPr lang="en-US" sz="2000" dirty="0"/>
              <a:t>•   Understanding these distinctions is crucial for selecting the most appropriate ML approach for a given task.</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Types of Machine Learning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A954A2D-1014-B249-818E-43E780DEF76C}"/>
                  </a:ext>
                </a:extLst>
              </p14:cNvPr>
              <p14:cNvContentPartPr/>
              <p14:nvPr/>
            </p14:nvContentPartPr>
            <p14:xfrm>
              <a:off x="482040" y="2795040"/>
              <a:ext cx="3867120" cy="1670040"/>
            </p14:xfrm>
          </p:contentPart>
        </mc:Choice>
        <mc:Fallback>
          <p:pic>
            <p:nvPicPr>
              <p:cNvPr id="2" name="Ink 1">
                <a:extLst>
                  <a:ext uri="{FF2B5EF4-FFF2-40B4-BE49-F238E27FC236}">
                    <a16:creationId xmlns:a16="http://schemas.microsoft.com/office/drawing/2014/main" id="{5A954A2D-1014-B249-818E-43E780DEF76C}"/>
                  </a:ext>
                </a:extLst>
              </p:cNvPr>
              <p:cNvPicPr/>
              <p:nvPr/>
            </p:nvPicPr>
            <p:blipFill>
              <a:blip r:embed="rId3"/>
              <a:stretch>
                <a:fillRect/>
              </a:stretch>
            </p:blipFill>
            <p:spPr>
              <a:xfrm>
                <a:off x="472680" y="2785680"/>
                <a:ext cx="3885840" cy="168876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Models are trained on labeled datasets, comprising input-output pairs.</a:t>
            </a:r>
          </a:p>
          <a:p>
            <a:endParaRPr lang="en-US" sz="2000" dirty="0"/>
          </a:p>
          <a:p>
            <a:r>
              <a:rPr lang="en-US" sz="2000" dirty="0"/>
              <a:t>•   </a:t>
            </a:r>
            <a:r>
              <a:rPr lang="en-US" dirty="0"/>
              <a:t>The objective is to learn a mapping function to predict outputs accurately for new, unseen inputs.</a:t>
            </a:r>
          </a:p>
          <a:p>
            <a:endParaRPr lang="en-US" sz="2000" dirty="0"/>
          </a:p>
          <a:p>
            <a:r>
              <a:rPr lang="en-US" dirty="0"/>
              <a:t>•   Requires that each input in the training data is associated with a known output or target variable.</a:t>
            </a:r>
          </a:p>
          <a:p>
            <a:endParaRPr lang="en-US" sz="2000" dirty="0"/>
          </a:p>
          <a:p>
            <a:r>
              <a:rPr lang="en-US" sz="2000" dirty="0"/>
              <a:t>•   During training, the algorithm adjusts parameters to minimize the error between its predictions and true values.</a:t>
            </a:r>
          </a:p>
          <a:p>
            <a:endParaRPr lang="en-US" sz="2000" dirty="0"/>
          </a:p>
          <a:p>
            <a:r>
              <a:rPr lang="en-US" sz="2000" dirty="0"/>
              <a:t>• Use Cases: Image classification (e.g., identifying cats vs. dogs), spam email detection, predicting house prices.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Supervised Learning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7D3BA23E-23E6-7CA9-EB50-7087E09FB014}"/>
                  </a:ext>
                </a:extLst>
              </p14:cNvPr>
              <p14:cNvContentPartPr/>
              <p14:nvPr/>
            </p14:nvContentPartPr>
            <p14:xfrm>
              <a:off x="3250440" y="2044800"/>
              <a:ext cx="5250960" cy="661320"/>
            </p14:xfrm>
          </p:contentPart>
        </mc:Choice>
        <mc:Fallback>
          <p:pic>
            <p:nvPicPr>
              <p:cNvPr id="2" name="Ink 1">
                <a:extLst>
                  <a:ext uri="{FF2B5EF4-FFF2-40B4-BE49-F238E27FC236}">
                    <a16:creationId xmlns:a16="http://schemas.microsoft.com/office/drawing/2014/main" id="{7D3BA23E-23E6-7CA9-EB50-7087E09FB014}"/>
                  </a:ext>
                </a:extLst>
              </p:cNvPr>
              <p:cNvPicPr/>
              <p:nvPr/>
            </p:nvPicPr>
            <p:blipFill>
              <a:blip r:embed="rId3"/>
              <a:stretch>
                <a:fillRect/>
              </a:stretch>
            </p:blipFill>
            <p:spPr>
              <a:xfrm>
                <a:off x="3241080" y="2035440"/>
                <a:ext cx="5269680" cy="68004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Algorithms learn patterns and structures from unlabeled data without explicit guidance.</a:t>
            </a:r>
          </a:p>
          <a:p>
            <a:endParaRPr lang="en-US" sz="2000"/>
          </a:p>
          <a:p>
            <a:r>
              <a:rPr lang="en-US" sz="2000"/>
              <a:t>•   Its primary goal is to discover hidden relationships or intrinsic groupings within the data.</a:t>
            </a:r>
          </a:p>
          <a:p>
            <a:endParaRPr lang="en-US" sz="2000"/>
          </a:p>
          <a:p>
            <a:r>
              <a:rPr lang="en-US" sz="2000"/>
              <a:t>•   Operates solely on raw data, seeking inherent structures rather than mapping inputs to known outputs.</a:t>
            </a:r>
          </a:p>
          <a:p>
            <a:endParaRPr lang="en-US" sz="2000"/>
          </a:p>
          <a:p>
            <a:r>
              <a:rPr lang="en-US" sz="2000"/>
              <a:t>•   Common techniques include clustering data into natural groups and reducing data dimensionality.</a:t>
            </a:r>
          </a:p>
          <a:p>
            <a:endParaRPr lang="en-US" sz="2000"/>
          </a:p>
          <a:p>
            <a:r>
              <a:rPr lang="en-US" sz="2000"/>
              <a:t>• Use Cases: Customer segmentation, anomaly detection in network traffic, topic modeling of documents.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Unsupervised Learning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BA7F26D-7241-E954-BB32-247D482335C8}"/>
                  </a:ext>
                </a:extLst>
              </p14:cNvPr>
              <p14:cNvContentPartPr/>
              <p14:nvPr/>
            </p14:nvContentPartPr>
            <p14:xfrm>
              <a:off x="2044800" y="2071800"/>
              <a:ext cx="5367240" cy="2170080"/>
            </p14:xfrm>
          </p:contentPart>
        </mc:Choice>
        <mc:Fallback>
          <p:pic>
            <p:nvPicPr>
              <p:cNvPr id="2" name="Ink 1">
                <a:extLst>
                  <a:ext uri="{FF2B5EF4-FFF2-40B4-BE49-F238E27FC236}">
                    <a16:creationId xmlns:a16="http://schemas.microsoft.com/office/drawing/2014/main" id="{5BA7F26D-7241-E954-BB32-247D482335C8}"/>
                  </a:ext>
                </a:extLst>
              </p:cNvPr>
              <p:cNvPicPr/>
              <p:nvPr/>
            </p:nvPicPr>
            <p:blipFill>
              <a:blip r:embed="rId3"/>
              <a:stretch>
                <a:fillRect/>
              </a:stretch>
            </p:blipFill>
            <p:spPr>
              <a:xfrm>
                <a:off x="2035440" y="2062440"/>
                <a:ext cx="5385960" cy="218880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a:t>
            </a:r>
            <a:r>
              <a:rPr lang="en-US" dirty="0"/>
              <a:t>   A hybrid approach that merges elements of both supervised and unsupervised learning techniques.</a:t>
            </a:r>
          </a:p>
          <a:p>
            <a:endParaRPr lang="en-US" sz="2000" dirty="0"/>
          </a:p>
          <a:p>
            <a:r>
              <a:rPr lang="en-US" sz="2000" dirty="0"/>
              <a:t>•   Leverages a limited amount of labeled data combined with a larger pool of unlabeled data.</a:t>
            </a:r>
          </a:p>
          <a:p>
            <a:endParaRPr lang="en-US" sz="2000" dirty="0"/>
          </a:p>
          <a:p>
            <a:r>
              <a:rPr lang="en-US" sz="2000" dirty="0"/>
              <a:t>•   </a:t>
            </a:r>
            <a:r>
              <a:rPr lang="en-US" dirty="0"/>
              <a:t>Especially useful when obtaining extensive labeled datasets is costly or logistically challenging.</a:t>
            </a:r>
          </a:p>
          <a:p>
            <a:endParaRPr lang="en-US" sz="2000" dirty="0"/>
          </a:p>
          <a:p>
            <a:r>
              <a:rPr lang="en-US" sz="2000" dirty="0"/>
              <a:t>•   Can involve </a:t>
            </a:r>
            <a:r>
              <a:rPr lang="en-US" sz="2000" dirty="0" err="1"/>
              <a:t>transductive</a:t>
            </a:r>
            <a:r>
              <a:rPr lang="en-US" sz="2000" dirty="0"/>
              <a:t> learning (predicting for specific unlabeled points) or inductive learning (generalizing patterns).</a:t>
            </a:r>
          </a:p>
          <a:p>
            <a:endParaRPr lang="en-US" sz="2000" dirty="0"/>
          </a:p>
          <a:p>
            <a:r>
              <a:rPr lang="en-US" sz="2000" dirty="0"/>
              <a:t>• Use Cases: Improving text classification models with few labeled examples, medical image analysis using combined data.</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Semi-Supervised Learning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A147457-2C38-B251-A9F5-25DE90F7B2CE}"/>
                  </a:ext>
                </a:extLst>
              </p14:cNvPr>
              <p14:cNvContentPartPr/>
              <p14:nvPr/>
            </p14:nvContentPartPr>
            <p14:xfrm>
              <a:off x="1134000" y="2053800"/>
              <a:ext cx="8358480" cy="72000"/>
            </p14:xfrm>
          </p:contentPart>
        </mc:Choice>
        <mc:Fallback>
          <p:pic>
            <p:nvPicPr>
              <p:cNvPr id="2" name="Ink 1">
                <a:extLst>
                  <a:ext uri="{FF2B5EF4-FFF2-40B4-BE49-F238E27FC236}">
                    <a16:creationId xmlns:a16="http://schemas.microsoft.com/office/drawing/2014/main" id="{FA147457-2C38-B251-A9F5-25DE90F7B2CE}"/>
                  </a:ext>
                </a:extLst>
              </p:cNvPr>
              <p:cNvPicPr/>
              <p:nvPr/>
            </p:nvPicPr>
            <p:blipFill>
              <a:blip r:embed="rId3"/>
              <a:stretch>
                <a:fillRect/>
              </a:stretch>
            </p:blipFill>
            <p:spPr>
              <a:xfrm>
                <a:off x="1124640" y="2044440"/>
                <a:ext cx="8377200" cy="9072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dirty="0"/>
              <a:t>•   An agent learns optimal actions by interacting with an environment to achieve a specific goal.</a:t>
            </a:r>
          </a:p>
          <a:p>
            <a:endParaRPr lang="en-US" sz="2000" dirty="0"/>
          </a:p>
          <a:p>
            <a:r>
              <a:rPr lang="en-US" dirty="0"/>
              <a:t>•   It learns through trial and error, receiving rewards for desirable actions and penalties for undesirable ones.</a:t>
            </a:r>
          </a:p>
          <a:p>
            <a:endParaRPr lang="en-US" sz="2000" dirty="0"/>
          </a:p>
          <a:p>
            <a:r>
              <a:rPr lang="en-US" dirty="0"/>
              <a:t>•   This approach is particularly well-suited for tasks involving a sequence of decisions over time.</a:t>
            </a:r>
          </a:p>
          <a:p>
            <a:endParaRPr lang="en-US" sz="2000" dirty="0"/>
          </a:p>
          <a:p>
            <a:r>
              <a:rPr lang="en-US" dirty="0"/>
              <a:t>•   The agent must effectively balance exploring new actions with exploiting known successful strategies.</a:t>
            </a:r>
          </a:p>
          <a:p>
            <a:endParaRPr lang="en-US" sz="2000" dirty="0"/>
          </a:p>
          <a:p>
            <a:r>
              <a:rPr lang="en-US" sz="2000" dirty="0"/>
              <a:t>• Use Cases: Training AI to play complex games (e.g., chess, Go), robotics for navigation, developing autonomous vehicles.</a:t>
            </a:r>
          </a:p>
          <a:p>
            <a:endParaRPr lang="en-US" sz="2000" dirty="0"/>
          </a:p>
          <a:p>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Reinforcement Learning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9BDA9D43-EA42-3F86-68EA-0E5B0539E3AB}"/>
                  </a:ext>
                </a:extLst>
              </p14:cNvPr>
              <p14:cNvContentPartPr/>
              <p14:nvPr/>
            </p14:nvContentPartPr>
            <p14:xfrm>
              <a:off x="2589480" y="2071800"/>
              <a:ext cx="6563880" cy="580680"/>
            </p14:xfrm>
          </p:contentPart>
        </mc:Choice>
        <mc:Fallback>
          <p:pic>
            <p:nvPicPr>
              <p:cNvPr id="2" name="Ink 1">
                <a:extLst>
                  <a:ext uri="{FF2B5EF4-FFF2-40B4-BE49-F238E27FC236}">
                    <a16:creationId xmlns:a16="http://schemas.microsoft.com/office/drawing/2014/main" id="{9BDA9D43-EA42-3F86-68EA-0E5B0539E3AB}"/>
                  </a:ext>
                </a:extLst>
              </p:cNvPr>
              <p:cNvPicPr/>
              <p:nvPr/>
            </p:nvPicPr>
            <p:blipFill>
              <a:blip r:embed="rId3"/>
              <a:stretch>
                <a:fillRect/>
              </a:stretch>
            </p:blipFill>
            <p:spPr>
              <a:xfrm>
                <a:off x="2580120" y="2062440"/>
                <a:ext cx="6582600" cy="59940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What is the primary characteristic that distinguishes Machine Learning from Traditional Programming?</a:t>
            </a:r>
          </a:p>
          <a:p>
            <a:r>
              <a:rPr lang="en-US" sz="2000"/>
              <a:t>A) ML focuses on explicit rules, while Traditional Programming uses data-driven learning.</a:t>
            </a:r>
          </a:p>
          <a:p>
            <a:r>
              <a:rPr lang="en-US" sz="2000"/>
              <a:t>B) ML systems improve over time with more data, unlike Traditional Programming.</a:t>
            </a:r>
          </a:p>
          <a:p>
            <a:r>
              <a:rPr lang="en-US" sz="2000"/>
              <a:t>C) Traditional Programming is well-suited for complex tasks with large datasets.</a:t>
            </a:r>
          </a:p>
          <a:p>
            <a:r>
              <a:rPr lang="en-US" sz="2000"/>
              <a:t>D) ML is rigid and requires human experts to anticipate all scenarios.</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What is the primary characteristic that distinguishes Machine Learning from Traditional Programming?</a:t>
            </a:r>
          </a:p>
          <a:p>
            <a:r>
              <a:rPr lang="en-US" sz="2000"/>
              <a:t>A) ML focuses on explicit rules, while Traditional Programming uses data-driven learning.</a:t>
            </a:r>
          </a:p>
          <a:p>
            <a:r>
              <a:rPr lang="en-US" sz="2000"/>
              <a:t>B) ML systems improve over time with more data, unlike Traditional Programming.</a:t>
            </a:r>
          </a:p>
          <a:p>
            <a:r>
              <a:rPr lang="en-US" sz="2000"/>
              <a:t>C) Traditional Programming is well-suited for complex tasks with large datasets.</a:t>
            </a:r>
          </a:p>
          <a:p>
            <a:r>
              <a:rPr lang="en-US" sz="2000"/>
              <a:t>D) ML is rigid and requires human experts to anticipate all scenarios.</a:t>
            </a:r>
          </a:p>
          <a:p>
            <a:endParaRPr lang="en-US" sz="2000"/>
          </a:p>
          <a:p>
            <a:endParaRPr lang="en-US" sz="2000"/>
          </a:p>
          <a:p>
            <a:endParaRPr lang="en-US" sz="2000"/>
          </a:p>
          <a:p>
            <a:r>
              <a:rPr lang="en-US" sz="2000" b="1"/>
              <a:t>Correct Answer: B</a:t>
            </a:r>
          </a:p>
          <a:p>
            <a:r>
              <a:rPr lang="en-US" sz="2000" b="1"/>
              <a:t>Explanation: Machine learning systems are designed to improve their performance as they are exposed to more data, a fundamental difference from traditional programs that maintain a consistent performance level unless explicitly updated.</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Which type of Machine Learning is characterized by training models on unlabeled data to discover hidden patterns and structures?</a:t>
            </a:r>
          </a:p>
          <a:p>
            <a:r>
              <a:rPr lang="en-US" sz="2000"/>
              <a:t>A) Supervised Learning</a:t>
            </a:r>
          </a:p>
          <a:p>
            <a:r>
              <a:rPr lang="en-US" sz="2000"/>
              <a:t>B) Unsupervised Learning</a:t>
            </a:r>
          </a:p>
          <a:p>
            <a:r>
              <a:rPr lang="en-US" sz="2000"/>
              <a:t>C) Semi-Supervised Learning</a:t>
            </a:r>
          </a:p>
          <a:p>
            <a:r>
              <a:rPr lang="en-US" sz="2000"/>
              <a:t>D) Reinforcement Learning</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Which type of Machine Learning is characterized by training models on unlabeled data to discover hidden patterns and structures?</a:t>
            </a:r>
          </a:p>
          <a:p>
            <a:r>
              <a:rPr lang="en-US" sz="2000"/>
              <a:t>A) Supervised Learning</a:t>
            </a:r>
          </a:p>
          <a:p>
            <a:r>
              <a:rPr lang="en-US" sz="2000"/>
              <a:t>B) Unsupervised Learning</a:t>
            </a:r>
          </a:p>
          <a:p>
            <a:r>
              <a:rPr lang="en-US" sz="2000"/>
              <a:t>C) Semi-Supervised Learning</a:t>
            </a:r>
          </a:p>
          <a:p>
            <a:r>
              <a:rPr lang="en-US" sz="2000"/>
              <a:t>D) Reinforcement Learning</a:t>
            </a:r>
          </a:p>
          <a:p>
            <a:endParaRPr lang="en-US" sz="2000"/>
          </a:p>
          <a:p>
            <a:endParaRPr lang="en-US" sz="2000"/>
          </a:p>
          <a:p>
            <a:endParaRPr lang="en-US" sz="2000"/>
          </a:p>
          <a:p>
            <a:r>
              <a:rPr lang="en-US" sz="2000" b="1"/>
              <a:t>Correct Answer: B</a:t>
            </a:r>
          </a:p>
          <a:p>
            <a:r>
              <a:rPr lang="en-US" sz="2000" b="1"/>
              <a:t>Explanation: Unsupervised learning specifically deals with unlabeled data, aiming to find inherent structures, patterns, or groupings within it without any predefined output targets.</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An agent learning to play a complex video game through trial and error, receiving points for good moves and penalties for bad ones, is an example of which type of machine learning?</a:t>
            </a:r>
          </a:p>
          <a:p>
            <a:r>
              <a:rPr lang="en-US" sz="2000"/>
              <a:t>A) Supervised Learning</a:t>
            </a:r>
          </a:p>
          <a:p>
            <a:r>
              <a:rPr lang="en-US" sz="2000"/>
              <a:t>B) Unsupervised Learning</a:t>
            </a:r>
          </a:p>
          <a:p>
            <a:r>
              <a:rPr lang="en-US" sz="2000"/>
              <a:t>C) Semi-Supervised Learning</a:t>
            </a:r>
          </a:p>
          <a:p>
            <a:r>
              <a:rPr lang="en-US" sz="2000"/>
              <a:t>D) Reinforcement Learning</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3: An agent learning to play a complex video game through trial and error, receiving points for good moves and penalties for bad ones, is an example of which type of machine learning?</a:t>
            </a:r>
          </a:p>
          <a:p>
            <a:r>
              <a:rPr lang="en-US" sz="2000"/>
              <a:t>A) Supervised Learning</a:t>
            </a:r>
          </a:p>
          <a:p>
            <a:r>
              <a:rPr lang="en-US" sz="2000"/>
              <a:t>B) Unsupervised Learning</a:t>
            </a:r>
          </a:p>
          <a:p>
            <a:r>
              <a:rPr lang="en-US" sz="2000"/>
              <a:t>C) Semi-Supervised Learning</a:t>
            </a:r>
          </a:p>
          <a:p>
            <a:r>
              <a:rPr lang="en-US" sz="2000"/>
              <a:t>D) Reinforcement Learning</a:t>
            </a:r>
          </a:p>
          <a:p>
            <a:endParaRPr lang="en-US" sz="2000"/>
          </a:p>
          <a:p>
            <a:endParaRPr lang="en-US" sz="2000"/>
          </a:p>
          <a:p>
            <a:endParaRPr lang="en-US" sz="2000"/>
          </a:p>
          <a:p>
            <a:r>
              <a:rPr lang="en-US" sz="2000" b="1"/>
              <a:t>Correct Answer: D</a:t>
            </a:r>
          </a:p>
          <a:p>
            <a:r>
              <a:rPr lang="en-US" sz="2000" b="1"/>
              <a:t>Explanation: Reinforcement learning involves an agent interacting with an environment, learning through rewards and penalties to determine optimal actions in a sequence of decisions, which perfectly describes the scenario of an agent playing a game.</a:t>
            </a:r>
          </a:p>
          <a:p>
            <a:endParaRPr lang="en-US" sz="2000" b="1"/>
          </a:p>
          <a:p>
            <a:r>
              <a:rPr lang="en-US" sz="2000" b="1"/>
              <a:t>---</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a:p>
          <a:p>
            <a:endParaRPr lang="en-US" sz="2000"/>
          </a:p>
          <a:p>
            <a:r>
              <a:rPr lang="en-US" sz="2000"/>
              <a:t>A new streaming service wants to recommend movies to its users. They have collected a vast amount of data, but only a small fraction of it includes user ratings for movies (labeled data). The majority of the data contains movie metadata (genres, actors, directors) and user viewing history without explicit ratings (unlabeled data). The service wants to leverage all available data to build an effective recommendation system. Which type of machine learning approach would be most suitable for this scenario, and why?</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92500" lnSpcReduction="20000"/>
          </a:bodyPr>
          <a:lstStyle/>
          <a:p>
            <a:pPr algn="just"/>
            <a:r>
              <a:rPr lang="en-US" sz="2000" dirty="0"/>
              <a:t>Solution:</a:t>
            </a:r>
          </a:p>
          <a:p>
            <a:pPr algn="just"/>
            <a:endParaRPr lang="en-US" sz="2000" dirty="0"/>
          </a:p>
          <a:p>
            <a:pPr algn="just"/>
            <a:endParaRPr lang="en-US" sz="2000" dirty="0"/>
          </a:p>
          <a:p>
            <a:pPr algn="just"/>
            <a:r>
              <a:rPr lang="en-US" sz="2000" dirty="0"/>
              <a:t>The most suitable approach would be Semi-Supervised Learning.</a:t>
            </a:r>
          </a:p>
          <a:p>
            <a:pPr algn="just"/>
            <a:endParaRPr lang="en-US" sz="2000" dirty="0"/>
          </a:p>
          <a:p>
            <a:pPr algn="just"/>
            <a:r>
              <a:rPr lang="en-US" sz="2000" dirty="0"/>
              <a:t>Why:</a:t>
            </a:r>
          </a:p>
          <a:p>
            <a:pPr algn="just"/>
            <a:r>
              <a:rPr lang="en-US" sz="2000" dirty="0"/>
              <a:t>Leveraging Mixed Data: The problem presents a mix of both labeled data (user ratings) and a significantly larger amount of unlabeled data (movie metadata, viewing history). Semi-supervised learning is specifically designed to effectively utilize both these data types.</a:t>
            </a:r>
          </a:p>
          <a:p>
            <a:pPr algn="just"/>
            <a:r>
              <a:rPr lang="en-US" sz="2000" dirty="0"/>
              <a:t>Addressing Label Scarcity: Acquiring comprehensive user ratings for all movies can be challenging and costly. Semi-supervised learning addresses this by using the small amount of labeled data for direct learning and the abundant unlabeled data to infer underlying data structures and relationships, thereby improving model performance beyond what purely supervised learning could achieve with limited labels.</a:t>
            </a:r>
          </a:p>
          <a:p>
            <a:pPr algn="just"/>
            <a:r>
              <a:rPr lang="en-US" sz="2000" dirty="0"/>
              <a:t>Enhanced Recommendations: By learning from both explicit ratings and implicit viewing patterns and movie characteristics, the system can develop a more robust understanding of user preferences and movie relationships, leading to more accurate and personalized recommendations.</a:t>
            </a:r>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9973796" cy="3538364"/>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r>
              <a:rPr lang="en-US" dirty="0">
                <a:latin typeface=""/>
                <a:ea typeface="Times New Roman"/>
                <a:cs typeface="Times New Roman"/>
              </a:rPr>
              <a:t> </a:t>
            </a:r>
          </a:p>
          <a:p>
            <a:pPr>
              <a:lnSpc>
                <a:spcPct val="115000"/>
              </a:lnSpc>
              <a:spcAft>
                <a:spcPts val="1000"/>
              </a:spcAft>
            </a:pPr>
            <a:r>
              <a:rPr lang="en-US" dirty="0">
                <a:latin typeface=""/>
                <a:ea typeface="Times New Roman"/>
                <a:cs typeface="Times New Roman"/>
              </a:rPr>
              <a:t>•   Define machine learning and its core principles.</a:t>
            </a:r>
          </a:p>
          <a:p>
            <a:pPr>
              <a:lnSpc>
                <a:spcPct val="115000"/>
              </a:lnSpc>
              <a:spcAft>
                <a:spcPts val="1000"/>
              </a:spcAft>
            </a:pPr>
            <a:r>
              <a:rPr lang="en-US" dirty="0">
                <a:latin typeface=""/>
                <a:ea typeface="Times New Roman"/>
                <a:cs typeface="Times New Roman"/>
              </a:rPr>
              <a:t>•   Differentiate machine learning from traditional programming paradigms.</a:t>
            </a:r>
          </a:p>
          <a:p>
            <a:pPr>
              <a:lnSpc>
                <a:spcPct val="115000"/>
              </a:lnSpc>
              <a:spcAft>
                <a:spcPts val="1000"/>
              </a:spcAft>
            </a:pPr>
            <a:r>
              <a:rPr lang="en-US" dirty="0">
                <a:latin typeface=""/>
                <a:ea typeface="Times New Roman"/>
                <a:cs typeface="Times New Roman"/>
              </a:rPr>
              <a:t>•   Identify diverse real-world applications of machine learning.</a:t>
            </a:r>
          </a:p>
          <a:p>
            <a:pPr>
              <a:lnSpc>
                <a:spcPct val="115000"/>
              </a:lnSpc>
              <a:spcAft>
                <a:spcPts val="1000"/>
              </a:spcAft>
            </a:pPr>
            <a:r>
              <a:rPr lang="en-US" dirty="0">
                <a:latin typeface=""/>
                <a:ea typeface="Times New Roman"/>
                <a:cs typeface="Times New Roman"/>
              </a:rPr>
              <a:t>•   Recognize the main types of machine learning: supervised, unsupervised, semi-supervised, and reinforcement learning.</a:t>
            </a:r>
          </a:p>
          <a:p>
            <a:pPr>
              <a:lnSpc>
                <a:spcPct val="115000"/>
              </a:lnSpc>
              <a:spcAft>
                <a:spcPts val="1000"/>
              </a:spcAft>
            </a:pPr>
            <a:r>
              <a:rPr lang="en-US" dirty="0">
                <a:latin typeface=""/>
                <a:ea typeface="Times New Roman"/>
                <a:cs typeface="Times New Roman"/>
              </a:rPr>
              <a:t>•   Understand the key characteristics and use cases for each machine learning type.</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TotalTime>
  <Words>1703</Words>
  <Application>Microsoft Office PowerPoint</Application>
  <PresentationFormat>Widescreen</PresentationFormat>
  <Paragraphs>193</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Avenir</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idol</dc:creator>
  <cp:lastModifiedBy>Mohamed Ali</cp:lastModifiedBy>
  <cp:revision>41</cp:revision>
  <dcterms:created xsi:type="dcterms:W3CDTF">2025-07-09T10:39:06Z</dcterms:created>
  <dcterms:modified xsi:type="dcterms:W3CDTF">2026-10-28T04:37:21Z</dcterms:modified>
</cp:coreProperties>
</file>