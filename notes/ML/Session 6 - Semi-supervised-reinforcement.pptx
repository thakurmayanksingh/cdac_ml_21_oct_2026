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7" r:id="rId2"/>
    <p:sldId id="259" r:id="rId3"/>
    <p:sldId id="263" r:id="rId4"/>
    <p:sldId id="278" r:id="rId5"/>
    <p:sldId id="279" r:id="rId6"/>
    <p:sldId id="280" r:id="rId7"/>
    <p:sldId id="281" r:id="rId8"/>
    <p:sldId id="282" r:id="rId9"/>
    <p:sldId id="283" r:id="rId10"/>
    <p:sldId id="284" r:id="rId11"/>
    <p:sldId id="285" r:id="rId12"/>
    <p:sldId id="286" r:id="rId13"/>
    <p:sldId id="260" r:id="rId14"/>
    <p:sldId id="277" r:id="rId15"/>
    <p:sldId id="276" r:id="rId16"/>
    <p:sldId id="275" r:id="rId17"/>
    <p:sldId id="274" r:id="rId18"/>
    <p:sldId id="273" r:id="rId19"/>
    <p:sldId id="272" r:id="rId20"/>
    <p:sldId id="271" r:id="rId21"/>
    <p:sldId id="270" r:id="rId22"/>
    <p:sldId id="269" r:id="rId23"/>
    <p:sldId id="268" r:id="rId24"/>
    <p:sldId id="267" r:id="rId25"/>
    <p:sldId id="266" r:id="rId26"/>
    <p:sldId id="265" r:id="rId27"/>
    <p:sldId id="261" r:id="rId28"/>
    <p:sldId id="264" r:id="rId29"/>
    <p:sldId id="26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66" userDrawn="1">
          <p15:clr>
            <a:srgbClr val="A4A3A4"/>
          </p15:clr>
        </p15:guide>
        <p15:guide id="4" pos="75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71" autoAdjust="0"/>
    <p:restoredTop sz="94660"/>
  </p:normalViewPr>
  <p:slideViewPr>
    <p:cSldViewPr snapToGrid="0" showGuides="1">
      <p:cViewPr varScale="1">
        <p:scale>
          <a:sx n="92" d="100"/>
          <a:sy n="92" d="100"/>
        </p:scale>
        <p:origin x="420" y="36"/>
      </p:cViewPr>
      <p:guideLst>
        <p:guide orient="horz" pos="2160"/>
        <p:guide pos="3840"/>
        <p:guide pos="166"/>
        <p:guide pos="75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8CAB6-0A18-B12A-06A5-CFD0B0666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51E932-87D4-E4A3-5EC5-FD37D2ADBA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361194-F8BE-C949-EFCA-00EE7F867912}"/>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FF334BE2-760E-FA63-F53E-6EC6D65C14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019652-B072-95C3-666A-824B223F073C}"/>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320810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6250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55807-6537-7A6D-A641-B2A17376E9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5B0403-42FF-1C59-1D5B-32C3D76224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186C83-3353-0411-EE9B-3502DB3E4588}"/>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470F388B-76FB-C020-4F27-4E8F47369B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013B55-0C9D-95FE-DE57-76D9CAC53846}"/>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0718621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0200A-4353-C353-E184-88D52DADCD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3E2DB6-9BB8-38D4-16CA-0544ED95B0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E55387-24D0-58FA-83A3-7DE9457A88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6792733-6AE7-EB0F-FA3B-AF5CDFCC84AC}"/>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051F2C6F-7464-367E-E3F8-97DC8C8F38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816EA2-7E56-7BA3-2439-E543C4160FC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2368239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A9EF-5440-6E76-FF73-0CF065E3FE2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746708-25E5-77F6-A964-227D0EE4C5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C22E3-5FB3-FA79-ED62-21819A6A00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96025A-E802-D170-D6B8-690A286BCE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0B7203-20FE-415A-F923-11A30CAAC6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7DA1C9-7D6A-71D0-70D9-9B0828718429}"/>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8" name="Footer Placeholder 7">
            <a:extLst>
              <a:ext uri="{FF2B5EF4-FFF2-40B4-BE49-F238E27FC236}">
                <a16:creationId xmlns:a16="http://schemas.microsoft.com/office/drawing/2014/main" id="{C5FE8C4F-142A-8803-C2AD-C6393A49A3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A83C7CE-86E2-2A63-0ECE-6F7089A68601}"/>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181712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AE12F-6D65-52A0-48AA-B03A63F84E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2C2E755-9EA8-6439-9AA9-91FF3D9183D1}"/>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4" name="Footer Placeholder 3">
            <a:extLst>
              <a:ext uri="{FF2B5EF4-FFF2-40B4-BE49-F238E27FC236}">
                <a16:creationId xmlns:a16="http://schemas.microsoft.com/office/drawing/2014/main" id="{3DEB468B-111F-CF06-6C38-3BC8CFF43D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D94801-333D-738E-07D1-D8DAF45C098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65337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345271-495D-152E-CF4A-DF4710D8BEC2}"/>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3" name="Footer Placeholder 2">
            <a:extLst>
              <a:ext uri="{FF2B5EF4-FFF2-40B4-BE49-F238E27FC236}">
                <a16:creationId xmlns:a16="http://schemas.microsoft.com/office/drawing/2014/main" id="{24F704DD-032D-53A7-BFF6-45E5965DD43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277178-4230-89A4-5872-75B349208232}"/>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353700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A69D6-24F8-42C9-1D77-EC88669074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9D61D7-9867-D57B-393C-47C770AA65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ED94E2-1CFC-4DFF-4491-2085D8036D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0CD279-5116-5E15-60C5-9EF79DDB4C64}"/>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69031C19-F77D-04E3-B033-CF6338C139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8963EA-8864-E6BE-24F5-23AFDA15D8B9}"/>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808667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6FE6-775B-5F83-EEAB-E36547DB11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964366-F9DB-7570-8134-3DDD5A1017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EFF4E6-78FE-6A93-F107-25294F26CE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DA6E5D-D1B7-97B4-E5F0-293D2283C25B}"/>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7470F263-4F04-05C5-5AB8-17B4BF4369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8888F2-58F4-670D-C34D-AD8FC7455A6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408837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8A30-B913-89F3-B532-786CB42C2F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D29D4D-DEE7-6A1D-B42E-38574A7273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96FAF5-A696-3446-BF82-38164F6A8A2C}"/>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24EE94DE-54DD-A6A8-474C-AB93008EA0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98F6DA-A2A6-C945-BF21-6706B5FA6B69}"/>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139727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308265-AD14-4580-CC74-9C4CF00E99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F309DA-5772-6FBD-97A3-F137B93F90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C1C790-714C-45F7-D996-F901BECA504F}"/>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7BF76402-000D-C35B-9564-25F55D31AC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067743-5BF8-DFC2-CBDC-EB27E01169C7}"/>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6375857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B05E56-8D2F-5F2F-8551-44A2B095FC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6445D5-7E47-8624-9AC3-BB3BCD2772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9B5D27-2F61-7E25-7C4F-55CEB62622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628E40CC-F5EF-5459-5DE6-51B24194D7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C677AFA-267B-483B-8828-7D5EC7CBFD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0C9D19-9CC2-4BD0-80ED-38FDA6BAD898}" type="slidenum">
              <a:rPr lang="en-IN" smtClean="0"/>
              <a:pPr/>
              <a:t>‹#›</a:t>
            </a:fld>
            <a:endParaRPr lang="en-IN"/>
          </a:p>
        </p:txBody>
      </p:sp>
    </p:spTree>
    <p:extLst>
      <p:ext uri="{BB962C8B-B14F-4D97-AF65-F5344CB8AC3E}">
        <p14:creationId xmlns:p14="http://schemas.microsoft.com/office/powerpoint/2010/main" val="892197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3CC1D20-A134-5EA3-EBBB-0627070E69AB}"/>
              </a:ext>
            </a:extLst>
          </p:cNvPr>
          <p:cNvSpPr txBox="1"/>
          <p:nvPr/>
        </p:nvSpPr>
        <p:spPr>
          <a:xfrm>
            <a:off x="3047654" y="3244334"/>
            <a:ext cx="6095306" cy="369332"/>
          </a:xfrm>
          <a:prstGeom prst="rect">
            <a:avLst/>
          </a:prstGeom>
          <a:noFill/>
        </p:spPr>
        <p:txBody>
          <a:bodyPr wrap="square">
            <a:spAutoFit/>
          </a:bodyPr>
          <a:lstStyle/>
          <a:p>
            <a:r>
              <a:rPr lang="en-IN" dirty="0">
                <a:solidFill>
                  <a:srgbClr val="FF0000"/>
                </a:solidFill>
              </a:rPr>
              <a:t>Exploring Semi-Supervised and Reinforcement Learning</a:t>
            </a:r>
          </a:p>
        </p:txBody>
      </p:sp>
    </p:spTree>
    <p:extLst>
      <p:ext uri="{BB962C8B-B14F-4D97-AF65-F5344CB8AC3E}">
        <p14:creationId xmlns:p14="http://schemas.microsoft.com/office/powerpoint/2010/main" val="2568389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3538364"/>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fundamental concepts and principles of Semi-Supervised Learning.</a:t>
            </a:r>
          </a:p>
          <a:p>
            <a:pPr>
              <a:lnSpc>
                <a:spcPct val="115000"/>
              </a:lnSpc>
              <a:spcAft>
                <a:spcPts val="1000"/>
              </a:spcAft>
            </a:pPr>
            <a:r>
              <a:rPr lang="en-US" dirty="0">
                <a:latin typeface=""/>
                <a:ea typeface="Times New Roman"/>
                <a:cs typeface="Times New Roman"/>
              </a:rPr>
              <a:t>•   Identify various real-world applications where Semi-Supervised Learning is effectively utilized.</a:t>
            </a:r>
          </a:p>
          <a:p>
            <a:pPr>
              <a:lnSpc>
                <a:spcPct val="115000"/>
              </a:lnSpc>
              <a:spcAft>
                <a:spcPts val="1000"/>
              </a:spcAft>
            </a:pPr>
            <a:r>
              <a:rPr lang="en-US" dirty="0">
                <a:latin typeface=""/>
                <a:ea typeface="Times New Roman"/>
                <a:cs typeface="Times New Roman"/>
              </a:rPr>
              <a:t>•   Grasp the core principles and mechanisms of Reinforcement Learning.</a:t>
            </a:r>
          </a:p>
          <a:p>
            <a:pPr>
              <a:lnSpc>
                <a:spcPct val="115000"/>
              </a:lnSpc>
              <a:spcAft>
                <a:spcPts val="1000"/>
              </a:spcAft>
            </a:pPr>
            <a:r>
              <a:rPr lang="en-US" dirty="0">
                <a:latin typeface=""/>
                <a:ea typeface="Times New Roman"/>
                <a:cs typeface="Times New Roman"/>
              </a:rPr>
              <a:t>•   Explore diverse applications of Reinforcement Learning in dynamic environments.</a:t>
            </a:r>
          </a:p>
          <a:p>
            <a:pPr>
              <a:lnSpc>
                <a:spcPct val="115000"/>
              </a:lnSpc>
              <a:spcAft>
                <a:spcPts val="1000"/>
              </a:spcAft>
            </a:pPr>
            <a:r>
              <a:rPr lang="en-US" dirty="0">
                <a:latin typeface=""/>
                <a:ea typeface="Times New Roman"/>
                <a:cs typeface="Times New Roman"/>
              </a:rPr>
              <a:t>•   Recognize how Semi-Supervised and Reinforcement Learning complement traditional Supervised and Unsupervised Learning paradigms.</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635202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Semi-Supervised Learning and Reinforcement Learning are distinct and prominent machine learning paradigms.</a:t>
            </a:r>
          </a:p>
          <a:p>
            <a:endParaRPr lang="en-US" sz="2000"/>
          </a:p>
          <a:p>
            <a:r>
              <a:rPr lang="en-US" sz="2000"/>
              <a:t>•   They offer unique capabilities and address specific challenges in AI development.</a:t>
            </a:r>
          </a:p>
          <a:p>
            <a:endParaRPr lang="en-US" sz="2000"/>
          </a:p>
          <a:p>
            <a:r>
              <a:rPr lang="en-US" sz="2000"/>
              <a:t>•   These approaches complement traditional supervised and unsupervised learning methods.</a:t>
            </a:r>
          </a:p>
          <a:p>
            <a:endParaRPr lang="en-US" sz="2000"/>
          </a:p>
          <a:p>
            <a:r>
              <a:rPr lang="en-US" sz="2000"/>
              <a:t>•   Semi-Supervised Learning bridges the gap between fully labeled and unlabeled data.</a:t>
            </a:r>
          </a:p>
          <a:p>
            <a:endParaRPr lang="en-US" sz="2000"/>
          </a:p>
          <a:p>
            <a:r>
              <a:rPr lang="en-US" sz="2000"/>
              <a:t>•   Reinforcement Learning focuses on learning optimal actions through environmental interaction.</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Semi-Supervised &amp; Reinforcement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Semi-Supervised Learning is a hybrid approach combining elements from both Supervised and Unsupervised Learning.</a:t>
            </a:r>
          </a:p>
          <a:p>
            <a:endParaRPr lang="en-US" sz="2000" dirty="0"/>
          </a:p>
          <a:p>
            <a:r>
              <a:rPr lang="en-US" sz="2000" dirty="0"/>
              <a:t>•</a:t>
            </a:r>
            <a:r>
              <a:rPr lang="en-US" dirty="0"/>
              <a:t>   It leverages a small amount of labeled data alongside a substantial amount of unlabeled data.</a:t>
            </a:r>
          </a:p>
          <a:p>
            <a:endParaRPr lang="en-US" sz="2000" dirty="0"/>
          </a:p>
          <a:p>
            <a:r>
              <a:rPr lang="en-US" sz="2000" dirty="0"/>
              <a:t>•   The goal is to improve model generalization and decision-making capabilities.</a:t>
            </a:r>
          </a:p>
          <a:p>
            <a:endParaRPr lang="en-US" sz="2000" dirty="0"/>
          </a:p>
          <a:p>
            <a:r>
              <a:rPr lang="en-US" sz="2000" dirty="0"/>
              <a:t>•   This approach is particularly valuable when acquiring labeled data is scarce or expensive.</a:t>
            </a:r>
          </a:p>
          <a:p>
            <a:endParaRPr lang="en-US" sz="2000" dirty="0"/>
          </a:p>
          <a:p>
            <a:r>
              <a:rPr lang="en-US" sz="2000" dirty="0"/>
              <a:t>•   It effectively utilizes the latent information present within abundant unlabeled datasets.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Semi-Supervised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Leveraging Unlabeled Data: Harnesses vast amounts of unlabeled data to boost model performance.</a:t>
            </a:r>
          </a:p>
          <a:p>
            <a:endParaRPr lang="en-US" sz="2000"/>
          </a:p>
          <a:p>
            <a:r>
              <a:rPr lang="en-US" sz="2000"/>
              <a:t>• Transfer of Knowledge: Insights from limited labeled examples are applied to improve predictions on unlabeled data.</a:t>
            </a:r>
          </a:p>
          <a:p>
            <a:endParaRPr lang="en-US" sz="2000"/>
          </a:p>
          <a:p>
            <a:r>
              <a:rPr lang="en-US" sz="2000"/>
              <a:t>• Combining Techniques: Blends supervised and unsupervised algorithms to learn from both data types effectively.</a:t>
            </a:r>
          </a:p>
          <a:p>
            <a:endParaRPr lang="en-US" sz="2000"/>
          </a:p>
          <a:p>
            <a:r>
              <a:rPr lang="en-US" sz="2000"/>
              <a:t>• Enhanced Generalization: Improves the model's ability to make accurate predictions on new, unseen data.</a:t>
            </a:r>
          </a:p>
          <a:p>
            <a:endParaRPr lang="en-US" sz="2000"/>
          </a:p>
          <a:p>
            <a:r>
              <a:rPr lang="en-US" sz="2000"/>
              <a:t>• Cost Efficiency: Reduces the dependency on extensive and costly manual data labeling.</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Principles of Semi-Supervised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Natural Language Processing (NLP): Used in sentiment analysis, document classification, and named entity recognition with limited labeled text.</a:t>
            </a:r>
          </a:p>
          <a:p>
            <a:endParaRPr lang="en-US" sz="2000"/>
          </a:p>
          <a:p>
            <a:r>
              <a:rPr lang="en-US" sz="2000"/>
              <a:t>• Image and Video Analysis: Helps in object recognition and image segmentation, generalizing from few labeled examples.</a:t>
            </a:r>
          </a:p>
          <a:p>
            <a:endParaRPr lang="en-US" sz="2000"/>
          </a:p>
          <a:p>
            <a:r>
              <a:rPr lang="en-US" sz="2000"/>
              <a:t>• Anomaly Detection: Identifies unusual patterns or outliers in cybersecurity and fraud detection where labeled anomalies are rare.</a:t>
            </a:r>
          </a:p>
          <a:p>
            <a:endParaRPr lang="en-US" sz="2000"/>
          </a:p>
          <a:p>
            <a:r>
              <a:rPr lang="en-US" sz="2000"/>
              <a:t>• Healthcare: Applied in medical image analysis to identify diseases with a limited number of annotated cases.</a:t>
            </a:r>
          </a:p>
          <a:p>
            <a:endParaRPr lang="en-US" sz="2000"/>
          </a:p>
          <a:p>
            <a:r>
              <a:rPr lang="en-US" sz="2000"/>
              <a:t>• Web Content Classification: Improves classification accuracy for large volumes of web pages with minimal manual tagging.</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Applications of Semi-Supervised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Reinforcement Learning is a unique machine learning paradigm based on learning through interaction with an environment.</a:t>
            </a:r>
          </a:p>
          <a:p>
            <a:endParaRPr lang="en-US" sz="2000"/>
          </a:p>
          <a:p>
            <a:r>
              <a:rPr lang="en-US" sz="2000"/>
              <a:t>•   Unlike supervised learning, it doesn't rely on labeled data; unlike unsupervised, it has a clear objective.</a:t>
            </a:r>
          </a:p>
          <a:p>
            <a:endParaRPr lang="en-US" sz="2000"/>
          </a:p>
          <a:p>
            <a:r>
              <a:rPr lang="en-US" sz="2000"/>
              <a:t>•   An RL agent learns optimal actions through a process of trial and error.</a:t>
            </a:r>
          </a:p>
          <a:p>
            <a:endParaRPr lang="en-US" sz="2000"/>
          </a:p>
          <a:p>
            <a:r>
              <a:rPr lang="en-US" sz="2000"/>
              <a:t>•   The primary goal is to maximize a cumulative reward signal received over time.</a:t>
            </a:r>
          </a:p>
          <a:p>
            <a:endParaRPr lang="en-US" sz="2000"/>
          </a:p>
          <a:p>
            <a:r>
              <a:rPr lang="en-US" sz="2000"/>
              <a:t>•   This approach is ideal for tasks involving sequential decision-making in dynamic settings.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Reinforcement Learning (RL)</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Agent-Environment Interaction: An agent interacts with an environment, taking actions and receiving rewards and new states.</a:t>
            </a:r>
          </a:p>
          <a:p>
            <a:endParaRPr lang="en-US" sz="2000"/>
          </a:p>
          <a:p>
            <a:r>
              <a:rPr lang="en-US" sz="2000"/>
              <a:t>• Sequential Decision Making: Decisions impact not just immediate rewards but also future environmental states and subsequent rewards.</a:t>
            </a:r>
          </a:p>
          <a:p>
            <a:endParaRPr lang="en-US" sz="2000"/>
          </a:p>
          <a:p>
            <a:r>
              <a:rPr lang="en-US" sz="2000"/>
              <a:t>• Exploration vs. Exploitation: Agents balance trying new actions (exploration) with choosing actions known to yield high rewards (exploitation).</a:t>
            </a:r>
          </a:p>
          <a:p>
            <a:endParaRPr lang="en-US" sz="2000"/>
          </a:p>
          <a:p>
            <a:r>
              <a:rPr lang="en-US" sz="2000"/>
              <a:t>• Policy Function: A learned strategy that dictates which actions the agent should take in different states.</a:t>
            </a:r>
          </a:p>
          <a:p>
            <a:endParaRPr lang="en-US" sz="2000"/>
          </a:p>
          <a:p>
            <a:r>
              <a:rPr lang="en-US" sz="2000"/>
              <a:t>• Value Functions: Estimates the expected cumulative reward an agent can achieve under a given policy.</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Principles of Reinforcement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Autonomous Systems: Powers self-driving cars and drones, enabling real-time decision-making and safety optimization.</a:t>
            </a:r>
          </a:p>
          <a:p>
            <a:endParaRPr lang="en-US" sz="2000"/>
          </a:p>
          <a:p>
            <a:r>
              <a:rPr lang="en-US" sz="2000"/>
              <a:t>• Game Playing: Achieved significant success in complex games like chess and Go, with AI defeating human champions (e.g., AlphaGo).</a:t>
            </a:r>
          </a:p>
          <a:p>
            <a:endParaRPr lang="en-US" sz="2000"/>
          </a:p>
          <a:p>
            <a:r>
              <a:rPr lang="en-US" sz="2000"/>
              <a:t>• Robotics: Allows robots to learn dexterous manipulation skills for tasks like cooking and assembly in varied environments.</a:t>
            </a:r>
          </a:p>
          <a:p>
            <a:endParaRPr lang="en-US" sz="2000"/>
          </a:p>
          <a:p>
            <a:r>
              <a:rPr lang="en-US" sz="2000"/>
              <a:t>• Healthcare: Optimizes treatment plans and personalizes therapies for patients, for instance, in managing chronic conditions.</a:t>
            </a:r>
          </a:p>
          <a:p>
            <a:endParaRPr lang="en-US" sz="2000"/>
          </a:p>
          <a:p>
            <a:r>
              <a:rPr lang="en-US" sz="2000"/>
              <a:t>• Resource Management: Applied in optimizing energy consumption in data centers or managing complex supply chains.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Applications of Reinforcement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Supervised Learning is powerful but constrained by the need for extensive, often expensive, labeled data.</a:t>
            </a:r>
          </a:p>
          <a:p>
            <a:endParaRPr lang="en-US" sz="2000"/>
          </a:p>
          <a:p>
            <a:r>
              <a:rPr lang="en-US" sz="2000"/>
              <a:t>•   Semi-Supervised Learning enhances supervised models by effectively utilizing abundant unlabeled data.</a:t>
            </a:r>
          </a:p>
          <a:p>
            <a:endParaRPr lang="en-US" sz="2000"/>
          </a:p>
          <a:p>
            <a:r>
              <a:rPr lang="en-US" sz="2000"/>
              <a:t>•   This leads to the development of more robust and accurate models, especially when labeled datasets are small.</a:t>
            </a:r>
          </a:p>
          <a:p>
            <a:endParaRPr lang="en-US" sz="2000"/>
          </a:p>
          <a:p>
            <a:r>
              <a:rPr lang="en-US" sz="2000"/>
              <a:t>•   It significantly reduces the need for costly and time-consuming manual labeling efforts.</a:t>
            </a:r>
          </a:p>
          <a:p>
            <a:endParaRPr lang="en-US" sz="2000"/>
          </a:p>
          <a:p>
            <a:r>
              <a:rPr lang="en-US" sz="2000"/>
              <a:t>•   Example: Improving diagnostic accuracy in medical image analysis with a limited set of labeled images.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Complementing Supervised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Unsupervised Learning excels at discovering hidden patterns but often lacks a clear objective or a way to evaluate results.</a:t>
            </a:r>
          </a:p>
          <a:p>
            <a:endParaRPr lang="en-US" sz="2000"/>
          </a:p>
          <a:p>
            <a:r>
              <a:rPr lang="en-US" sz="2000"/>
              <a:t>•   Reinforcement Learning introduces a goal-oriented framework to unsupervised insights.</a:t>
            </a:r>
          </a:p>
          <a:p>
            <a:endParaRPr lang="en-US" sz="2000"/>
          </a:p>
          <a:p>
            <a:r>
              <a:rPr lang="en-US" sz="2000"/>
              <a:t>•   It can optimize actions based on patterns found by unsupervised methods, maximizing desired outcomes.</a:t>
            </a:r>
          </a:p>
          <a:p>
            <a:endParaRPr lang="en-US" sz="2000"/>
          </a:p>
          <a:p>
            <a:r>
              <a:rPr lang="en-US" sz="2000"/>
              <a:t>•   Example: In recommendation systems, unsupervised learning clusters users, and RL optimizes recommendations for engagement.</a:t>
            </a:r>
          </a:p>
          <a:p>
            <a:endParaRPr lang="en-US" sz="2000"/>
          </a:p>
          <a:p>
            <a:r>
              <a:rPr lang="en-US" sz="2000"/>
              <a:t>•   This synergy leads to more relevant outcomes and enhanced user experiences.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Complementing Unsupervised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Semi-Supervised Learning and Reinforcement Learning are crucial for expanding machine learning capabilities.</a:t>
            </a:r>
          </a:p>
          <a:p>
            <a:endParaRPr lang="en-US" sz="2000"/>
          </a:p>
          <a:p>
            <a:r>
              <a:rPr lang="en-US" sz="2000"/>
              <a:t>•   They provide innovative solutions to diverse and complex real-world challenges.</a:t>
            </a:r>
          </a:p>
          <a:p>
            <a:endParaRPr lang="en-US" sz="2000"/>
          </a:p>
          <a:p>
            <a:r>
              <a:rPr lang="en-US" sz="2000"/>
              <a:t>•   Semi-Supervised Learning efficiently leverages both labeled and unlabeled data.</a:t>
            </a:r>
          </a:p>
          <a:p>
            <a:endParaRPr lang="en-US" sz="2000"/>
          </a:p>
          <a:p>
            <a:r>
              <a:rPr lang="en-US" sz="2000"/>
              <a:t>•   Reinforcement Learning enables agents to learn optimal behavior through interactive experience.</a:t>
            </a:r>
          </a:p>
          <a:p>
            <a:endParaRPr lang="en-US" sz="2000"/>
          </a:p>
          <a:p>
            <a:r>
              <a:rPr lang="en-US" sz="2000"/>
              <a:t>•   Their integration with traditional methods will drive the development of more powerful and capable AI systems.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Conclusion: The Evolving Landscape of ML</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Which of the following best describes the primary advantage of Semi-Supervised Learning over pure Supervised Learning?</a:t>
            </a:r>
          </a:p>
          <a:p>
            <a:r>
              <a:rPr lang="en-US" sz="2000"/>
              <a:t>A) It eliminates the need for any labeled data entirely.</a:t>
            </a:r>
          </a:p>
          <a:p>
            <a:r>
              <a:rPr lang="en-US" sz="2000"/>
              <a:t>B) It can learn from data without any prior knowledge of classes or categories.</a:t>
            </a:r>
          </a:p>
          <a:p>
            <a:r>
              <a:rPr lang="en-US" sz="2000"/>
              <a:t>C) It effectively leverages a combination of limited labeled data and abundant unlabeled data to improve model performance.</a:t>
            </a:r>
          </a:p>
          <a:p>
            <a:r>
              <a:rPr lang="en-US" sz="2000"/>
              <a:t>D) It is primarily used for sequential decision-making tasks where agents interact with an environment.</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1: Which of the following best describes the primary advantage of Semi-Supervised Learning over pure Supervised Learning?</a:t>
            </a:r>
          </a:p>
          <a:p>
            <a:r>
              <a:rPr lang="en-US" sz="2000"/>
              <a:t>A) It eliminates the need for any labeled data entirely.</a:t>
            </a:r>
          </a:p>
          <a:p>
            <a:r>
              <a:rPr lang="en-US" sz="2000"/>
              <a:t>B) It can learn from data without any prior knowledge of classes or categories.</a:t>
            </a:r>
          </a:p>
          <a:p>
            <a:r>
              <a:rPr lang="en-US" sz="2000"/>
              <a:t>C) It effectively leverages a combination of limited labeled data and abundant unlabeled data to improve model performance.</a:t>
            </a:r>
          </a:p>
          <a:p>
            <a:r>
              <a:rPr lang="en-US" sz="2000"/>
              <a:t>D) It is primarily used for sequential decision-making tasks where agents interact with an environment.</a:t>
            </a:r>
          </a:p>
          <a:p>
            <a:endParaRPr lang="en-US" sz="2000"/>
          </a:p>
          <a:p>
            <a:endParaRPr lang="en-US" sz="2000"/>
          </a:p>
          <a:p>
            <a:r>
              <a:rPr lang="en-US" sz="2000" b="1"/>
              <a:t>Correct Answer: C) It effectively leverages a combination of limited labeled data and abundant unlabeled data to improve model performance.</a:t>
            </a:r>
          </a:p>
          <a:p>
            <a:r>
              <a:rPr lang="en-US" sz="2000" b="1"/>
              <a:t>Explanation: Semi-Supervised Learning is characterized by its ability to utilize both labeled and unlabeled data, addressing the common challenge of scarce labeled data in supervised learning scenarios. Options A and B describe unsupervised learning aspects, and D describes reinforcement learning.</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In Reinforcement Learning, what is the core dilemma an agent faces when interacting with its environment?</a:t>
            </a:r>
          </a:p>
          <a:p>
            <a:r>
              <a:rPr lang="en-US" sz="2000"/>
              <a:t>A) Maximizing immediate reward versus maximizing long-term cumulative reward.</a:t>
            </a:r>
          </a:p>
          <a:p>
            <a:r>
              <a:rPr lang="en-US" sz="2000"/>
              <a:t>B) Choosing between a policy function and a value function.</a:t>
            </a:r>
          </a:p>
          <a:p>
            <a:r>
              <a:rPr lang="en-US" sz="2000"/>
              <a:t>C) Balancing the need to explore new actions against exploiting known high-reward actions.</a:t>
            </a:r>
          </a:p>
          <a:p>
            <a:r>
              <a:rPr lang="en-US" sz="2000"/>
              <a:t>D) Deciding whether to use labeled or unlabeled data for learning.</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In Reinforcement Learning, what is the core dilemma an agent faces when interacting with its environment?</a:t>
            </a:r>
          </a:p>
          <a:p>
            <a:r>
              <a:rPr lang="en-US" sz="2000"/>
              <a:t>A) Maximizing immediate reward versus maximizing long-term cumulative reward.</a:t>
            </a:r>
          </a:p>
          <a:p>
            <a:r>
              <a:rPr lang="en-US" sz="2000"/>
              <a:t>B) Choosing between a policy function and a value function.</a:t>
            </a:r>
          </a:p>
          <a:p>
            <a:r>
              <a:rPr lang="en-US" sz="2000"/>
              <a:t>C) Balancing the need to explore new actions against exploiting known high-reward actions.</a:t>
            </a:r>
          </a:p>
          <a:p>
            <a:r>
              <a:rPr lang="en-US" sz="2000"/>
              <a:t>D) Deciding whether to use labeled or unlabeled data for learning.</a:t>
            </a:r>
          </a:p>
          <a:p>
            <a:endParaRPr lang="en-US" sz="2000"/>
          </a:p>
          <a:p>
            <a:endParaRPr lang="en-US" sz="2000"/>
          </a:p>
          <a:p>
            <a:r>
              <a:rPr lang="en-US" sz="2000" b="1"/>
              <a:t>Correct Answer: C) Balancing the need to explore new actions against exploiting known high-reward actions.</a:t>
            </a:r>
          </a:p>
          <a:p>
            <a:r>
              <a:rPr lang="en-US" sz="2000" b="1"/>
              <a:t>Explanation: The "exploration vs. exploitation" dilemma is a fundamental concept in Reinforcement Learning, where the agent must decide between trying new actions to discover potentially better outcomes (exploration) or sticking with actions known to yield good rewards (exploitation).</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 A healthcare organization has a small dataset of accurately diagnosed patient medical images (labeled) and a vast collection of unanalyzed medical images (unlabeled). Which machine learning paradigm would be most suitable for building an effective diagnostic tool, and why?</a:t>
            </a:r>
          </a:p>
          <a:p>
            <a:r>
              <a:rPr lang="en-US" sz="2000"/>
              <a:t>A) Supervised Learning, because accurate diagnoses are available.</a:t>
            </a:r>
          </a:p>
          <a:p>
            <a:r>
              <a:rPr lang="en-US" sz="2000"/>
              <a:t>B) Unsupervised Learning, to discover hidden patterns in the unlabeled data.</a:t>
            </a:r>
          </a:p>
          <a:p>
            <a:r>
              <a:rPr lang="en-US" sz="2000"/>
              <a:t>C) Reinforcement Learning, to optimize the diagnostic process through trial and error.</a:t>
            </a:r>
          </a:p>
          <a:p>
            <a:r>
              <a:rPr lang="en-US" sz="2000"/>
              <a:t>D) Semi-Supervised Learning, as it can combine the limited labeled data with the abundant unlabeled data to enhance diagnostic accuracy.</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a:t>Question 3: A healthcare organization has a small dataset of accurately diagnosed patient medical images (labeled) and a vast collection of unanalyzed medical images (unlabeled). Which machine learning paradigm would be most suitable for building an effective diagnostic tool, and why?</a:t>
            </a:r>
          </a:p>
          <a:p>
            <a:r>
              <a:rPr lang="en-US" sz="2000"/>
              <a:t>A) Supervised Learning, because accurate diagnoses are available.</a:t>
            </a:r>
          </a:p>
          <a:p>
            <a:r>
              <a:rPr lang="en-US" sz="2000"/>
              <a:t>B) Unsupervised Learning, to discover hidden patterns in the unlabeled data.</a:t>
            </a:r>
          </a:p>
          <a:p>
            <a:r>
              <a:rPr lang="en-US" sz="2000"/>
              <a:t>C) Reinforcement Learning, to optimize the diagnostic process through trial and error.</a:t>
            </a:r>
          </a:p>
          <a:p>
            <a:r>
              <a:rPr lang="en-US" sz="2000"/>
              <a:t>D) Semi-Supervised Learning, as it can combine the limited labeled data with the abundant unlabeled data to enhance diagnostic accuracy.</a:t>
            </a:r>
          </a:p>
          <a:p>
            <a:endParaRPr lang="en-US" sz="2000"/>
          </a:p>
          <a:p>
            <a:endParaRPr lang="en-US" sz="2000"/>
          </a:p>
          <a:p>
            <a:r>
              <a:rPr lang="en-US" sz="2000" b="1"/>
              <a:t>Correct Answer: D) Semi-Supervised Learning, as it can combine the limited labeled data with the abundant unlabeled data to enhance diagnostic accuracy.</a:t>
            </a:r>
          </a:p>
          <a:p>
            <a:r>
              <a:rPr lang="en-US" sz="2000" b="1"/>
              <a:t>Explanation: Given the scenario of limited labeled data and abundant unlabeled data, Semi-Supervised Learning is the ideal choice. It can leverage the existing accurate diagnoses while gaining broader understanding and generalization from the large pool of unlabeled images, improving the overall diagnostic tool beyond what pure supervised learning (A) or unsupervised learning (B) alone could achieve, and RL (C) is not suitable for this kind of static classification task.</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Which of the following is NOT an application area where Reinforcement Learning has shown significant success?</a:t>
            </a:r>
          </a:p>
          <a:p>
            <a:r>
              <a:rPr lang="en-US" sz="2000"/>
              <a:t>A) Autonomous systems like self-driving cars.</a:t>
            </a:r>
          </a:p>
          <a:p>
            <a:r>
              <a:rPr lang="en-US" sz="2000"/>
              <a:t>B) Playing complex strategy games like Go.</a:t>
            </a:r>
          </a:p>
          <a:p>
            <a:r>
              <a:rPr lang="en-US" sz="2000"/>
              <a:t>C) Training robots for dexterous manipulation tasks.</a:t>
            </a:r>
          </a:p>
          <a:p>
            <a:r>
              <a:rPr lang="en-US" sz="2000"/>
              <a:t>D) Automatically segmenting medical images based on pre-defined anatomical labels.</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Which of the following is NOT an application area where Reinforcement Learning has shown significant success?</a:t>
            </a:r>
          </a:p>
          <a:p>
            <a:r>
              <a:rPr lang="en-US" sz="2000"/>
              <a:t>A) Autonomous systems like self-driving cars.</a:t>
            </a:r>
          </a:p>
          <a:p>
            <a:r>
              <a:rPr lang="en-US" sz="2000"/>
              <a:t>B) Playing complex strategy games like Go.</a:t>
            </a:r>
          </a:p>
          <a:p>
            <a:r>
              <a:rPr lang="en-US" sz="2000"/>
              <a:t>C) Training robots for dexterous manipulation tasks.</a:t>
            </a:r>
          </a:p>
          <a:p>
            <a:r>
              <a:rPr lang="en-US" sz="2000"/>
              <a:t>D) Automatically segmenting medical images based on pre-defined anatomical labels.</a:t>
            </a:r>
          </a:p>
          <a:p>
            <a:endParaRPr lang="en-US" sz="2000"/>
          </a:p>
          <a:p>
            <a:endParaRPr lang="en-US" sz="2000"/>
          </a:p>
          <a:p>
            <a:r>
              <a:rPr lang="en-US" sz="2000" b="1"/>
              <a:t>Correct Answer: D) Automatically segmenting medical images based on pre-defined anatomical labels.</a:t>
            </a:r>
          </a:p>
          <a:p>
            <a:r>
              <a:rPr lang="en-US" sz="2000" b="1"/>
              <a:t>Explanation: Image segmentation with pre-defined labels is a classic supervised learning task (classification/regression at pixel level). Autonomous systems, game playing, and robotics involve sequential decision-making and interaction with dynamic environments, which are core strengths of Reinforcement Learning.</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What role does "transfer of knowledge" play in the principles of Semi-Supervised Learning?</a:t>
            </a:r>
          </a:p>
          <a:p>
            <a:r>
              <a:rPr lang="en-US" sz="2000"/>
              <a:t>A) It refers to the agent transferring its learned policy to a new environment.</a:t>
            </a:r>
          </a:p>
          <a:p>
            <a:r>
              <a:rPr lang="en-US" sz="2000"/>
              <a:t>B) It's the process of converting unlabeled data into labeled data.</a:t>
            </a:r>
          </a:p>
          <a:p>
            <a:r>
              <a:rPr lang="en-US" sz="2000"/>
              <a:t>C) It means leveraging insights gained from limited labeled data to improve predictions across the larger unlabeled dataset.</a:t>
            </a:r>
          </a:p>
          <a:p>
            <a:r>
              <a:rPr lang="en-US" sz="2000"/>
              <a:t>D) It describes the process of moving a model from a supervised task to an unsupervised task.</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What role does "transfer of knowledge" play in the principles of Semi-Supervised Learning?</a:t>
            </a:r>
          </a:p>
          <a:p>
            <a:r>
              <a:rPr lang="en-US" sz="2000"/>
              <a:t>A) It refers to the agent transferring its learned policy to a new environment.</a:t>
            </a:r>
          </a:p>
          <a:p>
            <a:r>
              <a:rPr lang="en-US" sz="2000"/>
              <a:t>B) It's the process of converting unlabeled data into labeled data.</a:t>
            </a:r>
          </a:p>
          <a:p>
            <a:r>
              <a:rPr lang="en-US" sz="2000"/>
              <a:t>C) It means leveraging insights gained from limited labeled data to improve predictions across the larger unlabeled dataset.</a:t>
            </a:r>
          </a:p>
          <a:p>
            <a:r>
              <a:rPr lang="en-US" sz="2000"/>
              <a:t>D) It describes the process of moving a model from a supervised task to an unsupervised task.</a:t>
            </a:r>
          </a:p>
          <a:p>
            <a:endParaRPr lang="en-US" sz="2000"/>
          </a:p>
          <a:p>
            <a:endParaRPr lang="en-US" sz="2000"/>
          </a:p>
          <a:p>
            <a:r>
              <a:rPr lang="en-US" sz="2000" b="1"/>
              <a:t>Correct Answer: C) It means leveraging insights gained from limited labeled data to improve predictions across the larger unlabeled dataset.</a:t>
            </a:r>
          </a:p>
          <a:p>
            <a:r>
              <a:rPr lang="en-US" sz="2000" b="1"/>
              <a:t>Explanation: In Semi-Supervised Learning, the foundational understanding derived from the small labeled dataset is "transferred" or applied to the abundant unlabeled data, allowing the model to make more informed predictions and generalize better.</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 When Reinforcement Learning is used to complement Unsupervised Learning in a recommendation system, what is the primary benefit?</a:t>
            </a:r>
          </a:p>
          <a:p>
            <a:r>
              <a:rPr lang="en-US" sz="2000"/>
              <a:t>A) It eliminates the need for clustering users or items.</a:t>
            </a:r>
          </a:p>
          <a:p>
            <a:r>
              <a:rPr lang="en-US" sz="2000"/>
              <a:t>B) It helps define the clear objective and optimize recommendations to maximize user engagement.</a:t>
            </a:r>
          </a:p>
          <a:p>
            <a:r>
              <a:rPr lang="en-US" sz="2000"/>
              <a:t>C) It makes the entire system purely data-driven without any human input.</a:t>
            </a:r>
          </a:p>
          <a:p>
            <a:r>
              <a:rPr lang="en-US" sz="2000"/>
              <a:t>D) It converts the unsupervised patterns into fully labeled training data for supervised models.</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dirty="0"/>
              <a:t>Question 6: When Reinforcement Learning is used to complement Unsupervised Learning in a recommendation system, what is the primary benefit?</a:t>
            </a:r>
          </a:p>
          <a:p>
            <a:r>
              <a:rPr lang="en-US" sz="2000" dirty="0"/>
              <a:t>A) It eliminates the need for clustering users or items.</a:t>
            </a:r>
          </a:p>
          <a:p>
            <a:r>
              <a:rPr lang="en-US" sz="2000" dirty="0"/>
              <a:t>B) It helps define the clear objective and optimize recommendations to maximize user engagement.</a:t>
            </a:r>
          </a:p>
          <a:p>
            <a:r>
              <a:rPr lang="en-US" sz="2000" dirty="0"/>
              <a:t>C) It makes the entire system purely data-driven without any human input.</a:t>
            </a:r>
          </a:p>
          <a:p>
            <a:r>
              <a:rPr lang="en-US" sz="2000" dirty="0"/>
              <a:t>D) It converts the unsupervised patterns into fully labeled training data for supervised models.</a:t>
            </a:r>
          </a:p>
          <a:p>
            <a:endParaRPr lang="en-US" sz="2000" dirty="0"/>
          </a:p>
          <a:p>
            <a:r>
              <a:rPr lang="en-US" sz="2000" b="1" dirty="0"/>
              <a:t>Correct Answer: B) It helps define the clear objective and optimize recommendations to maximize user engagement.</a:t>
            </a:r>
          </a:p>
          <a:p>
            <a:r>
              <a:rPr lang="en-US" sz="2000" b="1" dirty="0"/>
              <a:t>Explanation: Unsupervised learning can cluster users and items (finding patterns), but RL provides the goal-oriented framework to then optimize the recommendations iteratively by selecting items that maximize metrics like user engagement or satisfaction, adding a crucial layer of decision-making and optimization.</a:t>
            </a:r>
          </a:p>
          <a:p>
            <a:endParaRPr lang="en-US" sz="2000" b="1" dirty="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 A manufacturing company wants to identify subtle anomalies in sensor data from machinery to predict failures before they occur. They have a massive amount of historical sensor data, but very few instances of actual machine failures are explicitly logged and labeled. Which approach is most likely to be effective?</a:t>
            </a:r>
          </a:p>
          <a:p>
            <a:r>
              <a:rPr lang="en-US" sz="2000"/>
              <a:t>A) Pure Supervised Learning, focusing on the few labeled failure instances.</a:t>
            </a:r>
          </a:p>
          <a:p>
            <a:r>
              <a:rPr lang="en-US" sz="2000"/>
              <a:t>B) Pure Unsupervised Learning, to cluster normal operating data and identify outliers.</a:t>
            </a:r>
          </a:p>
          <a:p>
            <a:r>
              <a:rPr lang="en-US" sz="2000"/>
              <a:t>C) Semi-Supervised Learning, leveraging both the few labeled failure instances and the vast unlabeled historical data.</a:t>
            </a:r>
          </a:p>
          <a:p>
            <a:r>
              <a:rPr lang="en-US" sz="2000"/>
              <a:t>D) Reinforcement Learning, to train an agent to predict failures in real-time.</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a:t>Question 7: A manufacturing company wants to identify subtle anomalies in sensor data from machinery to predict failures before they occur. They have a massive amount of historical sensor data, but very few instances of actual machine failures are explicitly logged and labeled. Which approach is most likely to be effective?</a:t>
            </a:r>
          </a:p>
          <a:p>
            <a:r>
              <a:rPr lang="en-US" sz="2000"/>
              <a:t>A) Pure Supervised Learning, focusing on the few labeled failure instances.</a:t>
            </a:r>
          </a:p>
          <a:p>
            <a:r>
              <a:rPr lang="en-US" sz="2000"/>
              <a:t>B) Pure Unsupervised Learning, to cluster normal operating data and identify outliers.</a:t>
            </a:r>
          </a:p>
          <a:p>
            <a:r>
              <a:rPr lang="en-US" sz="2000"/>
              <a:t>C) Semi-Supervised Learning, leveraging both the few labeled failure instances and the vast unlabeled historical data.</a:t>
            </a:r>
          </a:p>
          <a:p>
            <a:r>
              <a:rPr lang="en-US" sz="2000"/>
              <a:t>D) Reinforcement Learning, to train an agent to predict failures in real-time.</a:t>
            </a:r>
          </a:p>
          <a:p>
            <a:endParaRPr lang="en-US" sz="2000"/>
          </a:p>
          <a:p>
            <a:endParaRPr lang="en-US" sz="2000"/>
          </a:p>
          <a:p>
            <a:r>
              <a:rPr lang="en-US" sz="2000" b="1"/>
              <a:t>Correct Answer: C) Semi-Supervised Learning, leveraging both the few labeled failure instances and the vast unlabeled historical data.</a:t>
            </a:r>
          </a:p>
          <a:p>
            <a:r>
              <a:rPr lang="en-US" sz="2000" b="1"/>
              <a:t>Explanation: Given the scarcity of labeled failure data but abundance of unlabeled operational data, Semi-Supervised Learning is ideal. It can learn from the few known failures while also understanding the normal operational patterns from the extensive unlabeled data, leading to a more robust anomaly detection system than pure supervised (A) or unsupervised (B). Reinforcement Learning (D) is less suitable for this prediction/classification type of task.</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pPr algn="just"/>
            <a:endParaRPr lang="en-US" sz="2000" dirty="0"/>
          </a:p>
          <a:p>
            <a:pPr algn="just"/>
            <a:r>
              <a:rPr lang="en-US" sz="2000" dirty="0"/>
              <a:t>A startup called "</a:t>
            </a:r>
            <a:r>
              <a:rPr lang="en-US" sz="2000" dirty="0" err="1"/>
              <a:t>EcoScan</a:t>
            </a:r>
            <a:r>
              <a:rPr lang="en-US" sz="2000" dirty="0"/>
              <a:t>" is developing an AI-powered waste sorting system for municipal recycling plants. Their goal is to identify and categorize various types of recyclable materials (e.g., plastic bottles, aluminum cans, cardboard, glass) from a mixed conveyor belt of waste. They have access to a vast stream of images from the conveyor belt. However, manually labeling millions of these images with precise categories is extremely time-consuming and expensive. </a:t>
            </a:r>
            <a:r>
              <a:rPr lang="en-US" sz="2000" dirty="0" err="1"/>
              <a:t>EcoScan</a:t>
            </a:r>
            <a:r>
              <a:rPr lang="en-US" sz="2000" dirty="0"/>
              <a:t> does have a small team of experts who can label a limited number of images, but this is far from sufficient for a purely supervised learning approach. Additionally, </a:t>
            </a:r>
            <a:r>
              <a:rPr lang="en-US" sz="2000" dirty="0" err="1"/>
              <a:t>EcoScan</a:t>
            </a:r>
            <a:r>
              <a:rPr lang="en-US" sz="2000" dirty="0"/>
              <a:t> wants its system to adapt and improve over time, even discovering new material types or sorting strategies if the waste composition changes or if they introduce new recycling streams.</a:t>
            </a:r>
          </a:p>
          <a:p>
            <a:pPr algn="just"/>
            <a:endParaRPr lang="en-US" sz="2000" dirty="0"/>
          </a:p>
          <a:p>
            <a:pPr algn="just"/>
            <a:r>
              <a:rPr lang="en-US" sz="2000" dirty="0"/>
              <a:t>Which machine learning paradigms would you recommend for </a:t>
            </a:r>
            <a:r>
              <a:rPr lang="en-US" sz="2000" dirty="0" err="1"/>
              <a:t>EcoScan's</a:t>
            </a:r>
            <a:r>
              <a:rPr lang="en-US" sz="2000" dirty="0"/>
              <a:t> system, and how would they be integrated to address both the data labeling challenge and the need for adaptability/discovery? Justify your choices.</a:t>
            </a:r>
          </a:p>
          <a:p>
            <a:pPr algn="just"/>
            <a:endParaRPr lang="en-US" sz="2000" dirty="0"/>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635202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55000" lnSpcReduction="20000"/>
          </a:bodyPr>
          <a:lstStyle/>
          <a:p>
            <a:r>
              <a:rPr lang="en-US" sz="2000"/>
              <a:t>Solution:</a:t>
            </a:r>
          </a:p>
          <a:p>
            <a:endParaRPr lang="en-US" sz="2000"/>
          </a:p>
          <a:p>
            <a:endParaRPr lang="en-US" sz="2000"/>
          </a:p>
          <a:p>
            <a:r>
              <a:rPr lang="en-US" sz="2000"/>
              <a:t>For EcoScan's AI-powered waste sorting system, a combination of Semi-Supervised Learning and potentially Reinforcement Learning would be highly effective and pragmatic.</a:t>
            </a:r>
          </a:p>
          <a:p>
            <a:endParaRPr lang="en-US" sz="2000"/>
          </a:p>
          <a:p>
            <a:r>
              <a:rPr lang="en-US" sz="2000"/>
              <a:t>1.  Semi-Supervised Learning for Initial Classification &amp; Addressing Data Scarcity:</a:t>
            </a:r>
          </a:p>
          <a:p>
            <a:r>
              <a:rPr lang="en-US" sz="2000"/>
              <a:t>Justification: The core challenge is the vast amount of unlabeled image data with only a limited budget for expert labeling. Semi-Supervised Learning is perfectly suited for this.</a:t>
            </a:r>
          </a:p>
          <a:p>
            <a:r>
              <a:rPr lang="en-US" sz="2000"/>
              <a:t>Integration:</a:t>
            </a:r>
          </a:p>
          <a:p>
            <a:r>
              <a:rPr lang="en-US" sz="2000"/>
              <a:t>•   EcoScan can use its small team of experts to meticulously label a crucial subset of images for initial training.</a:t>
            </a:r>
          </a:p>
          <a:p>
            <a:r>
              <a:rPr lang="en-US" sz="2000"/>
              <a:t>•   Semi-supervised algorithms (e.g., self-training, co-training, or using consistency regularization with deep learning models) would then leverage this labeled data along with the immense volume of unlabeled images.</a:t>
            </a:r>
          </a:p>
          <a:p>
            <a:r>
              <a:rPr lang="en-US" sz="2000"/>
              <a:t>•   The model learns to classify the unlabeled images, effectively "bootstrapping" its knowledge and extending the impact of the limited human-labeled data. This significantly improves the accuracy and generalization of the initial material classification model (plastic, aluminum, etc.) without requiring full manual annotation of all data.</a:t>
            </a:r>
          </a:p>
          <a:p>
            <a:endParaRPr lang="en-US" sz="2000"/>
          </a:p>
          <a:p>
            <a:r>
              <a:rPr lang="en-US" sz="2000"/>
              <a:t>2.  Reinforcement Learning for Adaptability and Optimization (Optional but Powerful):</a:t>
            </a:r>
          </a:p>
          <a:p>
            <a:r>
              <a:rPr lang="en-US" sz="2000"/>
              <a:t>Justification: The desire for the system to "adapt and improve over time, even discovering new material types or sorting strategies" strongly points towards Reinforcement Learning. While the primary sorting is a classification task, the strategy* of sorting, especially if robotic arms are involved, can be optimized by RL.</a:t>
            </a:r>
          </a:p>
          <a:p>
            <a:r>
              <a:rPr lang="en-US" sz="2000"/>
              <a:t>Integration:</a:t>
            </a:r>
          </a:p>
          <a:p>
            <a:r>
              <a:rPr lang="en-US" sz="2000"/>
              <a:t>•   An RL agent could be designed to control robotic arms or sorting mechanisms.</a:t>
            </a:r>
          </a:p>
          <a:p>
            <a:r>
              <a:rPr lang="en-US" sz="2000"/>
              <a:t>•   The "environment" would be the conveyor belt and the sorting bins.</a:t>
            </a:r>
          </a:p>
          <a:p>
            <a:r>
              <a:rPr lang="en-US" sz="2000"/>
              <a:t>•   The "actions" would be picking up an item and placing it in a specific bin, or letting it pass.</a:t>
            </a:r>
          </a:p>
          <a:p>
            <a:r>
              <a:rPr lang="en-US" sz="2000"/>
              <a:t>•   "Rewards" could be assigned for correctly sorted items (e.g., verified by downstream sensors or human checks) and penalties for mis-sorts.</a:t>
            </a:r>
          </a:p>
          <a:p>
            <a:r>
              <a:rPr lang="en-US" sz="2000"/>
              <a:t>•   The RL agent, possibly combined with the vision output from the semi-supervised classifier, could learn optimal sorting policies. It could adapt to slight changes in material appearance or even infer new categories for materials it hasn't seen explicitly labeled, by observing the outcomes of its sorting actions (e.g., "if I put this new type of plastic in the 'other plastics' bin, does it result in a positive reward later?").</a:t>
            </a:r>
          </a:p>
          <a:p>
            <a:r>
              <a:rPr lang="en-US" sz="2000"/>
              <a:t>•   This allows the system to continuously learn and refine its sorting strategies based on real-world feedback, moving beyond just classification to active, adaptive process optimization.</a:t>
            </a:r>
          </a:p>
          <a:p>
            <a:endParaRPr lang="en-US" sz="2000"/>
          </a:p>
          <a:p>
            <a:r>
              <a:rPr lang="en-US" sz="2000"/>
              <a:t>By combining Semi-Supervised Learning for robust image classification with Reinforcement Learning for adaptive sorting strategies, EcoScan can build a highly efficient, scalable, and intelligent waste management system that tackles both data limitations and the need for continuous improvement.</a:t>
            </a:r>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635202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11052788" cy="3538364"/>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fundamental concepts and principles of Semi-Supervised Learning.</a:t>
            </a:r>
          </a:p>
          <a:p>
            <a:pPr>
              <a:lnSpc>
                <a:spcPct val="115000"/>
              </a:lnSpc>
              <a:spcAft>
                <a:spcPts val="1000"/>
              </a:spcAft>
            </a:pPr>
            <a:r>
              <a:rPr lang="en-US" dirty="0">
                <a:latin typeface=""/>
                <a:ea typeface="Times New Roman"/>
                <a:cs typeface="Times New Roman"/>
              </a:rPr>
              <a:t>•   Identify various real-world applications where Semi-Supervised Learning is effectively utilized.</a:t>
            </a:r>
          </a:p>
          <a:p>
            <a:pPr>
              <a:lnSpc>
                <a:spcPct val="115000"/>
              </a:lnSpc>
              <a:spcAft>
                <a:spcPts val="1000"/>
              </a:spcAft>
            </a:pPr>
            <a:r>
              <a:rPr lang="en-US" dirty="0">
                <a:latin typeface=""/>
                <a:ea typeface="Times New Roman"/>
                <a:cs typeface="Times New Roman"/>
              </a:rPr>
              <a:t>•   Grasp the core principles and mechanisms of Reinforcement Learning.</a:t>
            </a:r>
          </a:p>
          <a:p>
            <a:pPr>
              <a:lnSpc>
                <a:spcPct val="115000"/>
              </a:lnSpc>
              <a:spcAft>
                <a:spcPts val="1000"/>
              </a:spcAft>
            </a:pPr>
            <a:r>
              <a:rPr lang="en-US" dirty="0">
                <a:latin typeface=""/>
                <a:ea typeface="Times New Roman"/>
                <a:cs typeface="Times New Roman"/>
              </a:rPr>
              <a:t>•   Explore diverse applications of Reinforcement Learning in dynamic environments.</a:t>
            </a:r>
          </a:p>
          <a:p>
            <a:pPr>
              <a:lnSpc>
                <a:spcPct val="115000"/>
              </a:lnSpc>
              <a:spcAft>
                <a:spcPts val="1000"/>
              </a:spcAft>
            </a:pPr>
            <a:r>
              <a:rPr lang="en-US" dirty="0">
                <a:latin typeface=""/>
                <a:ea typeface="Times New Roman"/>
                <a:cs typeface="Times New Roman"/>
              </a:rPr>
              <a:t>•   Recognize how Semi-Supervised and Reinforcement Learning complement traditional Supervised and Unsupervised Learning paradigms.</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6352026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3497</Words>
  <Application>Microsoft Office PowerPoint</Application>
  <PresentationFormat>Widescreen</PresentationFormat>
  <Paragraphs>268</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Aptos Display</vt:lpstr>
      <vt:lpstr>Arial</vt:lpstr>
      <vt:lpstr>Avenir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idol</dc:creator>
  <cp:lastModifiedBy>Mohamed Ali</cp:lastModifiedBy>
  <cp:revision>39</cp:revision>
  <dcterms:created xsi:type="dcterms:W3CDTF">2025-07-09T10:39:06Z</dcterms:created>
  <dcterms:modified xsi:type="dcterms:W3CDTF">2026-10-28T04:13:14Z</dcterms:modified>
</cp:coreProperties>
</file>