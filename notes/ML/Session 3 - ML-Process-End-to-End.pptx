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9" r:id="rId2"/>
    <p:sldId id="259" r:id="rId3"/>
    <p:sldId id="263" r:id="rId4"/>
    <p:sldId id="278" r:id="rId5"/>
    <p:sldId id="279" r:id="rId6"/>
    <p:sldId id="280" r:id="rId7"/>
    <p:sldId id="281" r:id="rId8"/>
    <p:sldId id="282" r:id="rId9"/>
    <p:sldId id="283" r:id="rId10"/>
    <p:sldId id="284" r:id="rId11"/>
    <p:sldId id="285" r:id="rId12"/>
    <p:sldId id="286" r:id="rId13"/>
    <p:sldId id="287" r:id="rId14"/>
    <p:sldId id="288" r:id="rId15"/>
    <p:sldId id="260" r:id="rId16"/>
    <p:sldId id="277" r:id="rId17"/>
    <p:sldId id="276" r:id="rId18"/>
    <p:sldId id="275" r:id="rId19"/>
    <p:sldId id="274" r:id="rId20"/>
    <p:sldId id="273" r:id="rId21"/>
    <p:sldId id="272" r:id="rId22"/>
    <p:sldId id="271" r:id="rId23"/>
    <p:sldId id="270" r:id="rId24"/>
    <p:sldId id="269" r:id="rId25"/>
    <p:sldId id="268" r:id="rId26"/>
    <p:sldId id="267" r:id="rId27"/>
    <p:sldId id="266" r:id="rId28"/>
    <p:sldId id="265" r:id="rId29"/>
    <p:sldId id="261" r:id="rId30"/>
    <p:sldId id="264" r:id="rId31"/>
    <p:sldId id="262"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166" userDrawn="1">
          <p15:clr>
            <a:srgbClr val="A4A3A4"/>
          </p15:clr>
        </p15:guide>
        <p15:guide id="4" pos="751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271" autoAdjust="0"/>
    <p:restoredTop sz="94660"/>
  </p:normalViewPr>
  <p:slideViewPr>
    <p:cSldViewPr snapToGrid="0" showGuides="1">
      <p:cViewPr varScale="1">
        <p:scale>
          <a:sx n="92" d="100"/>
          <a:sy n="92" d="100"/>
        </p:scale>
        <p:origin x="420" y="36"/>
      </p:cViewPr>
      <p:guideLst>
        <p:guide orient="horz" pos="2160"/>
        <p:guide pos="3840"/>
        <p:guide pos="166"/>
        <p:guide pos="751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8CAB6-0A18-B12A-06A5-CFD0B06665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A51E932-87D4-E4A3-5EC5-FD37D2ADBA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B361194-F8BE-C949-EFCA-00EE7F867912}"/>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5" name="Footer Placeholder 4">
            <a:extLst>
              <a:ext uri="{FF2B5EF4-FFF2-40B4-BE49-F238E27FC236}">
                <a16:creationId xmlns:a16="http://schemas.microsoft.com/office/drawing/2014/main" id="{FF334BE2-760E-FA63-F53E-6EC6D65C14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019652-B072-95C3-666A-824B223F073C}"/>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320810341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62509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55807-6537-7A6D-A641-B2A17376E9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45B0403-42FF-1C59-1D5B-32C3D76224A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5186C83-3353-0411-EE9B-3502DB3E4588}"/>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5" name="Footer Placeholder 4">
            <a:extLst>
              <a:ext uri="{FF2B5EF4-FFF2-40B4-BE49-F238E27FC236}">
                <a16:creationId xmlns:a16="http://schemas.microsoft.com/office/drawing/2014/main" id="{470F388B-76FB-C020-4F27-4E8F47369B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013B55-0C9D-95FE-DE57-76D9CAC53846}"/>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40718621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0200A-4353-C353-E184-88D52DADCDE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E3E2DB6-9BB8-38D4-16CA-0544ED95B0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CE55387-24D0-58FA-83A3-7DE9457A88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6792733-6AE7-EB0F-FA3B-AF5CDFCC84AC}"/>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6" name="Footer Placeholder 5">
            <a:extLst>
              <a:ext uri="{FF2B5EF4-FFF2-40B4-BE49-F238E27FC236}">
                <a16:creationId xmlns:a16="http://schemas.microsoft.com/office/drawing/2014/main" id="{051F2C6F-7464-367E-E3F8-97DC8C8F38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816EA2-7E56-7BA3-2439-E543C4160FCD}"/>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23682397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5A9EF-5440-6E76-FF73-0CF065E3FE2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746708-25E5-77F6-A964-227D0EE4C5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0C22E3-5FB3-FA79-ED62-21819A6A00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E96025A-E802-D170-D6B8-690A286BCE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0B7203-20FE-415A-F923-11A30CAAC6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D7DA1C9-7D6A-71D0-70D9-9B0828718429}"/>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8" name="Footer Placeholder 7">
            <a:extLst>
              <a:ext uri="{FF2B5EF4-FFF2-40B4-BE49-F238E27FC236}">
                <a16:creationId xmlns:a16="http://schemas.microsoft.com/office/drawing/2014/main" id="{C5FE8C4F-142A-8803-C2AD-C6393A49A31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A83C7CE-86E2-2A63-0ECE-6F7089A68601}"/>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11817125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AE12F-6D65-52A0-48AA-B03A63F84E5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2C2E755-9EA8-6439-9AA9-91FF3D9183D1}"/>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4" name="Footer Placeholder 3">
            <a:extLst>
              <a:ext uri="{FF2B5EF4-FFF2-40B4-BE49-F238E27FC236}">
                <a16:creationId xmlns:a16="http://schemas.microsoft.com/office/drawing/2014/main" id="{3DEB468B-111F-CF06-6C38-3BC8CFF43DB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FD94801-333D-738E-07D1-D8DAF45C098D}"/>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465337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345271-495D-152E-CF4A-DF4710D8BEC2}"/>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3" name="Footer Placeholder 2">
            <a:extLst>
              <a:ext uri="{FF2B5EF4-FFF2-40B4-BE49-F238E27FC236}">
                <a16:creationId xmlns:a16="http://schemas.microsoft.com/office/drawing/2014/main" id="{24F704DD-032D-53A7-BFF6-45E5965DD43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3277178-4230-89A4-5872-75B349208232}"/>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3537007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A69D6-24F8-42C9-1D77-EC88669074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99D61D7-9867-D57B-393C-47C770AA65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9ED94E2-1CFC-4DFF-4491-2085D8036D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0CD279-5116-5E15-60C5-9EF79DDB4C64}"/>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6" name="Footer Placeholder 5">
            <a:extLst>
              <a:ext uri="{FF2B5EF4-FFF2-40B4-BE49-F238E27FC236}">
                <a16:creationId xmlns:a16="http://schemas.microsoft.com/office/drawing/2014/main" id="{69031C19-F77D-04E3-B033-CF6338C1391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F8963EA-8864-E6BE-24F5-23AFDA15D8B9}"/>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1808667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56FE6-775B-5F83-EEAB-E36547DB11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1964366-F9DB-7570-8134-3DDD5A1017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7EFF4E6-78FE-6A93-F107-25294F26CE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DA6E5D-D1B7-97B4-E5F0-293D2283C25B}"/>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6" name="Footer Placeholder 5">
            <a:extLst>
              <a:ext uri="{FF2B5EF4-FFF2-40B4-BE49-F238E27FC236}">
                <a16:creationId xmlns:a16="http://schemas.microsoft.com/office/drawing/2014/main" id="{7470F263-4F04-05C5-5AB8-17B4BF4369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78888F2-58F4-670D-C34D-AD8FC7455A6D}"/>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1408837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48A30-B913-89F3-B532-786CB42C2F5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BD29D4D-DEE7-6A1D-B42E-38574A7273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96FAF5-A696-3446-BF82-38164F6A8A2C}"/>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5" name="Footer Placeholder 4">
            <a:extLst>
              <a:ext uri="{FF2B5EF4-FFF2-40B4-BE49-F238E27FC236}">
                <a16:creationId xmlns:a16="http://schemas.microsoft.com/office/drawing/2014/main" id="{24EE94DE-54DD-A6A8-474C-AB93008EA0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98F6DA-A2A6-C945-BF21-6706B5FA6B69}"/>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4139727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308265-AD14-4580-CC74-9C4CF00E99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6F309DA-5772-6FBD-97A3-F137B93F90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C1C790-714C-45F7-D996-F901BECA504F}"/>
              </a:ext>
            </a:extLst>
          </p:cNvPr>
          <p:cNvSpPr>
            <a:spLocks noGrp="1"/>
          </p:cNvSpPr>
          <p:nvPr>
            <p:ph type="dt" sz="half" idx="10"/>
          </p:nvPr>
        </p:nvSpPr>
        <p:spPr/>
        <p:txBody>
          <a:bodyPr/>
          <a:lstStyle/>
          <a:p>
            <a:fld id="{DF10130E-D3C0-4B5D-8C12-EBDFC4E82B3D}" type="datetimeFigureOut">
              <a:rPr lang="en-IN" smtClean="0"/>
              <a:pPr/>
              <a:t>28-10-2026</a:t>
            </a:fld>
            <a:endParaRPr lang="en-IN"/>
          </a:p>
        </p:txBody>
      </p:sp>
      <p:sp>
        <p:nvSpPr>
          <p:cNvPr id="5" name="Footer Placeholder 4">
            <a:extLst>
              <a:ext uri="{FF2B5EF4-FFF2-40B4-BE49-F238E27FC236}">
                <a16:creationId xmlns:a16="http://schemas.microsoft.com/office/drawing/2014/main" id="{7BF76402-000D-C35B-9564-25F55D31AC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067743-5BF8-DFC2-CBDC-EB27E01169C7}"/>
              </a:ext>
            </a:extLst>
          </p:cNvPr>
          <p:cNvSpPr>
            <a:spLocks noGrp="1"/>
          </p:cNvSpPr>
          <p:nvPr>
            <p:ph type="sldNum" sz="quarter" idx="12"/>
          </p:nvPr>
        </p:nvSpPr>
        <p:spPr/>
        <p:txBody>
          <a:bodyPr/>
          <a:lstStyle/>
          <a:p>
            <a:fld id="{DA0C9D19-9CC2-4BD0-80ED-38FDA6BAD898}" type="slidenum">
              <a:rPr lang="en-IN" smtClean="0"/>
              <a:pPr/>
              <a:t>‹#›</a:t>
            </a:fld>
            <a:endParaRPr lang="en-IN"/>
          </a:p>
        </p:txBody>
      </p:sp>
    </p:spTree>
    <p:extLst>
      <p:ext uri="{BB962C8B-B14F-4D97-AF65-F5344CB8AC3E}">
        <p14:creationId xmlns:p14="http://schemas.microsoft.com/office/powerpoint/2010/main" val="63758575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B05E56-8D2F-5F2F-8551-44A2B095FC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C6445D5-7E47-8624-9AC3-BB3BCD2772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9B5D27-2F61-7E25-7C4F-55CEB62622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F10130E-D3C0-4B5D-8C12-EBDFC4E82B3D}" type="datetimeFigureOut">
              <a:rPr lang="en-IN" smtClean="0"/>
              <a:pPr/>
              <a:t>28-10-2026</a:t>
            </a:fld>
            <a:endParaRPr lang="en-IN"/>
          </a:p>
        </p:txBody>
      </p:sp>
      <p:sp>
        <p:nvSpPr>
          <p:cNvPr id="5" name="Footer Placeholder 4">
            <a:extLst>
              <a:ext uri="{FF2B5EF4-FFF2-40B4-BE49-F238E27FC236}">
                <a16:creationId xmlns:a16="http://schemas.microsoft.com/office/drawing/2014/main" id="{628E40CC-F5EF-5459-5DE6-51B24194D7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C677AFA-267B-483B-8828-7D5EC7CBFD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A0C9D19-9CC2-4BD0-80ED-38FDA6BAD898}" type="slidenum">
              <a:rPr lang="en-IN" smtClean="0"/>
              <a:pPr/>
              <a:t>‹#›</a:t>
            </a:fld>
            <a:endParaRPr lang="en-IN"/>
          </a:p>
        </p:txBody>
      </p:sp>
    </p:spTree>
    <p:extLst>
      <p:ext uri="{BB962C8B-B14F-4D97-AF65-F5344CB8AC3E}">
        <p14:creationId xmlns:p14="http://schemas.microsoft.com/office/powerpoint/2010/main" val="8921971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12F19C-2097-2F43-FB1E-9104E307E675}"/>
              </a:ext>
            </a:extLst>
          </p:cNvPr>
          <p:cNvSpPr txBox="1"/>
          <p:nvPr/>
        </p:nvSpPr>
        <p:spPr>
          <a:xfrm>
            <a:off x="2374323" y="2400593"/>
            <a:ext cx="6095306" cy="369332"/>
          </a:xfrm>
          <a:prstGeom prst="rect">
            <a:avLst/>
          </a:prstGeom>
          <a:noFill/>
        </p:spPr>
        <p:txBody>
          <a:bodyPr wrap="square">
            <a:spAutoFit/>
          </a:bodyPr>
          <a:lstStyle/>
          <a:p>
            <a:r>
              <a:rPr lang="en-IN" dirty="0"/>
              <a:t>The End-to-End Machine Learning Process</a:t>
            </a:r>
          </a:p>
        </p:txBody>
      </p:sp>
    </p:spTree>
    <p:extLst>
      <p:ext uri="{BB962C8B-B14F-4D97-AF65-F5344CB8AC3E}">
        <p14:creationId xmlns:p14="http://schemas.microsoft.com/office/powerpoint/2010/main" val="11627003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ea typeface="Avenir"/>
                <a:cs typeface="Avenir"/>
                <a:sym typeface="Avenir"/>
              </a:rPr>
              <a:t>Learning Objectives</a:t>
            </a:r>
            <a:endParaRPr lang="en-US" sz="2800" b="1" dirty="0">
              <a:solidFill>
                <a:srgbClr val="D9212B"/>
              </a:solidFill>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endParaRPr lang="en-US" sz="2000" dirty="0"/>
          </a:p>
        </p:txBody>
      </p:sp>
      <p:sp>
        <p:nvSpPr>
          <p:cNvPr id="4" name="Google Shape;96;p3"/>
          <p:cNvSpPr txBox="1"/>
          <p:nvPr/>
        </p:nvSpPr>
        <p:spPr>
          <a:xfrm>
            <a:off x="773393" y="1672895"/>
            <a:ext cx="8074981" cy="571348"/>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000"/>
              <a:buFont typeface="Arial"/>
              <a:buNone/>
            </a:pPr>
            <a:r>
              <a:rPr lang="en-US" sz="2000" b="1" dirty="0">
                <a:solidFill>
                  <a:schemeClr val="dk1"/>
                </a:solidFill>
                <a:latin typeface="Avenir"/>
                <a:ea typeface="Avenir"/>
                <a:cs typeface="Avenir"/>
                <a:sym typeface="Avenir"/>
              </a:rPr>
              <a:t>By the end of this session, you will be able to:</a:t>
            </a:r>
            <a:endParaRPr dirty="0"/>
          </a:p>
        </p:txBody>
      </p:sp>
      <p:sp>
        <p:nvSpPr>
          <p:cNvPr id="5" name="Google Shape;98;p3"/>
          <p:cNvSpPr txBox="1"/>
          <p:nvPr/>
        </p:nvSpPr>
        <p:spPr>
          <a:xfrm>
            <a:off x="885636" y="2326538"/>
            <a:ext cx="10132884" cy="3538364"/>
          </a:xfrm>
          <a:prstGeom prst="rect">
            <a:avLst/>
          </a:prstGeom>
          <a:noFill/>
          <a:ln>
            <a:noFill/>
          </a:ln>
        </p:spPr>
        <p:txBody>
          <a:bodyPr spcFirstLastPara="1" wrap="square" lIns="91425" tIns="45700" rIns="91425" bIns="45700" anchor="t" anchorCtr="0">
            <a:spAutoFit/>
          </a:bodyPr>
          <a:lstStyle/>
          <a:p>
            <a:pPr>
              <a:lnSpc>
                <a:spcPct val="115000"/>
              </a:lnSpc>
              <a:spcAft>
                <a:spcPts val="1000"/>
              </a:spcAft>
            </a:pPr>
            <a:endParaRPr lang="en-US" dirty="0">
              <a:latin typeface=""/>
              <a:ea typeface="Times New Roman"/>
              <a:cs typeface="Times New Roman"/>
            </a:endParaRPr>
          </a:p>
          <a:p>
            <a:pPr>
              <a:lnSpc>
                <a:spcPct val="115000"/>
              </a:lnSpc>
              <a:spcAft>
                <a:spcPts val="1000"/>
              </a:spcAft>
            </a:pPr>
            <a:r>
              <a:rPr lang="en-US" dirty="0">
                <a:latin typeface=""/>
                <a:ea typeface="Times New Roman"/>
                <a:cs typeface="Times New Roman"/>
              </a:rPr>
              <a:t>•   Describe the foundational stages of the machine learning process.</a:t>
            </a:r>
          </a:p>
          <a:p>
            <a:pPr>
              <a:lnSpc>
                <a:spcPct val="115000"/>
              </a:lnSpc>
              <a:spcAft>
                <a:spcPts val="1000"/>
              </a:spcAft>
            </a:pPr>
            <a:r>
              <a:rPr lang="en-US" dirty="0">
                <a:latin typeface=""/>
                <a:ea typeface="Times New Roman"/>
                <a:cs typeface="Times New Roman"/>
              </a:rPr>
              <a:t>•   Outline the critical steps involved in formulating a machine learning problem effectively.</a:t>
            </a:r>
          </a:p>
          <a:p>
            <a:pPr>
              <a:lnSpc>
                <a:spcPct val="115000"/>
              </a:lnSpc>
              <a:spcAft>
                <a:spcPts val="1000"/>
              </a:spcAft>
            </a:pPr>
            <a:r>
              <a:rPr lang="en-US" dirty="0">
                <a:latin typeface=""/>
                <a:ea typeface="Times New Roman"/>
                <a:cs typeface="Times New Roman"/>
              </a:rPr>
              <a:t>•   Explain the importance of data collection, cleaning, and feature engineering for model development.</a:t>
            </a:r>
          </a:p>
          <a:p>
            <a:pPr>
              <a:lnSpc>
                <a:spcPct val="115000"/>
              </a:lnSpc>
              <a:spcAft>
                <a:spcPts val="1000"/>
              </a:spcAft>
            </a:pPr>
            <a:r>
              <a:rPr lang="en-US" dirty="0">
                <a:latin typeface=""/>
                <a:ea typeface="Times New Roman"/>
                <a:cs typeface="Times New Roman"/>
              </a:rPr>
              <a:t>•   Understand the procedures for training, validating, and evaluating machine learning models.</a:t>
            </a:r>
          </a:p>
          <a:p>
            <a:pPr>
              <a:lnSpc>
                <a:spcPct val="115000"/>
              </a:lnSpc>
              <a:spcAft>
                <a:spcPts val="1000"/>
              </a:spcAft>
            </a:pPr>
            <a:r>
              <a:rPr lang="en-US" dirty="0">
                <a:latin typeface=""/>
                <a:ea typeface="Times New Roman"/>
                <a:cs typeface="Times New Roman"/>
              </a:rPr>
              <a:t>•   Identify key considerations for successfully deploying and maintaining ML models in production.</a:t>
            </a:r>
          </a:p>
          <a:p>
            <a:pPr>
              <a:lnSpc>
                <a:spcPct val="115000"/>
              </a:lnSpc>
              <a:spcAft>
                <a:spcPts val="1000"/>
              </a:spcAft>
            </a:pPr>
            <a:r>
              <a:rPr lang="en-US" dirty="0">
                <a:latin typeface=""/>
                <a:ea typeface="Times New Roman"/>
                <a:cs typeface="Times New Roman"/>
              </a:rPr>
              <a:t> </a:t>
            </a:r>
          </a:p>
        </p:txBody>
      </p:sp>
    </p:spTree>
    <p:extLst>
      <p:ext uri="{BB962C8B-B14F-4D97-AF65-F5344CB8AC3E}">
        <p14:creationId xmlns:p14="http://schemas.microsoft.com/office/powerpoint/2010/main" val="16352026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Machine learning empowers computers to learn from data and make predictions or decisions without explicit programming.</a:t>
            </a:r>
          </a:p>
          <a:p>
            <a:endParaRPr lang="en-US" sz="2000"/>
          </a:p>
          <a:p>
            <a:r>
              <a:rPr lang="en-US" sz="2000"/>
              <a:t>•   It has revolutionized various fields, from healthcare to recommendation systems.</a:t>
            </a:r>
          </a:p>
          <a:p>
            <a:endParaRPr lang="en-US" sz="2000"/>
          </a:p>
          <a:p>
            <a:r>
              <a:rPr lang="en-US" sz="2000"/>
              <a:t>•   A systematic understanding of the machine learning process is crucial for harnessing its potential.</a:t>
            </a:r>
          </a:p>
          <a:p>
            <a:endParaRPr lang="en-US" sz="2000"/>
          </a:p>
          <a:p>
            <a:r>
              <a:rPr lang="en-US" sz="2000"/>
              <a:t>•   The process is broken down into four key stages: Problem Formulation, Data Collection and Exploration, Model Training and Evaluation, and Model Deployment.</a:t>
            </a:r>
          </a:p>
          <a:p>
            <a:endParaRPr lang="en-US" sz="2000"/>
          </a:p>
          <a:p>
            <a:r>
              <a:rPr lang="en-US" sz="2000"/>
              <a:t>•   Each stage is vital for developing effective and impactful machine learning solutions.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Introduction to the Machine Learning Process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Problem formulation is the initial and foundational step in any machine learning project.</a:t>
            </a:r>
          </a:p>
          <a:p>
            <a:endParaRPr lang="en-US" sz="2000"/>
          </a:p>
          <a:p>
            <a:r>
              <a:rPr lang="en-US" sz="2000"/>
              <a:t>•   It involves clearly defining the problem statement and its specific objectives.</a:t>
            </a:r>
          </a:p>
          <a:p>
            <a:endParaRPr lang="en-US" sz="2000"/>
          </a:p>
          <a:p>
            <a:r>
              <a:rPr lang="en-US" sz="2000"/>
              <a:t>•   For example, diagnosing diseases based on patient data in healthcare.</a:t>
            </a:r>
          </a:p>
          <a:p>
            <a:endParaRPr lang="en-US" sz="2000"/>
          </a:p>
          <a:p>
            <a:r>
              <a:rPr lang="en-US" sz="2000"/>
              <a:t>•   Assessment of data availability and quality is crucial at this stage.</a:t>
            </a:r>
          </a:p>
          <a:p>
            <a:endParaRPr lang="en-US" sz="2000"/>
          </a:p>
          <a:p>
            <a:r>
              <a:rPr lang="en-US" sz="2000"/>
              <a:t>•   This includes identifying data sources, formats, and potential limitations.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Problem Formulation: Defining the Goal</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Establishing the project's scope and identifying any constraints is essential.</a:t>
            </a:r>
          </a:p>
          <a:p>
            <a:endParaRPr lang="en-US" sz="2000"/>
          </a:p>
          <a:p>
            <a:r>
              <a:rPr lang="en-US" sz="2000"/>
              <a:t>•   Constraints may include budget limitations, timeframes, or ethical considerations.</a:t>
            </a:r>
          </a:p>
          <a:p>
            <a:endParaRPr lang="en-US" sz="2000"/>
          </a:p>
          <a:p>
            <a:r>
              <a:rPr lang="en-US" sz="2000"/>
              <a:t>•   Defining clear performance metrics is critical for success, such as accuracy, precision, recall, or business ROI.</a:t>
            </a:r>
          </a:p>
          <a:p>
            <a:endParaRPr lang="en-US" sz="2000"/>
          </a:p>
          <a:p>
            <a:r>
              <a:rPr lang="en-US" sz="2000"/>
              <a:t>•   Identifying baseline models provides a benchmark for comparison against new solutions.</a:t>
            </a:r>
          </a:p>
          <a:p>
            <a:endParaRPr lang="en-US" sz="2000"/>
          </a:p>
          <a:p>
            <a:r>
              <a:rPr lang="en-US" sz="2000"/>
              <a:t>•   Assembling a multidisciplinary team with domain knowledge, data science, and software engineering expertise is often necessary.</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Problem Formulation: Setting Scope &amp; Metrics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Once the problem is defined, the next step is gathering relevant data.</a:t>
            </a:r>
          </a:p>
          <a:p>
            <a:endParaRPr lang="en-US" sz="2000" dirty="0"/>
          </a:p>
          <a:p>
            <a:r>
              <a:rPr lang="en-US" sz="2000" dirty="0"/>
              <a:t>•   Data can be collected from diverse sources like databases, APIs, sensors, or manual entry.</a:t>
            </a:r>
          </a:p>
          <a:p>
            <a:endParaRPr lang="en-US" sz="2000" dirty="0"/>
          </a:p>
          <a:p>
            <a:r>
              <a:rPr lang="en-US" dirty="0"/>
              <a:t>•   High-quality data is the fundamental requirement for any effective machine learning system.</a:t>
            </a:r>
          </a:p>
          <a:p>
            <a:endParaRPr lang="en-US" sz="2000" dirty="0"/>
          </a:p>
          <a:p>
            <a:r>
              <a:rPr lang="en-US" sz="2000" dirty="0"/>
              <a:t>•   Initial data cleaning involves preprocessing to handle missing values and inconsistencies.</a:t>
            </a:r>
          </a:p>
          <a:p>
            <a:endParaRPr lang="en-US" sz="2000" dirty="0"/>
          </a:p>
          <a:p>
            <a:r>
              <a:rPr lang="en-US" sz="2000" dirty="0"/>
              <a:t>•   This ensures the data is in a usable state for subsequent analysis and model development.</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Data Collection: Initial Steps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dirty="0"/>
          </a:p>
          <a:p>
            <a:r>
              <a:rPr lang="en-US" dirty="0"/>
              <a:t>•   Exploratory Data Analysis (EDA) is an in-depth exploration to understand data characteristics.</a:t>
            </a:r>
          </a:p>
          <a:p>
            <a:endParaRPr lang="en-US" sz="2000" dirty="0"/>
          </a:p>
          <a:p>
            <a:r>
              <a:rPr lang="en-US" sz="2000" dirty="0"/>
              <a:t>•   EDA involves creating visualizations to identify trends, distributions, and relationships.</a:t>
            </a:r>
          </a:p>
          <a:p>
            <a:endParaRPr lang="en-US" sz="2000" dirty="0"/>
          </a:p>
          <a:p>
            <a:r>
              <a:rPr lang="en-US" sz="2000" dirty="0"/>
              <a:t>•   Summary statistics help in understanding central tendencies and data spread.</a:t>
            </a:r>
          </a:p>
          <a:p>
            <a:endParaRPr lang="en-US" sz="2000" dirty="0"/>
          </a:p>
          <a:p>
            <a:r>
              <a:rPr lang="en-US" dirty="0"/>
              <a:t>•   This stage is crucial for identifying patterns, anomalies, and potential biases within the dataset.</a:t>
            </a:r>
          </a:p>
          <a:p>
            <a:endParaRPr lang="en-US" sz="2000" dirty="0"/>
          </a:p>
          <a:p>
            <a:r>
              <a:rPr lang="en-US" dirty="0"/>
              <a:t>•   Insights gained here may lead to refining initial problem formulations or data collection strategies.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Data Exploration: Uncovering Insights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Feature engineering involves creating or transforming input variables (features).</a:t>
            </a:r>
          </a:p>
          <a:p>
            <a:endParaRPr lang="en-US" sz="2000" dirty="0"/>
          </a:p>
          <a:p>
            <a:r>
              <a:rPr lang="en-US" sz="2000" dirty="0"/>
              <a:t>•   The goal is to enhance the model's ability to make accurate predictions.</a:t>
            </a:r>
          </a:p>
          <a:p>
            <a:endParaRPr lang="en-US" sz="2000" dirty="0"/>
          </a:p>
          <a:p>
            <a:r>
              <a:rPr lang="en-US" sz="2000" dirty="0"/>
              <a:t>•   Techniques include dimensionality reduction, which simplifies complex datasets.</a:t>
            </a:r>
          </a:p>
          <a:p>
            <a:endParaRPr lang="en-US" sz="2000" dirty="0"/>
          </a:p>
          <a:p>
            <a:r>
              <a:rPr lang="en-US" dirty="0"/>
              <a:t>•   One-hot encoding converts categorical data into a numerical format suitable for algorithms.</a:t>
            </a:r>
          </a:p>
          <a:p>
            <a:endParaRPr lang="en-US" sz="2000" dirty="0"/>
          </a:p>
          <a:p>
            <a:r>
              <a:rPr lang="en-US" dirty="0"/>
              <a:t>•   Feature scaling standardizes numerical features, preventing dominance of certain variables.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Data Exploration: Feature Engineering</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Model training begins with selecting the appropriate machine learning algorithm.</a:t>
            </a:r>
          </a:p>
          <a:p>
            <a:endParaRPr lang="en-US" sz="2000"/>
          </a:p>
          <a:p>
            <a:r>
              <a:rPr lang="en-US" sz="2000"/>
              <a:t>•   Algorithm choice depends on the problem type (e.g., classification, regression, clustering) and data characteristics.</a:t>
            </a:r>
          </a:p>
          <a:p>
            <a:endParaRPr lang="en-US" sz="2000"/>
          </a:p>
          <a:p>
            <a:r>
              <a:rPr lang="en-US" sz="2000"/>
              <a:t>•   The training data is used to teach the chosen model to make predictions or decisions.</a:t>
            </a:r>
          </a:p>
          <a:p>
            <a:endParaRPr lang="en-US" sz="2000"/>
          </a:p>
          <a:p>
            <a:r>
              <a:rPr lang="en-US" sz="2000"/>
              <a:t>•   This involves optimizing model parameters to minimize prediction errors.</a:t>
            </a:r>
          </a:p>
          <a:p>
            <a:endParaRPr lang="en-US" sz="2000"/>
          </a:p>
          <a:p>
            <a:r>
              <a:rPr lang="en-US" sz="2000"/>
              <a:t>•   The process iteratively adjusts the model's internal settings to learn from the data patterns.</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Model Training: Building the Model</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dirty="0"/>
          </a:p>
          <a:p>
            <a:r>
              <a:rPr lang="en-US" sz="2000" dirty="0"/>
              <a:t>•   Model validation assesses the trained model's performance on unseen data.</a:t>
            </a:r>
          </a:p>
          <a:p>
            <a:endParaRPr lang="en-US" sz="2000" dirty="0"/>
          </a:p>
          <a:p>
            <a:r>
              <a:rPr lang="en-US" sz="2000" dirty="0"/>
              <a:t>•   Performance is measured using relevant evaluation metrics specific to the task.</a:t>
            </a:r>
          </a:p>
          <a:p>
            <a:endParaRPr lang="en-US" sz="2000" dirty="0"/>
          </a:p>
          <a:p>
            <a:r>
              <a:rPr lang="en-US" sz="2000" dirty="0"/>
              <a:t>•   Common metrics include accuracy, precision, recall, F1-score for classification, and Mean Squared Error for regression.</a:t>
            </a:r>
          </a:p>
          <a:p>
            <a:endParaRPr lang="en-US" sz="2000" dirty="0"/>
          </a:p>
          <a:p>
            <a:r>
              <a:rPr lang="en-US" sz="2000" dirty="0"/>
              <a:t>•   These metrics help in understanding how well the model generalizes to new data.</a:t>
            </a:r>
          </a:p>
          <a:p>
            <a:endParaRPr lang="en-US" sz="2000" dirty="0"/>
          </a:p>
          <a:p>
            <a:r>
              <a:rPr lang="en-US" dirty="0"/>
              <a:t>•   The validation dataset is distinct from the training set to provide an unbiased performance estimate.</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Model Evaluation: Assessing Performance</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dirty="0"/>
          </a:p>
          <a:p>
            <a:r>
              <a:rPr lang="en-US" dirty="0"/>
              <a:t>•   Hyperparameter tuning involves fine-tuning the model's external parameters to improve performance.</a:t>
            </a:r>
          </a:p>
          <a:p>
            <a:endParaRPr lang="en-US" sz="2000" dirty="0"/>
          </a:p>
          <a:p>
            <a:r>
              <a:rPr lang="en-US" sz="2000" dirty="0"/>
              <a:t>•   Techniques like grid search or Bayesian optimization are used for systematic hyperparameter adjustment.</a:t>
            </a:r>
          </a:p>
          <a:p>
            <a:endParaRPr lang="en-US" sz="2000" dirty="0"/>
          </a:p>
          <a:p>
            <a:r>
              <a:rPr lang="en-US" dirty="0"/>
              <a:t>•   Model interpretability is crucial, especially in high-stakes applications like healthcare or finance.</a:t>
            </a:r>
          </a:p>
          <a:p>
            <a:endParaRPr lang="en-US" sz="2000" dirty="0"/>
          </a:p>
          <a:p>
            <a:r>
              <a:rPr lang="en-US" sz="2000" dirty="0"/>
              <a:t>•   Ensuring interpretability helps in understanding and explaining the model's decisions.</a:t>
            </a:r>
          </a:p>
          <a:p>
            <a:endParaRPr lang="en-US" sz="2000" dirty="0"/>
          </a:p>
          <a:p>
            <a:r>
              <a:rPr lang="en-US" sz="2000" dirty="0"/>
              <a:t>•   Ensemble methods, combining multiple models, can further enhance predictive accuracy and robustness.</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Model Evaluation: Refinement</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Model deployment is the final stage, putting the trained model into production.</a:t>
            </a:r>
          </a:p>
          <a:p>
            <a:endParaRPr lang="en-US" sz="2000"/>
          </a:p>
          <a:p>
            <a:r>
              <a:rPr lang="en-US" sz="2000"/>
              <a:t>•   Scalability ensures the model can handle real-world workloads, scaling horizontally or vertically as needed.</a:t>
            </a:r>
          </a:p>
          <a:p>
            <a:endParaRPr lang="en-US" sz="2000"/>
          </a:p>
          <a:p>
            <a:r>
              <a:rPr lang="en-US" sz="2000"/>
              <a:t>•   Continuous monitoring is implemented to track model performance in a live environment.</a:t>
            </a:r>
          </a:p>
          <a:p>
            <a:endParaRPr lang="en-US" sz="2000"/>
          </a:p>
          <a:p>
            <a:r>
              <a:rPr lang="en-US" sz="2000"/>
              <a:t>•   Monitoring helps detect model drift and ensures the model remains accurate over time.</a:t>
            </a:r>
          </a:p>
          <a:p>
            <a:endParaRPr lang="en-US" sz="2000"/>
          </a:p>
          <a:p>
            <a:r>
              <a:rPr lang="en-US" sz="2000"/>
              <a:t>•   Addressing security concerns, such as protection against adversarial attacks or data breaches, is critical.</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Model Deployment: Readiness for Use</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a:p>
          <a:p>
            <a:r>
              <a:rPr lang="en-US" sz="2000"/>
              <a:t>•   API integration involves creating an API or integrating the model into existing systems.</a:t>
            </a:r>
          </a:p>
          <a:p>
            <a:endParaRPr lang="en-US" sz="2000"/>
          </a:p>
          <a:p>
            <a:r>
              <a:rPr lang="en-US" sz="2000"/>
              <a:t>•   This makes the model accessible for making predictions in real-time within applications.</a:t>
            </a:r>
          </a:p>
          <a:p>
            <a:endParaRPr lang="en-US" sz="2000"/>
          </a:p>
          <a:p>
            <a:r>
              <a:rPr lang="en-US" sz="2000"/>
              <a:t>•   Comprehensive documentation is essential for users and maintainers, detailing input/output specifications.</a:t>
            </a:r>
          </a:p>
          <a:p>
            <a:endParaRPr lang="en-US" sz="2000"/>
          </a:p>
          <a:p>
            <a:r>
              <a:rPr lang="en-US" sz="2000"/>
              <a:t>•   Troubleshooting guides are also part of thorough documentation.</a:t>
            </a:r>
          </a:p>
          <a:p>
            <a:endParaRPr lang="en-US" sz="2000"/>
          </a:p>
          <a:p>
            <a:r>
              <a:rPr lang="en-US" sz="2000"/>
              <a:t>•   Establishing procedures for model maintenance, updates, and retraining ensures the model remains relevant and accurate over its lifecycle.</a:t>
            </a:r>
            <a:endParaRPr lang="en-US" sz="2000" dirty="0"/>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Model Deployment: Sustainable Operations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07469" y="1388684"/>
            <a:ext cx="10427563" cy="4726096"/>
          </a:xfrm>
          <a:prstGeom prst="rect">
            <a:avLst/>
          </a:prstGeom>
          <a:noFill/>
          <a:ln>
            <a:noFill/>
          </a:ln>
        </p:spPr>
        <p:txBody>
          <a:bodyPr spcFirstLastPara="1" wrap="square" lIns="91425" tIns="45700" rIns="91425" bIns="45700" anchor="t" anchorCtr="0">
            <a:normAutofit/>
          </a:bodyPr>
          <a:lstStyle/>
          <a:p>
            <a:endParaRPr lang="en-US" sz="2000" dirty="0"/>
          </a:p>
          <a:p>
            <a:r>
              <a:rPr lang="en-US" dirty="0"/>
              <a:t>•   The machine learning process is a systematic approach to solving complex problems with data.</a:t>
            </a:r>
          </a:p>
          <a:p>
            <a:endParaRPr lang="en-US" sz="2000" dirty="0"/>
          </a:p>
          <a:p>
            <a:r>
              <a:rPr lang="en-US" sz="2000" dirty="0"/>
              <a:t>•   It starts with clear Problem Formulation, setting the project's direction and goals.</a:t>
            </a:r>
          </a:p>
          <a:p>
            <a:endParaRPr lang="en-US" sz="2000" dirty="0"/>
          </a:p>
          <a:p>
            <a:r>
              <a:rPr lang="en-US" sz="2000" dirty="0"/>
              <a:t>•   Data Collection and Exploration gather, clean, and prepare high-quality data.</a:t>
            </a:r>
          </a:p>
          <a:p>
            <a:endParaRPr lang="en-US" sz="2000" dirty="0"/>
          </a:p>
          <a:p>
            <a:r>
              <a:rPr lang="en-US" sz="2000" dirty="0"/>
              <a:t>•   Model Training and Evaluation build and refine models to ensure robust performance.</a:t>
            </a:r>
          </a:p>
          <a:p>
            <a:endParaRPr lang="en-US" sz="2000" dirty="0"/>
          </a:p>
          <a:p>
            <a:r>
              <a:rPr lang="en-US" sz="2000" dirty="0"/>
              <a:t>•   Model Deployment integrates and maintains the solution for real-world impact.</a:t>
            </a:r>
          </a:p>
        </p:txBody>
      </p:sp>
      <p:sp>
        <p:nvSpPr>
          <p:cNvPr id="5" name="Google Shape;110;p5"/>
          <p:cNvSpPr txBox="1">
            <a:spLocks/>
          </p:cNvSpPr>
          <p:nvPr/>
        </p:nvSpPr>
        <p:spPr>
          <a:xfrm>
            <a:off x="438705" y="952500"/>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a:solidFill>
                  <a:srgbClr val="D9212B"/>
                </a:solidFill>
                <a:latin typeface="Avenir"/>
                <a:sym typeface="Avenir"/>
              </a:rPr>
              <a:t>The Machine Learning Process: Key Takeaways</a:t>
            </a:r>
          </a:p>
          <a:p>
            <a:pPr lvl="0">
              <a:lnSpc>
                <a:spcPct val="90000"/>
              </a:lnSpc>
              <a:buClr>
                <a:srgbClr val="D9212B"/>
              </a:buClr>
              <a:buSzPts val="2800"/>
              <a:defRPr/>
            </a:pPr>
            <a:endParaRPr lang="en-US" sz="2800" b="1" dirty="0">
              <a:solidFill>
                <a:srgbClr val="D9212B"/>
              </a:solidFill>
            </a:endParaRPr>
          </a:p>
        </p:txBody>
      </p:sp>
    </p:spTree>
    <p:extLst>
      <p:ext uri="{BB962C8B-B14F-4D97-AF65-F5344CB8AC3E}">
        <p14:creationId xmlns:p14="http://schemas.microsoft.com/office/powerpoint/2010/main" val="16352026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1: In the Problem Formulation stage of a machine learning project, which of the following is the least likely primary consideration?</a:t>
            </a:r>
          </a:p>
          <a:p>
            <a:r>
              <a:rPr lang="en-US" sz="2000"/>
              <a:t>A) Defining success metrics like accuracy or ROI.</a:t>
            </a:r>
          </a:p>
          <a:p>
            <a:r>
              <a:rPr lang="en-US" sz="2000"/>
              <a:t>B) Assessing the availability and quality of required data.</a:t>
            </a:r>
          </a:p>
          <a:p>
            <a:r>
              <a:rPr lang="en-US" sz="2000"/>
              <a:t>C) Identifying specific algorithms for model training.</a:t>
            </a:r>
          </a:p>
          <a:p>
            <a:r>
              <a:rPr lang="en-US" sz="2000"/>
              <a:t>D) Establishing budget and time constraints for the project.</a:t>
            </a:r>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1: In the Problem Formulation stage of a machine learning project, which of the following is the least likely primary consideration?</a:t>
            </a:r>
          </a:p>
          <a:p>
            <a:r>
              <a:rPr lang="en-US" sz="2000"/>
              <a:t>A) Defining success metrics like accuracy or ROI.</a:t>
            </a:r>
          </a:p>
          <a:p>
            <a:r>
              <a:rPr lang="en-US" sz="2000"/>
              <a:t>B) Assessing the availability and quality of required data.</a:t>
            </a:r>
          </a:p>
          <a:p>
            <a:r>
              <a:rPr lang="en-US" sz="2000"/>
              <a:t>C) Identifying specific algorithms for model training.</a:t>
            </a:r>
          </a:p>
          <a:p>
            <a:r>
              <a:rPr lang="en-US" sz="2000"/>
              <a:t>D) Establishing budget and time constraints for the project.</a:t>
            </a:r>
          </a:p>
          <a:p>
            <a:endParaRPr lang="en-US" sz="2000"/>
          </a:p>
          <a:p>
            <a:endParaRPr lang="en-US" sz="2000"/>
          </a:p>
          <a:p>
            <a:r>
              <a:rPr lang="en-US" sz="2000" b="1"/>
              <a:t>Correct Answer: C) Identifying specific algorithms for model training.</a:t>
            </a:r>
          </a:p>
          <a:p>
            <a:r>
              <a:rPr lang="en-US" sz="2000" b="1"/>
              <a:t>Explanation: Model selection (identifying algorithms) typically occurs in the Model Training and Evaluation stage, not during the initial problem formulation. Problem formulation focuses on defining the business problem, data needs, scope, and success criteria.</a:t>
            </a:r>
          </a:p>
          <a:p>
            <a:endParaRPr lang="en-US" sz="2000" b="1"/>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2: Which of the following activities is primarily associated with the "Data Exploration" phase rather than "Data Collection" or "Feature Engineering"?</a:t>
            </a:r>
          </a:p>
          <a:p>
            <a:r>
              <a:rPr lang="en-US" sz="2000"/>
              <a:t>A) Replacing missing values using imputation techniques.</a:t>
            </a:r>
          </a:p>
          <a:p>
            <a:r>
              <a:rPr lang="en-US" sz="2000"/>
              <a:t>B) Developing new features by combining existing variables based on domain knowledge.</a:t>
            </a:r>
          </a:p>
          <a:p>
            <a:r>
              <a:rPr lang="en-US" sz="2000"/>
              <a:t>C) Visualizing data distributions and relationships to understand underlying patterns.</a:t>
            </a:r>
          </a:p>
          <a:p>
            <a:r>
              <a:rPr lang="en-US" sz="2000"/>
              <a:t>D) Splitting the dataset into training, validation, and test sets.</a:t>
            </a:r>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2: Which of the following activities is primarily associated with the "Data Exploration" phase rather than "Data Collection" or "Feature Engineering"?</a:t>
            </a:r>
          </a:p>
          <a:p>
            <a:r>
              <a:rPr lang="en-US" sz="2000"/>
              <a:t>A) Replacing missing values using imputation techniques.</a:t>
            </a:r>
          </a:p>
          <a:p>
            <a:r>
              <a:rPr lang="en-US" sz="2000"/>
              <a:t>B) Developing new features by combining existing variables based on domain knowledge.</a:t>
            </a:r>
          </a:p>
          <a:p>
            <a:r>
              <a:rPr lang="en-US" sz="2000"/>
              <a:t>C) Visualizing data distributions and relationships to understand underlying patterns.</a:t>
            </a:r>
          </a:p>
          <a:p>
            <a:r>
              <a:rPr lang="en-US" sz="2000"/>
              <a:t>D) Splitting the dataset into training, validation, and test sets.</a:t>
            </a:r>
          </a:p>
          <a:p>
            <a:endParaRPr lang="en-US" sz="2000"/>
          </a:p>
          <a:p>
            <a:endParaRPr lang="en-US" sz="2000"/>
          </a:p>
          <a:p>
            <a:r>
              <a:rPr lang="en-US" sz="2000" b="1"/>
              <a:t>Correct Answer: C) Visualizing data distributions and relationships to understand underlying patterns.</a:t>
            </a:r>
          </a:p>
          <a:p>
            <a:r>
              <a:rPr lang="en-US" sz="2000" b="1"/>
              <a:t>Explanation: Visualizing data distributions and relationships (Exploratory Data Analysis - EDA) is a core component of Data Exploration, aimed at understanding the data's characteristics. Handling missing values (A) is data cleaning (part of collection/exploration prep), feature engineering (B) is a distinct step, and data splitting (D) is preparation for training.</a:t>
            </a:r>
          </a:p>
          <a:p>
            <a:endParaRPr lang="en-US" sz="2000" b="1"/>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3: During the Model Training and Evaluation stage, why is "Hyperparameter Tuning" distinct from "Model Training"?</a:t>
            </a:r>
          </a:p>
          <a:p>
            <a:r>
              <a:rPr lang="en-US" sz="2000"/>
              <a:t>A) Model training optimizes internal model parameters, while hyperparameter tuning optimizes external algorithm settings.</a:t>
            </a:r>
          </a:p>
          <a:p>
            <a:r>
              <a:rPr lang="en-US" sz="2000"/>
              <a:t>B) Hyperparameter tuning involves training on the test set, while model training uses the validation set.</a:t>
            </a:r>
          </a:p>
          <a:p>
            <a:r>
              <a:rPr lang="en-US" sz="2000"/>
              <a:t>C) Model training focuses on reducing overfitting, while hyperparameter tuning focuses on improving interpretability.</a:t>
            </a:r>
          </a:p>
          <a:p>
            <a:r>
              <a:rPr lang="en-US" sz="2000"/>
              <a:t>D) Hyperparameter tuning is only relevant for ensemble methods, not single models.</a:t>
            </a:r>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fontScale="92500" lnSpcReduction="10000"/>
          </a:bodyPr>
          <a:lstStyle/>
          <a:p>
            <a:r>
              <a:rPr lang="en-US" sz="2000"/>
              <a:t>Question 3: During the Model Training and Evaluation stage, why is "Hyperparameter Tuning" distinct from "Model Training"?</a:t>
            </a:r>
          </a:p>
          <a:p>
            <a:r>
              <a:rPr lang="en-US" sz="2000"/>
              <a:t>A) Model training optimizes internal model parameters, while hyperparameter tuning optimizes external algorithm settings.</a:t>
            </a:r>
          </a:p>
          <a:p>
            <a:r>
              <a:rPr lang="en-US" sz="2000"/>
              <a:t>B) Hyperparameter tuning involves training on the test set, while model training uses the validation set.</a:t>
            </a:r>
          </a:p>
          <a:p>
            <a:r>
              <a:rPr lang="en-US" sz="2000"/>
              <a:t>C) Model training focuses on reducing overfitting, while hyperparameter tuning focuses on improving interpretability.</a:t>
            </a:r>
          </a:p>
          <a:p>
            <a:r>
              <a:rPr lang="en-US" sz="2000"/>
              <a:t>D) Hyperparameter tuning is only relevant for ensemble methods, not single models.</a:t>
            </a:r>
          </a:p>
          <a:p>
            <a:endParaRPr lang="en-US" sz="2000"/>
          </a:p>
          <a:p>
            <a:endParaRPr lang="en-US" sz="2000"/>
          </a:p>
          <a:p>
            <a:r>
              <a:rPr lang="en-US" sz="2000" b="1"/>
              <a:t>Correct Answer: A) Model training optimizes internal model parameters, while hyperparameter tuning optimizes external algorithm settings.</a:t>
            </a:r>
          </a:p>
          <a:p>
            <a:r>
              <a:rPr lang="en-US" sz="2000" b="1"/>
              <a:t>Explanation: Model training involves the algorithm learning weights/biases from data (internal parameters). Hyperparameter tuning involves adjusting settings of the algorithm (like learning rate, number of trees) that are set before training (external parameters) to find the best performing model configuration.</a:t>
            </a:r>
          </a:p>
          <a:p>
            <a:endParaRPr lang="en-US" sz="2000" b="1"/>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4: What is the primary purpose of implementing "continuous monitoring" after a machine learning model has been deployed?</a:t>
            </a:r>
          </a:p>
          <a:p>
            <a:r>
              <a:rPr lang="en-US" sz="2000"/>
              <a:t>A) To retrain the model with entirely new algorithms periodically.</a:t>
            </a:r>
          </a:p>
          <a:p>
            <a:r>
              <a:rPr lang="en-US" sz="2000"/>
              <a:t>B) To detect model drift and ensure the model remains accurate over time in a live environment.</a:t>
            </a:r>
          </a:p>
          <a:p>
            <a:r>
              <a:rPr lang="en-US" sz="2000"/>
              <a:t>C) To integrate the model with new, unrelated software systems.</a:t>
            </a:r>
          </a:p>
          <a:p>
            <a:r>
              <a:rPr lang="en-US" sz="2000"/>
              <a:t>D) To fine-tune the model's hyperparameters based on historical training data.</a:t>
            </a:r>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4: What is the primary purpose of implementing "continuous monitoring" after a machine learning model has been deployed?</a:t>
            </a:r>
          </a:p>
          <a:p>
            <a:r>
              <a:rPr lang="en-US" sz="2000"/>
              <a:t>A) To retrain the model with entirely new algorithms periodically.</a:t>
            </a:r>
          </a:p>
          <a:p>
            <a:r>
              <a:rPr lang="en-US" sz="2000"/>
              <a:t>B) To detect model drift and ensure the model remains accurate over time in a live environment.</a:t>
            </a:r>
          </a:p>
          <a:p>
            <a:r>
              <a:rPr lang="en-US" sz="2000"/>
              <a:t>C) To integrate the model with new, unrelated software systems.</a:t>
            </a:r>
          </a:p>
          <a:p>
            <a:r>
              <a:rPr lang="en-US" sz="2000"/>
              <a:t>D) To fine-tune the model's hyperparameters based on historical training data.</a:t>
            </a:r>
          </a:p>
          <a:p>
            <a:endParaRPr lang="en-US" sz="2000"/>
          </a:p>
          <a:p>
            <a:endParaRPr lang="en-US" sz="2000"/>
          </a:p>
          <a:p>
            <a:r>
              <a:rPr lang="en-US" sz="2000" b="1"/>
              <a:t>Correct Answer: B) To detect model drift and ensure the model remains accurate over time in a live environment.</a:t>
            </a:r>
          </a:p>
          <a:p>
            <a:r>
              <a:rPr lang="en-US" sz="2000" b="1"/>
              <a:t>Explanation: Continuous monitoring is essential post-deployment to observe the model's performance in real-world scenarios, identify if its predictive power degrades (model drift), and signal when retraining or recalibration is needed to maintain accuracy.</a:t>
            </a:r>
          </a:p>
          <a:p>
            <a:endParaRPr lang="en-US" sz="2000" b="1"/>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5: In which stage of the machine learning process would "assembling a multidisciplinary team" be most critical for establishing a solid foundation?</a:t>
            </a:r>
          </a:p>
          <a:p>
            <a:r>
              <a:rPr lang="en-US" sz="2000"/>
              <a:t>A) Data Collection and Exploration</a:t>
            </a:r>
          </a:p>
          <a:p>
            <a:r>
              <a:rPr lang="en-US" sz="2000"/>
              <a:t>B) Problem Formulation</a:t>
            </a:r>
          </a:p>
          <a:p>
            <a:r>
              <a:rPr lang="en-US" sz="2000"/>
              <a:t>C) Model Training and Evaluation</a:t>
            </a:r>
          </a:p>
          <a:p>
            <a:r>
              <a:rPr lang="en-US" sz="2000"/>
              <a:t>D) Model Deployment</a:t>
            </a:r>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5: In which stage of the machine learning process would "assembling a multidisciplinary team" be most critical for establishing a solid foundation?</a:t>
            </a:r>
          </a:p>
          <a:p>
            <a:r>
              <a:rPr lang="en-US" sz="2000"/>
              <a:t>A) Data Collection and Exploration</a:t>
            </a:r>
          </a:p>
          <a:p>
            <a:r>
              <a:rPr lang="en-US" sz="2000"/>
              <a:t>B) Problem Formulation</a:t>
            </a:r>
          </a:p>
          <a:p>
            <a:r>
              <a:rPr lang="en-US" sz="2000"/>
              <a:t>C) Model Training and Evaluation</a:t>
            </a:r>
          </a:p>
          <a:p>
            <a:r>
              <a:rPr lang="en-US" sz="2000"/>
              <a:t>D) Model Deployment</a:t>
            </a:r>
          </a:p>
          <a:p>
            <a:endParaRPr lang="en-US" sz="2000"/>
          </a:p>
          <a:p>
            <a:endParaRPr lang="en-US" sz="2000"/>
          </a:p>
          <a:p>
            <a:r>
              <a:rPr lang="en-US" sz="2000" b="1"/>
              <a:t>Correct Answer: B) Problem Formulation</a:t>
            </a:r>
          </a:p>
          <a:p>
            <a:r>
              <a:rPr lang="en-US" sz="2000" b="1"/>
              <a:t>Explanation: Assembling a multidisciplinary team (with domain experts, data scientists, engineers) is mentioned as a key activity during Problem Formulation. This ensures diverse perspectives are considered from the outset, leading to a well-defined problem and project scope.</a:t>
            </a:r>
          </a:p>
          <a:p>
            <a:endParaRPr lang="en-US" sz="2000" b="1"/>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6: A data scientist notices that their trained model performs exceptionally well on the training data but poorly on the validation data. Which action, commonly part of the Model Training and Evaluation stage, is most appropriate to address this issue?</a:t>
            </a:r>
          </a:p>
          <a:p>
            <a:r>
              <a:rPr lang="en-US" sz="2000"/>
              <a:t>A) Immediately deploying the model to production and monitoring its real-world performance.</a:t>
            </a:r>
          </a:p>
          <a:p>
            <a:r>
              <a:rPr lang="en-US" sz="2000"/>
              <a:t>B) Focusing on more extensive data gathering from entirely new sources.</a:t>
            </a:r>
          </a:p>
          <a:p>
            <a:r>
              <a:rPr lang="en-US" sz="2000"/>
              <a:t>C) Conducting hyperparameter tuning or exploring ensemble methods to reduce overfitting.</a:t>
            </a:r>
          </a:p>
          <a:p>
            <a:r>
              <a:rPr lang="en-US" sz="2000"/>
              <a:t>D) Redefining the business problem from scratch in the Problem Formulation stage.</a:t>
            </a:r>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lnSpcReduction="10000"/>
          </a:bodyPr>
          <a:lstStyle/>
          <a:p>
            <a:r>
              <a:rPr lang="en-US" sz="2000"/>
              <a:t>Question 6: A data scientist notices that their trained model performs exceptionally well on the training data but poorly on the validation data. Which action, commonly part of the Model Training and Evaluation stage, is most appropriate to address this issue?</a:t>
            </a:r>
          </a:p>
          <a:p>
            <a:r>
              <a:rPr lang="en-US" sz="2000"/>
              <a:t>A) Immediately deploying the model to production and monitoring its real-world performance.</a:t>
            </a:r>
          </a:p>
          <a:p>
            <a:r>
              <a:rPr lang="en-US" sz="2000"/>
              <a:t>B) Focusing on more extensive data gathering from entirely new sources.</a:t>
            </a:r>
          </a:p>
          <a:p>
            <a:r>
              <a:rPr lang="en-US" sz="2000"/>
              <a:t>C) Conducting hyperparameter tuning or exploring ensemble methods to reduce overfitting.</a:t>
            </a:r>
          </a:p>
          <a:p>
            <a:r>
              <a:rPr lang="en-US" sz="2000"/>
              <a:t>D) Redefining the business problem from scratch in the Problem Formulation stage.</a:t>
            </a:r>
          </a:p>
          <a:p>
            <a:endParaRPr lang="en-US" sz="2000"/>
          </a:p>
          <a:p>
            <a:endParaRPr lang="en-US" sz="2000"/>
          </a:p>
          <a:p>
            <a:r>
              <a:rPr lang="en-US" sz="2000" b="1"/>
              <a:t>Correct Answer: C) Conducting hyperparameter tuning or exploring ensemble methods to reduce overfitting.</a:t>
            </a:r>
          </a:p>
          <a:p>
            <a:r>
              <a:rPr lang="en-US" sz="2000" b="1"/>
              <a:t>Explanation: This scenario indicates overfitting, where the model has learned the training data too well and fails to generalize. Hyperparameter tuning and ensemble methods are techniques used in the Model Training and Evaluation stage to improve model generalization and combat overfitting.</a:t>
            </a:r>
          </a:p>
          <a:p>
            <a:endParaRPr lang="en-US" sz="2000" b="1"/>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7: Which of the following is a key consideration during the Model Deployment stage to ensure the solution can handle real-world demands?</a:t>
            </a:r>
          </a:p>
          <a:p>
            <a:r>
              <a:rPr lang="en-US" sz="2000"/>
              <a:t>A) Conducting Exploratory Data Analysis (EDA) on the production data.</a:t>
            </a:r>
          </a:p>
          <a:p>
            <a:r>
              <a:rPr lang="en-US" sz="2000"/>
              <a:t>B) Optimizing internal model parameters on the full dataset.</a:t>
            </a:r>
          </a:p>
          <a:p>
            <a:r>
              <a:rPr lang="en-US" sz="2000"/>
              <a:t>C) Ensuring scalability to handle varying workloads.</a:t>
            </a:r>
          </a:p>
          <a:p>
            <a:r>
              <a:rPr lang="en-US" sz="2000"/>
              <a:t>D) Defining the initial performance metrics for the project.</a:t>
            </a:r>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5"/>
          <p:cNvSpPr txBox="1">
            <a:spLocks/>
          </p:cNvSpPr>
          <p:nvPr/>
        </p:nvSpPr>
        <p:spPr>
          <a:xfrm>
            <a:off x="438705" y="72529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Academic Poll</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
        <p:nvSpPr>
          <p:cNvPr id="3" name="Google Shape;111;p5"/>
          <p:cNvSpPr txBox="1"/>
          <p:nvPr/>
        </p:nvSpPr>
        <p:spPr>
          <a:xfrm>
            <a:off x="607469" y="1534988"/>
            <a:ext cx="10427563" cy="4726096"/>
          </a:xfrm>
          <a:prstGeom prst="rect">
            <a:avLst/>
          </a:prstGeom>
          <a:noFill/>
          <a:ln>
            <a:noFill/>
          </a:ln>
        </p:spPr>
        <p:txBody>
          <a:bodyPr spcFirstLastPara="1" wrap="square" lIns="91425" tIns="45700" rIns="91425" bIns="45700" anchor="t" anchorCtr="0">
            <a:normAutofit/>
          </a:bodyPr>
          <a:lstStyle/>
          <a:p>
            <a:r>
              <a:rPr lang="en-US" sz="2000"/>
              <a:t>Question 7: Which of the following is a key consideration during the Model Deployment stage to ensure the solution can handle real-world demands?</a:t>
            </a:r>
          </a:p>
          <a:p>
            <a:r>
              <a:rPr lang="en-US" sz="2000"/>
              <a:t>A) Conducting Exploratory Data Analysis (EDA) on the production data.</a:t>
            </a:r>
          </a:p>
          <a:p>
            <a:r>
              <a:rPr lang="en-US" sz="2000"/>
              <a:t>B) Optimizing internal model parameters on the full dataset.</a:t>
            </a:r>
          </a:p>
          <a:p>
            <a:r>
              <a:rPr lang="en-US" sz="2000"/>
              <a:t>C) Ensuring scalability to handle varying workloads.</a:t>
            </a:r>
          </a:p>
          <a:p>
            <a:r>
              <a:rPr lang="en-US" sz="2000"/>
              <a:t>D) Defining the initial performance metrics for the project.</a:t>
            </a:r>
          </a:p>
          <a:p>
            <a:endParaRPr lang="en-US" sz="2000"/>
          </a:p>
          <a:p>
            <a:endParaRPr lang="en-US" sz="2000"/>
          </a:p>
          <a:p>
            <a:r>
              <a:rPr lang="en-US" sz="2000" b="1"/>
              <a:t>Correct Answer: C) Ensuring scalability to handle varying workloads.</a:t>
            </a:r>
          </a:p>
          <a:p>
            <a:r>
              <a:rPr lang="en-US" sz="2000" b="1"/>
              <a:t>Explanation: Scalability is a crucial aspect of Model Deployment, ensuring that the model can handle fluctuating numbers of requests and large datasets in a production environment without performance degradation. EDA (A) and defining metrics (D) are earlier stages, and optimizing parameters (B) is part of training.</a:t>
            </a:r>
          </a:p>
          <a:p>
            <a:endParaRPr lang="en-US" sz="2000" b="1"/>
          </a:p>
          <a:p>
            <a:endParaRPr lang="en-US" sz="2000" dirty="0"/>
          </a:p>
        </p:txBody>
      </p:sp>
    </p:spTree>
    <p:extLst>
      <p:ext uri="{BB962C8B-B14F-4D97-AF65-F5344CB8AC3E}">
        <p14:creationId xmlns:p14="http://schemas.microsoft.com/office/powerpoint/2010/main" val="16352026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a:bodyPr>
          <a:lstStyle/>
          <a:p>
            <a:endParaRPr lang="en-US" sz="2000" dirty="0"/>
          </a:p>
          <a:p>
            <a:endParaRPr lang="en-US" sz="2000" dirty="0"/>
          </a:p>
          <a:p>
            <a:r>
              <a:rPr lang="en-US" sz="2000" dirty="0"/>
              <a:t>A retail company, "</a:t>
            </a:r>
            <a:r>
              <a:rPr lang="en-US" sz="2000" dirty="0" err="1"/>
              <a:t>TrendFinders</a:t>
            </a:r>
            <a:r>
              <a:rPr lang="en-US" sz="2000" dirty="0"/>
              <a:t>," wants to develop a machine learning system to predict which customers are most likely to churn (stop buying their products) in the next three months. They have access to historical customer transaction data, demographics, and website activity logs. The company aims to proactively offer incentives to high-risk customers to retain them.</a:t>
            </a:r>
          </a:p>
          <a:p>
            <a:endParaRPr lang="en-US" sz="2000" dirty="0"/>
          </a:p>
          <a:p>
            <a:r>
              <a:rPr lang="en-US" sz="2000" dirty="0"/>
              <a:t>Based on your understanding of the machine learning process, outline the key steps </a:t>
            </a:r>
            <a:r>
              <a:rPr lang="en-US" sz="2000" dirty="0" err="1"/>
              <a:t>TrendFinders</a:t>
            </a:r>
            <a:r>
              <a:rPr lang="en-US" sz="2000" dirty="0"/>
              <a:t> should take from the Problem Formulation to Model Deployment stages to successfully implement this customer churn prediction system. Focus on the core activities within each major stage.</a:t>
            </a:r>
          </a:p>
          <a:p>
            <a:endParaRPr lang="en-US" sz="2000" dirty="0"/>
          </a:p>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Tree>
    <p:extLst>
      <p:ext uri="{BB962C8B-B14F-4D97-AF65-F5344CB8AC3E}">
        <p14:creationId xmlns:p14="http://schemas.microsoft.com/office/powerpoint/2010/main" val="16352026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fontScale="47500" lnSpcReduction="20000"/>
          </a:bodyPr>
          <a:lstStyle/>
          <a:p>
            <a:r>
              <a:rPr lang="en-US" sz="2000"/>
              <a:t>Solution:</a:t>
            </a:r>
          </a:p>
          <a:p>
            <a:endParaRPr lang="en-US" sz="2000"/>
          </a:p>
          <a:p>
            <a:endParaRPr lang="en-US" sz="2000"/>
          </a:p>
          <a:p>
            <a:r>
              <a:rPr lang="en-US" sz="2000"/>
              <a:t>Problem Formulation:</a:t>
            </a:r>
          </a:p>
          <a:p>
            <a:r>
              <a:rPr lang="en-US" sz="2000"/>
              <a:t>Define Problem &amp; Objectives: Clearly define "churn" (e.g., no purchases for 3 months) and the objective to predict high-risk customers. Set a target accuracy or reduction in churn rate.</a:t>
            </a:r>
          </a:p>
          <a:p>
            <a:r>
              <a:rPr lang="en-US" sz="2000"/>
              <a:t>Data Assessment: Evaluate existing data sources (transaction history, demographics, website logs) for relevance, completeness, and quality. Identify potential data gaps.</a:t>
            </a:r>
          </a:p>
          <a:p>
            <a:r>
              <a:rPr lang="en-US" sz="2000"/>
              <a:t>Scope &amp; Constraints: Determine the scope (e.g., focus on online customers first) and consider constraints like budget, timeline, and ethical implications of using customer data.</a:t>
            </a:r>
          </a:p>
          <a:p>
            <a:r>
              <a:rPr lang="en-US" sz="2000"/>
              <a:t>Performance Metrics: Establish metrics for success, such as precision and recall for identifying churners, or a specific uplift in retention rates due to interventions.</a:t>
            </a:r>
          </a:p>
          <a:p>
            <a:r>
              <a:rPr lang="en-US" sz="2000"/>
              <a:t>Team &amp; Baseline: Assemble a team including data scientists, marketing specialists, and IT. Identify any current, non-ML methods for churn prediction as a baseline.</a:t>
            </a:r>
          </a:p>
          <a:p>
            <a:endParaRPr lang="en-US" sz="2000"/>
          </a:p>
          <a:p>
            <a:r>
              <a:rPr lang="en-US" sz="2000"/>
              <a:t>Data Collection and Exploration:</a:t>
            </a:r>
          </a:p>
          <a:p>
            <a:r>
              <a:rPr lang="en-US" sz="2000"/>
              <a:t>Data Gathering: Collect all relevant data from databases, CRM systems, and web analytics platforms.</a:t>
            </a:r>
          </a:p>
          <a:p>
            <a:r>
              <a:rPr lang="en-US" sz="2000"/>
              <a:t>Data Cleaning: Preprocess the raw data to handle missing values (e.g., impute or remove), identify and treat outliers in transaction amounts, and ensure data consistency.</a:t>
            </a:r>
          </a:p>
          <a:p>
            <a:r>
              <a:rPr lang="en-US" sz="2000"/>
              <a:t>Exploratory Data Analysis (EDA): Analyze customer segments, purchasing patterns, website engagement, and demographic distributions. Visualize relationships between these factors and historical churn.</a:t>
            </a:r>
          </a:p>
          <a:p>
            <a:r>
              <a:rPr lang="en-US" sz="2000"/>
              <a:t>Feature Engineering: Create new features like "days since last purchase," "average order value," "number of product categories bought," or "website visit frequency."</a:t>
            </a:r>
          </a:p>
          <a:p>
            <a:r>
              <a:rPr lang="en-US" sz="2000"/>
              <a:t>Data Splitting: Divide the processed data into training, validation, and test sets to facilitate robust model development and evaluation.</a:t>
            </a:r>
          </a:p>
          <a:p>
            <a:endParaRPr lang="en-US" sz="2000"/>
          </a:p>
          <a:p>
            <a:r>
              <a:rPr lang="en-US" sz="2000"/>
              <a:t>Model Training and Evaluation:</a:t>
            </a:r>
          </a:p>
          <a:p>
            <a:r>
              <a:rPr lang="en-US" sz="2000"/>
              <a:t>Model Selection: Choose appropriate classification algorithms (e.g., Logistic Regression, Random Forest, Gradient Boosting) suitable for predicting a binary outcome (churn/no churn).</a:t>
            </a:r>
          </a:p>
          <a:p>
            <a:r>
              <a:rPr lang="en-US" sz="2000"/>
              <a:t>Model Training: Train the selected model(s) using the prepared training data, optimizing parameters to minimize prediction errors on churn prediction.</a:t>
            </a:r>
          </a:p>
          <a:p>
            <a:r>
              <a:rPr lang="en-US" sz="2000"/>
              <a:t>Model Validation: Evaluate the trained model(s) performance on the validation set using metrics like F1-score, AUC-ROC, precision, and recall, as churn prediction often deals with imbalanced classes.</a:t>
            </a:r>
          </a:p>
          <a:p>
            <a:r>
              <a:rPr lang="en-US" sz="2000"/>
              <a:t>Hyperparameter Tuning: Fine-tune model hyperparameters to achieve optimal performance and prevent overfitting.</a:t>
            </a:r>
          </a:p>
          <a:p>
            <a:r>
              <a:rPr lang="en-US" sz="2000"/>
              <a:t>Model Interpretability &amp; Ensemble: Ensure the model's predictions are interpretable (e.g., which factors contribute most to churn risk) and consider combining multiple models for better accuracy.</a:t>
            </a:r>
          </a:p>
          <a:p>
            <a:endParaRPr lang="en-US" sz="2000"/>
          </a:p>
          <a:p>
            <a:r>
              <a:rPr lang="en-US" sz="2000"/>
              <a:t>Model Deployment:</a:t>
            </a:r>
          </a:p>
          <a:p>
            <a:r>
              <a:rPr lang="en-US" sz="2000"/>
              <a:t>Scalability &amp; Security: Ensure the deployed model can handle real-time scoring of new customer data efficiently and securely, protecting sensitive customer information.</a:t>
            </a:r>
          </a:p>
          <a:p>
            <a:r>
              <a:rPr lang="en-US" sz="2000"/>
              <a:t>Monitoring: Implement continuous monitoring to track the model's predictive accuracy over time, identify data or concept drift, and alert when retraining is necessary.</a:t>
            </a:r>
          </a:p>
          <a:p>
            <a:r>
              <a:rPr lang="en-US" sz="2000"/>
              <a:t>API Integration: Integrate the churn prediction model into TrendFinders' CRM system or marketing automation platform via an API, allowing for automated identification of at-risk customers.</a:t>
            </a:r>
          </a:p>
          <a:p>
            <a:r>
              <a:rPr lang="en-US" sz="2000"/>
              <a:t>Documentation &amp; Maintenance: Provide comprehensive documentation for the model's input/output, performance characteristics, and set up a plan for regular maintenance, updates, and periodic retraining with fresh data.</a:t>
            </a:r>
          </a:p>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marL="0" marR="0" lvl="0" indent="0" algn="l" defTabSz="914400" rtl="0" eaLnBrk="1" fontAlgn="auto" latinLnBrk="0" hangingPunct="1">
              <a:lnSpc>
                <a:spcPct val="90000"/>
              </a:lnSpc>
              <a:spcBef>
                <a:spcPts val="0"/>
              </a:spcBef>
              <a:spcAft>
                <a:spcPts val="0"/>
              </a:spcAft>
              <a:buClr>
                <a:srgbClr val="D9212B"/>
              </a:buClr>
              <a:buSzPts val="2800"/>
              <a:buFont typeface="Avenir"/>
              <a:buNone/>
              <a:tabLst/>
              <a:defRPr/>
            </a:pPr>
            <a:r>
              <a:rPr kumimoji="0" lang="en-US" sz="2800" b="1" i="0" u="none" strike="noStrike" kern="1200" cap="none" spc="0" normalizeH="0" baseline="0" noProof="0" dirty="0">
                <a:ln>
                  <a:noFill/>
                </a:ln>
                <a:solidFill>
                  <a:srgbClr val="D9212B"/>
                </a:solidFill>
                <a:effectLst/>
                <a:uLnTx/>
                <a:uFillTx/>
                <a:latin typeface="Avenir"/>
                <a:ea typeface="Avenir"/>
                <a:cs typeface="Avenir"/>
                <a:sym typeface="Avenir"/>
              </a:rPr>
              <a:t>Case Study / Business Application</a:t>
            </a:r>
            <a:endParaRPr kumimoji="0" lang="en-US" sz="2800" b="1" i="0" u="none" strike="noStrike" kern="1200" cap="none" spc="0" normalizeH="0" baseline="0" noProof="0" dirty="0">
              <a:ln>
                <a:noFill/>
              </a:ln>
              <a:solidFill>
                <a:srgbClr val="D9212B"/>
              </a:solidFill>
              <a:effectLst/>
              <a:uLnTx/>
              <a:uFillTx/>
              <a:latin typeface="+mj-lt"/>
              <a:ea typeface="+mj-ea"/>
              <a:cs typeface="+mj-cs"/>
            </a:endParaRPr>
          </a:p>
        </p:txBody>
      </p:sp>
    </p:spTree>
    <p:extLst>
      <p:ext uri="{BB962C8B-B14F-4D97-AF65-F5344CB8AC3E}">
        <p14:creationId xmlns:p14="http://schemas.microsoft.com/office/powerpoint/2010/main" val="16352026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11;p5"/>
          <p:cNvSpPr txBox="1"/>
          <p:nvPr/>
        </p:nvSpPr>
        <p:spPr>
          <a:xfrm>
            <a:off x="634901" y="1452692"/>
            <a:ext cx="10427563" cy="4726096"/>
          </a:xfrm>
          <a:prstGeom prst="rect">
            <a:avLst/>
          </a:prstGeom>
          <a:noFill/>
          <a:ln>
            <a:noFill/>
          </a:ln>
        </p:spPr>
        <p:txBody>
          <a:bodyPr spcFirstLastPara="1" wrap="square" lIns="91425" tIns="45700" rIns="91425" bIns="45700" anchor="t" anchorCtr="0">
            <a:normAutofit/>
          </a:bodyPr>
          <a:lstStyle/>
          <a:p>
            <a:endParaRPr lang="en-US" sz="2000" dirty="0"/>
          </a:p>
        </p:txBody>
      </p:sp>
      <p:sp>
        <p:nvSpPr>
          <p:cNvPr id="4" name="Google Shape;128;p8"/>
          <p:cNvSpPr txBox="1">
            <a:spLocks/>
          </p:cNvSpPr>
          <p:nvPr/>
        </p:nvSpPr>
        <p:spPr>
          <a:xfrm>
            <a:off x="591105" y="694817"/>
            <a:ext cx="10515600" cy="688698"/>
          </a:xfrm>
          <a:prstGeom prst="rect">
            <a:avLst/>
          </a:prstGeom>
          <a:noFill/>
          <a:ln>
            <a:noFill/>
          </a:ln>
        </p:spPr>
        <p:txBody>
          <a:bodyPr spcFirstLastPara="1" wrap="square" lIns="91425" tIns="45700" rIns="91425" bIns="45700" anchor="ctr" anchorCtr="0">
            <a:normAutofit/>
          </a:bodyPr>
          <a:lstStyle/>
          <a:p>
            <a:pPr lvl="0">
              <a:lnSpc>
                <a:spcPct val="90000"/>
              </a:lnSpc>
              <a:buClr>
                <a:srgbClr val="D9212B"/>
              </a:buClr>
              <a:buSzPts val="2800"/>
              <a:defRPr/>
            </a:pPr>
            <a:r>
              <a:rPr lang="en-US" sz="2800" b="1" dirty="0">
                <a:solidFill>
                  <a:srgbClr val="D9212B"/>
                </a:solidFill>
                <a:latin typeface="Avenir"/>
                <a:ea typeface="Avenir"/>
                <a:cs typeface="Avenir"/>
                <a:sym typeface="Avenir"/>
              </a:rPr>
              <a:t>Session Summary</a:t>
            </a:r>
            <a:endParaRPr lang="en-US" sz="2800" b="1" dirty="0">
              <a:solidFill>
                <a:srgbClr val="D9212B"/>
              </a:solidFill>
            </a:endParaRPr>
          </a:p>
        </p:txBody>
      </p:sp>
      <p:sp>
        <p:nvSpPr>
          <p:cNvPr id="5" name="Google Shape;135;p9"/>
          <p:cNvSpPr txBox="1"/>
          <p:nvPr/>
        </p:nvSpPr>
        <p:spPr>
          <a:xfrm>
            <a:off x="715540" y="1569935"/>
            <a:ext cx="10714460" cy="3219815"/>
          </a:xfrm>
          <a:prstGeom prst="rect">
            <a:avLst/>
          </a:prstGeom>
          <a:noFill/>
          <a:ln>
            <a:noFill/>
          </a:ln>
        </p:spPr>
        <p:txBody>
          <a:bodyPr spcFirstLastPara="1" wrap="square" lIns="91425" tIns="45700" rIns="91425" bIns="45700" anchor="t" anchorCtr="0">
            <a:spAutoFit/>
          </a:bodyPr>
          <a:lstStyle/>
          <a:p>
            <a:pPr>
              <a:lnSpc>
                <a:spcPct val="115000"/>
              </a:lnSpc>
              <a:spcAft>
                <a:spcPts val="1000"/>
              </a:spcAft>
            </a:pPr>
            <a:endParaRPr lang="en-US" dirty="0">
              <a:latin typeface=""/>
              <a:ea typeface="Times New Roman"/>
              <a:cs typeface="Times New Roman"/>
            </a:endParaRPr>
          </a:p>
          <a:p>
            <a:pPr>
              <a:lnSpc>
                <a:spcPct val="115000"/>
              </a:lnSpc>
              <a:spcAft>
                <a:spcPts val="1000"/>
              </a:spcAft>
            </a:pPr>
            <a:r>
              <a:rPr lang="en-US" dirty="0">
                <a:latin typeface=""/>
                <a:ea typeface="Times New Roman"/>
                <a:cs typeface="Times New Roman"/>
              </a:rPr>
              <a:t>•   Describe the foundational stages of the machine learning process.</a:t>
            </a:r>
          </a:p>
          <a:p>
            <a:pPr>
              <a:lnSpc>
                <a:spcPct val="115000"/>
              </a:lnSpc>
              <a:spcAft>
                <a:spcPts val="1000"/>
              </a:spcAft>
            </a:pPr>
            <a:r>
              <a:rPr lang="en-US" dirty="0">
                <a:latin typeface=""/>
                <a:ea typeface="Times New Roman"/>
                <a:cs typeface="Times New Roman"/>
              </a:rPr>
              <a:t>•   Outline the critical steps involved in formulating a machine learning problem effectively.</a:t>
            </a:r>
          </a:p>
          <a:p>
            <a:pPr>
              <a:lnSpc>
                <a:spcPct val="115000"/>
              </a:lnSpc>
              <a:spcAft>
                <a:spcPts val="1000"/>
              </a:spcAft>
            </a:pPr>
            <a:r>
              <a:rPr lang="en-US" dirty="0">
                <a:latin typeface=""/>
                <a:ea typeface="Times New Roman"/>
                <a:cs typeface="Times New Roman"/>
              </a:rPr>
              <a:t>•   Explain the importance of data collection, cleaning, and feature engineering for model development.</a:t>
            </a:r>
          </a:p>
          <a:p>
            <a:pPr>
              <a:lnSpc>
                <a:spcPct val="115000"/>
              </a:lnSpc>
              <a:spcAft>
                <a:spcPts val="1000"/>
              </a:spcAft>
            </a:pPr>
            <a:r>
              <a:rPr lang="en-US" dirty="0">
                <a:latin typeface=""/>
                <a:ea typeface="Times New Roman"/>
                <a:cs typeface="Times New Roman"/>
              </a:rPr>
              <a:t>•   Understand the procedures for training, validating, and evaluating machine learning models.</a:t>
            </a:r>
          </a:p>
          <a:p>
            <a:pPr>
              <a:lnSpc>
                <a:spcPct val="115000"/>
              </a:lnSpc>
              <a:spcAft>
                <a:spcPts val="1000"/>
              </a:spcAft>
            </a:pPr>
            <a:r>
              <a:rPr lang="en-US" dirty="0">
                <a:latin typeface=""/>
                <a:ea typeface="Times New Roman"/>
                <a:cs typeface="Times New Roman"/>
              </a:rPr>
              <a:t>•   Identify key considerations for successfully deploying and maintaining ML models in production.</a:t>
            </a:r>
          </a:p>
          <a:p>
            <a:pPr>
              <a:lnSpc>
                <a:spcPct val="115000"/>
              </a:lnSpc>
              <a:spcAft>
                <a:spcPts val="1000"/>
              </a:spcAft>
            </a:pPr>
            <a:r>
              <a:rPr lang="en-US" dirty="0">
                <a:latin typeface=""/>
                <a:ea typeface="Times New Roman"/>
                <a:cs typeface="Times New Roman"/>
              </a:rPr>
              <a:t> </a:t>
            </a:r>
          </a:p>
        </p:txBody>
      </p:sp>
    </p:spTree>
    <p:extLst>
      <p:ext uri="{BB962C8B-B14F-4D97-AF65-F5344CB8AC3E}">
        <p14:creationId xmlns:p14="http://schemas.microsoft.com/office/powerpoint/2010/main" val="16352026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122</TotalTime>
  <Words>3373</Words>
  <Application>Microsoft Office PowerPoint</Application>
  <PresentationFormat>Widescreen</PresentationFormat>
  <Paragraphs>298</Paragraphs>
  <Slides>31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Aptos</vt:lpstr>
      <vt:lpstr>Aptos Display</vt:lpstr>
      <vt:lpstr>Arial</vt:lpstr>
      <vt:lpstr>Avenir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idol</dc:creator>
  <cp:lastModifiedBy>Mohamed Ali</cp:lastModifiedBy>
  <cp:revision>45</cp:revision>
  <dcterms:created xsi:type="dcterms:W3CDTF">2025-07-09T10:39:06Z</dcterms:created>
  <dcterms:modified xsi:type="dcterms:W3CDTF">2026-10-28T05:40:33Z</dcterms:modified>
</cp:coreProperties>
</file>