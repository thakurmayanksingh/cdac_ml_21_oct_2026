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87" r:id="rId2"/>
    <p:sldId id="259" r:id="rId3"/>
    <p:sldId id="263" r:id="rId4"/>
    <p:sldId id="278" r:id="rId5"/>
    <p:sldId id="279" r:id="rId6"/>
    <p:sldId id="280" r:id="rId7"/>
    <p:sldId id="281" r:id="rId8"/>
    <p:sldId id="282" r:id="rId9"/>
    <p:sldId id="283" r:id="rId10"/>
    <p:sldId id="284" r:id="rId11"/>
    <p:sldId id="289" r:id="rId12"/>
    <p:sldId id="290" r:id="rId13"/>
    <p:sldId id="288" r:id="rId14"/>
    <p:sldId id="285" r:id="rId15"/>
    <p:sldId id="286" r:id="rId16"/>
    <p:sldId id="260" r:id="rId17"/>
    <p:sldId id="277" r:id="rId18"/>
    <p:sldId id="276" r:id="rId19"/>
    <p:sldId id="275" r:id="rId20"/>
    <p:sldId id="274" r:id="rId21"/>
    <p:sldId id="273" r:id="rId22"/>
    <p:sldId id="272" r:id="rId23"/>
    <p:sldId id="271" r:id="rId24"/>
    <p:sldId id="270" r:id="rId25"/>
    <p:sldId id="269" r:id="rId26"/>
    <p:sldId id="268" r:id="rId27"/>
    <p:sldId id="267" r:id="rId28"/>
    <p:sldId id="266" r:id="rId29"/>
    <p:sldId id="265" r:id="rId30"/>
    <p:sldId id="261" r:id="rId31"/>
    <p:sldId id="264" r:id="rId32"/>
    <p:sldId id="26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6" userDrawn="1">
          <p15:clr>
            <a:srgbClr val="A4A3A4"/>
          </p15:clr>
        </p15:guide>
        <p15:guide id="4" pos="75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94660"/>
  </p:normalViewPr>
  <p:slideViewPr>
    <p:cSldViewPr snapToGrid="0" showGuides="1">
      <p:cViewPr varScale="1">
        <p:scale>
          <a:sx n="92" d="100"/>
          <a:sy n="92" d="100"/>
        </p:scale>
        <p:origin x="420" y="36"/>
      </p:cViewPr>
      <p:guideLst>
        <p:guide orient="horz" pos="2160"/>
        <p:guide pos="3840"/>
        <p:guide pos="166"/>
        <p:guide pos="75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0A1F4F-DF8B-4928-BFD3-0AFC4EBC022A}" type="datetimeFigureOut">
              <a:rPr lang="en-US" smtClean="0"/>
              <a:t>10/28/2026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EAC068-4C70-4F60-BC1F-61A7E7A329F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5EAC068-4C70-4F60-BC1F-61A7E7A329F2}" type="slidenum">
              <a:rPr lang="en-US" smtClean="0"/>
              <a:t>32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8CAB6-0A18-B12A-06A5-CFD0B0666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51E932-87D4-E4A3-5EC5-FD37D2ADB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361194-F8BE-C949-EFCA-00EE7F867912}"/>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FF334BE2-760E-FA63-F53E-6EC6D65C14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019652-B072-95C3-666A-824B223F073C}"/>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20810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6250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55807-6537-7A6D-A641-B2A17376E9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5B0403-42FF-1C59-1D5B-32C3D76224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186C83-3353-0411-EE9B-3502DB3E4588}"/>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470F388B-76FB-C020-4F27-4E8F47369B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013B55-0C9D-95FE-DE57-76D9CAC53846}"/>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0718621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0200A-4353-C353-E184-88D52DADCD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E2DB6-9BB8-38D4-16CA-0544ED95B0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E55387-24D0-58FA-83A3-7DE9457A88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6792733-6AE7-EB0F-FA3B-AF5CDFCC84AC}"/>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051F2C6F-7464-367E-E3F8-97DC8C8F38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816EA2-7E56-7BA3-2439-E543C4160FC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2368239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A9EF-5440-6E76-FF73-0CF065E3FE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746708-25E5-77F6-A964-227D0EE4C5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C22E3-5FB3-FA79-ED62-21819A6A00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96025A-E802-D170-D6B8-690A286BCE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B7203-20FE-415A-F923-11A30CAAC6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7DA1C9-7D6A-71D0-70D9-9B0828718429}"/>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8" name="Footer Placeholder 7">
            <a:extLst>
              <a:ext uri="{FF2B5EF4-FFF2-40B4-BE49-F238E27FC236}">
                <a16:creationId xmlns:a16="http://schemas.microsoft.com/office/drawing/2014/main" id="{C5FE8C4F-142A-8803-C2AD-C6393A49A3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83C7CE-86E2-2A63-0ECE-6F7089A68601}"/>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181712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AE12F-6D65-52A0-48AA-B03A63F84E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2C2E755-9EA8-6439-9AA9-91FF3D9183D1}"/>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4" name="Footer Placeholder 3">
            <a:extLst>
              <a:ext uri="{FF2B5EF4-FFF2-40B4-BE49-F238E27FC236}">
                <a16:creationId xmlns:a16="http://schemas.microsoft.com/office/drawing/2014/main" id="{3DEB468B-111F-CF06-6C38-3BC8CFF43D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D94801-333D-738E-07D1-D8DAF45C098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65337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345271-495D-152E-CF4A-DF4710D8BEC2}"/>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3" name="Footer Placeholder 2">
            <a:extLst>
              <a:ext uri="{FF2B5EF4-FFF2-40B4-BE49-F238E27FC236}">
                <a16:creationId xmlns:a16="http://schemas.microsoft.com/office/drawing/2014/main" id="{24F704DD-032D-53A7-BFF6-45E5965DD4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277178-4230-89A4-5872-75B349208232}"/>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53700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A69D6-24F8-42C9-1D77-EC88669074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9D61D7-9867-D57B-393C-47C770AA65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ED94E2-1CFC-4DFF-4491-2085D8036D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0CD279-5116-5E15-60C5-9EF79DDB4C64}"/>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69031C19-F77D-04E3-B033-CF6338C139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8963EA-8864-E6BE-24F5-23AFDA15D8B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808667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6FE6-775B-5F83-EEAB-E36547DB1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964366-F9DB-7570-8134-3DDD5A1017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EFF4E6-78FE-6A93-F107-25294F26CE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A6E5D-D1B7-97B4-E5F0-293D2283C25B}"/>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7470F263-4F04-05C5-5AB8-17B4BF4369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8888F2-58F4-670D-C34D-AD8FC7455A6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40883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8A30-B913-89F3-B532-786CB42C2F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D29D4D-DEE7-6A1D-B42E-38574A7273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96FAF5-A696-3446-BF82-38164F6A8A2C}"/>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24EE94DE-54DD-A6A8-474C-AB93008EA0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98F6DA-A2A6-C945-BF21-6706B5FA6B6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139727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308265-AD14-4580-CC74-9C4CF00E99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F309DA-5772-6FBD-97A3-F137B93F90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C1C790-714C-45F7-D996-F901BECA504F}"/>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7BF76402-000D-C35B-9564-25F55D31AC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067743-5BF8-DFC2-CBDC-EB27E01169C7}"/>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6375857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B05E56-8D2F-5F2F-8551-44A2B095FC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6445D5-7E47-8624-9AC3-BB3BCD2772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9B5D27-2F61-7E25-7C4F-55CEB62622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628E40CC-F5EF-5459-5DE6-51B24194D7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C677AFA-267B-483B-8828-7D5EC7CBFD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0C9D19-9CC2-4BD0-80ED-38FDA6BAD898}" type="slidenum">
              <a:rPr lang="en-IN" smtClean="0"/>
              <a:pPr/>
              <a:t>‹#›</a:t>
            </a:fld>
            <a:endParaRPr lang="en-IN"/>
          </a:p>
        </p:txBody>
      </p:sp>
    </p:spTree>
    <p:extLst>
      <p:ext uri="{BB962C8B-B14F-4D97-AF65-F5344CB8AC3E}">
        <p14:creationId xmlns:p14="http://schemas.microsoft.com/office/powerpoint/2010/main" val="892197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9EF572-0127-C93D-2B9D-B206A86959E2}"/>
              </a:ext>
            </a:extLst>
          </p:cNvPr>
          <p:cNvSpPr txBox="1"/>
          <p:nvPr/>
        </p:nvSpPr>
        <p:spPr>
          <a:xfrm>
            <a:off x="1908811" y="2469911"/>
            <a:ext cx="7821236" cy="369332"/>
          </a:xfrm>
          <a:prstGeom prst="rect">
            <a:avLst/>
          </a:prstGeom>
          <a:noFill/>
        </p:spPr>
        <p:txBody>
          <a:bodyPr wrap="square">
            <a:spAutoFit/>
          </a:bodyPr>
          <a:lstStyle/>
          <a:p>
            <a:r>
              <a:rPr lang="en-IN" dirty="0">
                <a:solidFill>
                  <a:srgbClr val="FF0000"/>
                </a:solidFill>
              </a:rPr>
              <a:t>Mastering Supervised Learning: Concepts, Algorithms, and Applications</a:t>
            </a:r>
          </a:p>
        </p:txBody>
      </p:sp>
    </p:spTree>
    <p:extLst>
      <p:ext uri="{BB962C8B-B14F-4D97-AF65-F5344CB8AC3E}">
        <p14:creationId xmlns:p14="http://schemas.microsoft.com/office/powerpoint/2010/main" val="2497164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219815"/>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fundamental concepts of supervised learning.</a:t>
            </a:r>
          </a:p>
          <a:p>
            <a:pPr>
              <a:lnSpc>
                <a:spcPct val="115000"/>
              </a:lnSpc>
              <a:spcAft>
                <a:spcPts val="1000"/>
              </a:spcAft>
            </a:pPr>
            <a:r>
              <a:rPr lang="en-US" dirty="0">
                <a:latin typeface=""/>
                <a:ea typeface="Times New Roman"/>
                <a:cs typeface="Times New Roman"/>
              </a:rPr>
              <a:t>•   Explore the different types of supervised learning algorithms and their applications.</a:t>
            </a:r>
          </a:p>
          <a:p>
            <a:pPr>
              <a:lnSpc>
                <a:spcPct val="115000"/>
              </a:lnSpc>
              <a:spcAft>
                <a:spcPts val="1000"/>
              </a:spcAft>
            </a:pPr>
            <a:r>
              <a:rPr lang="en-US" dirty="0">
                <a:latin typeface=""/>
                <a:ea typeface="Times New Roman"/>
                <a:cs typeface="Times New Roman"/>
              </a:rPr>
              <a:t>•   Differentiate between classification and regression tasks in supervised learning.</a:t>
            </a:r>
          </a:p>
          <a:p>
            <a:pPr>
              <a:lnSpc>
                <a:spcPct val="115000"/>
              </a:lnSpc>
              <a:spcAft>
                <a:spcPts val="1000"/>
              </a:spcAft>
            </a:pPr>
            <a:r>
              <a:rPr lang="en-US" dirty="0">
                <a:latin typeface=""/>
                <a:ea typeface="Times New Roman"/>
                <a:cs typeface="Times New Roman"/>
              </a:rPr>
              <a:t>•   Identify key factors for selecting appropriate supervised learning algorithms.</a:t>
            </a:r>
          </a:p>
          <a:p>
            <a:pPr>
              <a:lnSpc>
                <a:spcPct val="115000"/>
              </a:lnSpc>
              <a:spcAft>
                <a:spcPts val="1000"/>
              </a:spcAft>
            </a:pPr>
            <a:r>
              <a:rPr lang="en-US" dirty="0">
                <a:latin typeface=""/>
                <a:ea typeface="Times New Roman"/>
                <a:cs typeface="Times New Roman"/>
              </a:rPr>
              <a:t>•   Gain insights into the strengths and weaknesses of various supervised learning algorithms.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1" y="1388684"/>
            <a:ext cx="12132424"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Supervised learning is a core concept in machine learning, a subfield of Artificial Intelligence.</a:t>
            </a:r>
          </a:p>
          <a:p>
            <a:endParaRPr lang="en-US" sz="2000" dirty="0"/>
          </a:p>
          <a:p>
            <a:r>
              <a:rPr lang="en-US" sz="2000" dirty="0"/>
              <a:t>• Models learn from labeled data, which includes both inputs and their corresponding target outputs.</a:t>
            </a:r>
          </a:p>
          <a:p>
            <a:endParaRPr lang="en-US" sz="2000" dirty="0"/>
          </a:p>
          <a:p>
            <a:r>
              <a:rPr lang="en-US" sz="2000" dirty="0"/>
              <a:t>•   It establishes a clear, explicit relationship between input data and the desired outcome.</a:t>
            </a:r>
          </a:p>
          <a:p>
            <a:endParaRPr lang="en-US" sz="2000" dirty="0"/>
          </a:p>
          <a:p>
            <a:r>
              <a:rPr lang="en-US" sz="2000" dirty="0"/>
              <a:t>•   The primary goal is to enable the model to make predictions or decisions on new, unseen data.</a:t>
            </a:r>
          </a:p>
          <a:p>
            <a:endParaRPr lang="en-US" sz="2000" dirty="0"/>
          </a:p>
          <a:p>
            <a:r>
              <a:rPr lang="en-US" sz="2000" dirty="0"/>
              <a:t>•   The fundamental idea is to teach the model to effectively map inputs to correct outputs.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Supervised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108065" y="1388684"/>
            <a:ext cx="12132426"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The learning process begins by providing the algorithm with a training dataset.</a:t>
            </a:r>
          </a:p>
          <a:p>
            <a:endParaRPr lang="en-US" sz="2000" dirty="0"/>
          </a:p>
          <a:p>
            <a:r>
              <a:rPr lang="en-US" sz="2000" dirty="0"/>
              <a:t>• This dataset comprises numerous input-output pairs, allowing the model to learn from examples.</a:t>
            </a:r>
          </a:p>
          <a:p>
            <a:endParaRPr lang="en-US" sz="2000" dirty="0"/>
          </a:p>
          <a:p>
            <a:r>
              <a:rPr lang="en-US" sz="2000" dirty="0"/>
              <a:t>•   The model analyzes this data to identify inherent patterns and relationships.</a:t>
            </a:r>
          </a:p>
          <a:p>
            <a:endParaRPr lang="en-US" sz="2000" dirty="0"/>
          </a:p>
          <a:p>
            <a:r>
              <a:rPr lang="en-US" sz="2000" dirty="0"/>
              <a:t>•   These learned patterns are then used to generalize and predict outcomes for new inputs.</a:t>
            </a:r>
          </a:p>
          <a:p>
            <a:endParaRPr lang="en-US" sz="2000" dirty="0"/>
          </a:p>
          <a:p>
            <a:r>
              <a:rPr lang="en-US" sz="2000" dirty="0"/>
              <a:t>•   Supervised learning forms the building blocks for many advanced AI applications requiring predictive capabilities.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Core Concepts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145473" y="1388684"/>
            <a:ext cx="12178145"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Classification is a supervised learning task focused on assigning inputs to predefined categories.</a:t>
            </a:r>
          </a:p>
          <a:p>
            <a:endParaRPr lang="en-US" sz="2000" dirty="0"/>
          </a:p>
          <a:p>
            <a:r>
              <a:rPr lang="en-US" sz="2000" dirty="0"/>
              <a:t>• The output variable in classification is typically categorical (e.g., "spam" or "not spam").</a:t>
            </a:r>
          </a:p>
          <a:p>
            <a:endParaRPr lang="en-US" sz="2000" dirty="0"/>
          </a:p>
          <a:p>
            <a:r>
              <a:rPr lang="en-US" sz="2000" dirty="0"/>
              <a:t>•   The model learns to draw decision boundaries in the input space to distinguish between classes.</a:t>
            </a:r>
          </a:p>
          <a:p>
            <a:endParaRPr lang="en-US" sz="2000" dirty="0"/>
          </a:p>
          <a:p>
            <a:r>
              <a:rPr lang="en-US" sz="2000" dirty="0"/>
              <a:t>• Common examples include spam email detection, image categorization, and sentiment analysis.</a:t>
            </a:r>
          </a:p>
          <a:p>
            <a:endParaRPr lang="en-US" sz="2000" dirty="0"/>
          </a:p>
          <a:p>
            <a:r>
              <a:rPr lang="en-US" sz="2000" dirty="0"/>
              <a:t>• </a:t>
            </a:r>
            <a:r>
              <a:rPr lang="en-US" dirty="0"/>
              <a:t>Key algorithms for classification include Decision Trees, Support Vector Machines (SVM), and Neural Networks.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Classification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137160" y="1388684"/>
            <a:ext cx="12165675"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Regression is a supervised learning task aimed at predicting a continuous, numerical output value.</a:t>
            </a:r>
          </a:p>
          <a:p>
            <a:endParaRPr lang="en-US" sz="2000" dirty="0"/>
          </a:p>
          <a:p>
            <a:r>
              <a:rPr lang="en-US" sz="2000" dirty="0"/>
              <a:t>•   The model learns to approximate a function that maps inputs to real numbers.</a:t>
            </a:r>
          </a:p>
          <a:p>
            <a:endParaRPr lang="en-US" sz="2000" dirty="0"/>
          </a:p>
          <a:p>
            <a:r>
              <a:rPr lang="en-US" dirty="0"/>
              <a:t>•   The objective is to find the best-fitting curve or hyperplane that minimizes error between predicted and actual values.</a:t>
            </a:r>
          </a:p>
          <a:p>
            <a:endParaRPr lang="en-US" sz="2000" dirty="0"/>
          </a:p>
          <a:p>
            <a:r>
              <a:rPr lang="en-US" sz="2000" dirty="0"/>
              <a:t>• Common examples include predicting house prices, forecasting stock values, and estimating age from data.</a:t>
            </a:r>
          </a:p>
          <a:p>
            <a:endParaRPr lang="en-US" sz="2000" dirty="0"/>
          </a:p>
          <a:p>
            <a:r>
              <a:rPr lang="en-US" dirty="0"/>
              <a:t>• Key algorithms for regression include </a:t>
            </a:r>
          </a:p>
          <a:p>
            <a:r>
              <a:rPr lang="en-US" dirty="0"/>
              <a:t>	Linear Regression, </a:t>
            </a:r>
          </a:p>
          <a:p>
            <a:r>
              <a:rPr lang="en-US" dirty="0"/>
              <a:t>	Random Forest Regression, and </a:t>
            </a:r>
          </a:p>
          <a:p>
            <a:r>
              <a:rPr lang="en-US" dirty="0"/>
              <a:t>	Gradient Boosting Regression.</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Regression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Linear Regression: A foundational regression algorithm assuming a linear relationship between input features and the target. It seeks to find a straight line that best minimizes the sum of squared errors.</a:t>
            </a:r>
          </a:p>
          <a:p>
            <a:endParaRPr lang="en-US" sz="2000"/>
          </a:p>
          <a:p>
            <a:r>
              <a:rPr lang="en-US" sz="2000"/>
              <a:t>• Decision Trees: Versatile algorithms used for both classification and regression. They recursively split data based on significant features, forming a tree-like structure.</a:t>
            </a:r>
          </a:p>
          <a:p>
            <a:endParaRPr lang="en-US" sz="2000"/>
          </a:p>
          <a:p>
            <a:r>
              <a:rPr lang="en-US" sz="2000"/>
              <a:t>•   Decision Trees are highly interpretable, making their decision-making process easy to understand.</a:t>
            </a:r>
          </a:p>
          <a:p>
            <a:endParaRPr lang="en-US" sz="2000"/>
          </a:p>
          <a:p>
            <a:r>
              <a:rPr lang="en-US" sz="2000"/>
              <a:t>•   They can efficiently handle both numerical and categorical data types.</a:t>
            </a:r>
          </a:p>
          <a:p>
            <a:endParaRPr lang="en-US" sz="2000"/>
          </a:p>
          <a:p>
            <a:r>
              <a:rPr lang="en-US" sz="2000"/>
              <a:t>•   These algorithms provide fundamental approaches to predictive modeling.</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Key Algorithms: Part 1</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Support Vector Machines (SVM): Primarily a classification algorithm that identifies an optimal hyperplane to separate data into distinct classes.</a:t>
            </a:r>
          </a:p>
          <a:p>
            <a:endParaRPr lang="en-US" sz="2000"/>
          </a:p>
          <a:p>
            <a:r>
              <a:rPr lang="en-US" sz="2000"/>
              <a:t>•   SVMs are effective for both linearly and non-linearly separable data through the use of various kernel functions.</a:t>
            </a:r>
          </a:p>
          <a:p>
            <a:endParaRPr lang="en-US" sz="2000"/>
          </a:p>
          <a:p>
            <a:r>
              <a:rPr lang="en-US" sz="2000"/>
              <a:t>• Neural Networks: Consist of layers of interconnected neurons, capable of approximating complex non-linear relationships.</a:t>
            </a:r>
          </a:p>
          <a:p>
            <a:endParaRPr lang="en-US" sz="2000"/>
          </a:p>
          <a:p>
            <a:r>
              <a:rPr lang="en-US" sz="2000"/>
              <a:t>•   Deep learning, a subset of neural networks, has driven significant advancements in fields like image recognition and natural language processing.</a:t>
            </a:r>
          </a:p>
          <a:p>
            <a:endParaRPr lang="en-US" sz="2000"/>
          </a:p>
          <a:p>
            <a:r>
              <a:rPr lang="en-US" sz="2000"/>
              <a:t>•   While powerful, neural networks often require substantial computational resources for training.</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Key Algorithms: Part 2</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Random Forest: An ensemble learning algorithm that enhances prediction accuracy by combining multiple decision trees.</a:t>
            </a:r>
          </a:p>
          <a:p>
            <a:endParaRPr lang="en-US" sz="2000"/>
          </a:p>
          <a:p>
            <a:r>
              <a:rPr lang="en-US" sz="2000"/>
              <a:t>•   It is known for its robustness and capability to handle high-dimensional datasets with many features.</a:t>
            </a:r>
          </a:p>
          <a:p>
            <a:endParaRPr lang="en-US" sz="2000"/>
          </a:p>
          <a:p>
            <a:r>
              <a:rPr lang="en-US" sz="2000"/>
              <a:t>• k-Nearest Neighbors (KNN): A simple, effective classification algorithm that classifies data points based on the majority class among their 'k' nearest neighbors.</a:t>
            </a:r>
          </a:p>
          <a:p>
            <a:endParaRPr lang="en-US" sz="2000"/>
          </a:p>
          <a:p>
            <a:r>
              <a:rPr lang="en-US" sz="2000"/>
              <a:t>•   KNN's performance is critically dependent on the chosen distance metric and the specific value of 'k'.</a:t>
            </a:r>
          </a:p>
          <a:p>
            <a:endParaRPr lang="en-US" sz="2000"/>
          </a:p>
          <a:p>
            <a:r>
              <a:rPr lang="en-US" sz="2000"/>
              <a:t>•   Both algorithms offer unique approaches to tackling supervised learning challenges with varying complexities.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Key Algorithms: Part 3</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Naive Bayes: A probabilistic classification algorithm founded on Bayes' theorem.</a:t>
            </a:r>
          </a:p>
          <a:p>
            <a:endParaRPr lang="en-US" sz="2000"/>
          </a:p>
          <a:p>
            <a:r>
              <a:rPr lang="en-US" sz="2000"/>
              <a:t>•   It operates under the assumption of strong independence among features, simplifying calculations.</a:t>
            </a:r>
          </a:p>
          <a:p>
            <a:endParaRPr lang="en-US" sz="2000"/>
          </a:p>
          <a:p>
            <a:r>
              <a:rPr lang="en-US" sz="2000"/>
              <a:t>•   Naive Bayes is particularly well-suited for various text classification applications.</a:t>
            </a:r>
          </a:p>
          <a:p>
            <a:endParaRPr lang="en-US" sz="2000"/>
          </a:p>
          <a:p>
            <a:r>
              <a:rPr lang="en-US" sz="2000"/>
              <a:t>• Common uses include effective spam detection and sentiment analysis.</a:t>
            </a:r>
          </a:p>
          <a:p>
            <a:endParaRPr lang="en-US" sz="2000"/>
          </a:p>
          <a:p>
            <a:r>
              <a:rPr lang="en-US" sz="2000"/>
              <a:t>•   Its simplicity and efficiency make it a valuable tool, even with limited training data.</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Key Algorithms: Part 4</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C374AE2-C3EB-CF56-3126-1BCC40414C49}"/>
                  </a:ext>
                </a:extLst>
              </p:cNvPr>
              <p:cNvSpPr txBox="1"/>
              <p:nvPr/>
            </p:nvSpPr>
            <p:spPr>
              <a:xfrm>
                <a:off x="723207" y="1166843"/>
                <a:ext cx="10174778" cy="3139321"/>
              </a:xfrm>
              <a:prstGeom prst="rect">
                <a:avLst/>
              </a:prstGeom>
              <a:noFill/>
            </p:spPr>
            <p:txBody>
              <a:bodyPr wrap="square">
                <a:spAutoFit/>
              </a:bodyPr>
              <a:lstStyle/>
              <a:p>
                <a:pPr marL="0" marR="0" rtl="0">
                  <a:buNone/>
                </a:pPr>
                <a:endParaRPr lang="en-IN" sz="1800" dirty="0">
                  <a:solidFill>
                    <a:schemeClr val="tx1"/>
                  </a:solidFill>
                  <a:effectLst/>
                  <a:latin typeface="+mn-lt"/>
                </a:endParaRPr>
              </a:p>
              <a:p>
                <a:pPr marL="0" marR="0" rtl="0">
                  <a:buNone/>
                </a:pPr>
                <a:r>
                  <a:rPr lang="en-IN" sz="1800" b="1" dirty="0">
                    <a:solidFill>
                      <a:schemeClr val="tx1"/>
                    </a:solidFill>
                    <a:effectLst/>
                    <a:latin typeface="+mn-lt"/>
                  </a:rPr>
                  <a:t>1. Regression Algorithms</a:t>
                </a:r>
              </a:p>
              <a:p>
                <a:pPr marL="0" marR="0" lvl="0" indent="-342900" rtl="0">
                  <a:buFont typeface="Arial" panose="020B0604020202020204" pitchFamily="34" charset="0"/>
                  <a:buChar char="•"/>
                </a:pPr>
                <a:r>
                  <a:rPr lang="en-IN" sz="1800" b="1" dirty="0">
                    <a:solidFill>
                      <a:schemeClr val="tx1"/>
                    </a:solidFill>
                    <a:effectLst/>
                    <a:latin typeface="+mn-lt"/>
                  </a:rPr>
                  <a:t>Linear Regression:</a:t>
                </a:r>
                <a:r>
                  <a:rPr lang="en-IN" sz="1800" dirty="0">
                    <a:solidFill>
                      <a:schemeClr val="tx1"/>
                    </a:solidFill>
                    <a:effectLst/>
                    <a:latin typeface="+mn-lt"/>
                  </a:rPr>
                  <a:t> Models the linear relationship between independent variables and a continuous target variable by fitting a straight line or hyperplane.</a:t>
                </a:r>
              </a:p>
              <a:p>
                <a:pPr marR="0" lvl="0" rtl="0"/>
                <a:br>
                  <a:rPr lang="en-IN" sz="1800" dirty="0">
                    <a:solidFill>
                      <a:schemeClr val="tx1"/>
                    </a:solidFill>
                    <a:effectLst/>
                    <a:latin typeface="+mn-lt"/>
                  </a:rPr>
                </a:br>
                <a:endParaRPr lang="en-IN" sz="1800" dirty="0">
                  <a:solidFill>
                    <a:schemeClr val="tx1"/>
                  </a:solidFill>
                  <a:effectLst/>
                  <a:latin typeface="+mn-lt"/>
                </a:endParaRPr>
              </a:p>
              <a:p>
                <a:pPr marL="0" marR="0" lvl="0" indent="-342900" rtl="0">
                  <a:buFont typeface="Arial" panose="020B0604020202020204" pitchFamily="34" charset="0"/>
                  <a:buChar char="•"/>
                </a:pPr>
                <a:r>
                  <a:rPr lang="en-IN" sz="1800" b="1" dirty="0">
                    <a:solidFill>
                      <a:schemeClr val="tx1"/>
                    </a:solidFill>
                    <a:effectLst/>
                    <a:latin typeface="+mn-lt"/>
                  </a:rPr>
                  <a:t>Ridge and Lasso Regression:</a:t>
                </a:r>
                <a:r>
                  <a:rPr lang="en-IN" sz="1800" dirty="0">
                    <a:solidFill>
                      <a:schemeClr val="tx1"/>
                    </a:solidFill>
                    <a:effectLst/>
                    <a:latin typeface="+mn-lt"/>
                  </a:rPr>
                  <a:t> Regularized variants of linear regression that add L2 (</a:t>
                </a:r>
                <a14:m>
                  <m:oMath xmlns:m="http://schemas.openxmlformats.org/officeDocument/2006/math">
                    <m:sSub>
                      <m:sSubPr>
                        <m:ctrlPr>
                          <a:rPr lang="en-IN" sz="1800" i="1">
                            <a:latin typeface="+mn-lt"/>
                          </a:rPr>
                        </m:ctrlPr>
                      </m:sSubPr>
                      <m:e>
                        <m:r>
                          <a:rPr lang="en-IN" sz="1800" i="1">
                            <a:latin typeface="+mn-lt"/>
                          </a:rPr>
                          <m:t>𝐿</m:t>
                        </m:r>
                      </m:e>
                      <m:sub>
                        <m:r>
                          <a:rPr lang="en-IN" sz="1800" i="0">
                            <a:latin typeface="+mn-lt"/>
                          </a:rPr>
                          <m:t>2</m:t>
                        </m:r>
                      </m:sub>
                    </m:sSub>
                  </m:oMath>
                </a14:m>
                <a:r>
                  <a:rPr lang="en-IN" sz="1800" dirty="0">
                    <a:solidFill>
                      <a:schemeClr val="tx1"/>
                    </a:solidFill>
                    <a:effectLst/>
                    <a:latin typeface="+mn-lt"/>
                  </a:rPr>
                  <a:t>) or L1 (</a:t>
                </a:r>
                <a14:m>
                  <m:oMath xmlns:m="http://schemas.openxmlformats.org/officeDocument/2006/math">
                    <m:sSub>
                      <m:sSubPr>
                        <m:ctrlPr>
                          <a:rPr lang="en-IN" sz="1800" i="1">
                            <a:latin typeface="+mn-lt"/>
                          </a:rPr>
                        </m:ctrlPr>
                      </m:sSubPr>
                      <m:e>
                        <m:r>
                          <a:rPr lang="en-IN" sz="1800" i="1">
                            <a:latin typeface="+mn-lt"/>
                          </a:rPr>
                          <m:t>𝐿</m:t>
                        </m:r>
                      </m:e>
                      <m:sub>
                        <m:r>
                          <a:rPr lang="en-IN" sz="1800" i="0">
                            <a:latin typeface="+mn-lt"/>
                          </a:rPr>
                          <m:t>1</m:t>
                        </m:r>
                      </m:sub>
                    </m:sSub>
                  </m:oMath>
                </a14:m>
                <a:r>
                  <a:rPr lang="en-IN" sz="1800" dirty="0">
                    <a:solidFill>
                      <a:schemeClr val="tx1"/>
                    </a:solidFill>
                    <a:effectLst/>
                    <a:latin typeface="+mn-lt"/>
                  </a:rPr>
                  <a:t>) penalties to the loss function to prevent overfitting and handle multicollinearity.</a:t>
                </a:r>
              </a:p>
              <a:p>
                <a:pPr marR="0" lvl="0" rtl="0"/>
                <a:endParaRPr lang="en-IN" sz="1800" dirty="0">
                  <a:solidFill>
                    <a:schemeClr val="tx1"/>
                  </a:solidFill>
                  <a:effectLst/>
                  <a:latin typeface="+mn-lt"/>
                </a:endParaRPr>
              </a:p>
              <a:p>
                <a:pPr marL="0" marR="0" lvl="0" indent="-342900" rtl="0">
                  <a:buFont typeface="Arial" panose="020B0604020202020204" pitchFamily="34" charset="0"/>
                  <a:buChar char="•"/>
                </a:pPr>
                <a:r>
                  <a:rPr lang="en-IN" sz="1800" b="1" dirty="0">
                    <a:solidFill>
                      <a:schemeClr val="tx1"/>
                    </a:solidFill>
                    <a:effectLst/>
                    <a:latin typeface="+mn-lt"/>
                  </a:rPr>
                  <a:t>Polynomial Regression:</a:t>
                </a:r>
                <a:r>
                  <a:rPr lang="en-IN" sz="1800" dirty="0">
                    <a:solidFill>
                      <a:schemeClr val="tx1"/>
                    </a:solidFill>
                    <a:effectLst/>
                    <a:latin typeface="+mn-lt"/>
                  </a:rPr>
                  <a:t> Extends linear regression by </a:t>
                </a:r>
                <a:r>
                  <a:rPr lang="en-IN" sz="1800" dirty="0" err="1">
                    <a:solidFill>
                      <a:schemeClr val="tx1"/>
                    </a:solidFill>
                    <a:effectLst/>
                    <a:latin typeface="+mn-lt"/>
                  </a:rPr>
                  <a:t>modeling</a:t>
                </a:r>
                <a:r>
                  <a:rPr lang="en-IN" sz="1800" dirty="0">
                    <a:solidFill>
                      <a:schemeClr val="tx1"/>
                    </a:solidFill>
                    <a:effectLst/>
                    <a:latin typeface="+mn-lt"/>
                  </a:rPr>
                  <a:t> non-linear relationships using polynomial terms of the input features.</a:t>
                </a:r>
              </a:p>
            </p:txBody>
          </p:sp>
        </mc:Choice>
        <mc:Fallback>
          <p:sp>
            <p:nvSpPr>
              <p:cNvPr id="3" name="TextBox 2">
                <a:extLst>
                  <a:ext uri="{FF2B5EF4-FFF2-40B4-BE49-F238E27FC236}">
                    <a16:creationId xmlns:a16="http://schemas.microsoft.com/office/drawing/2014/main" id="{BC374AE2-C3EB-CF56-3126-1BCC40414C49}"/>
                  </a:ext>
                </a:extLst>
              </p:cNvPr>
              <p:cNvSpPr txBox="1">
                <a:spLocks noRot="1" noChangeAspect="1" noMove="1" noResize="1" noEditPoints="1" noAdjustHandles="1" noChangeArrowheads="1" noChangeShapeType="1" noTextEdit="1"/>
              </p:cNvSpPr>
              <p:nvPr/>
            </p:nvSpPr>
            <p:spPr>
              <a:xfrm>
                <a:off x="723207" y="1166843"/>
                <a:ext cx="10174778" cy="3139321"/>
              </a:xfrm>
              <a:prstGeom prst="rect">
                <a:avLst/>
              </a:prstGeom>
              <a:blipFill>
                <a:blip r:embed="rId2"/>
                <a:stretch>
                  <a:fillRect l="-539" b="-2330"/>
                </a:stretch>
              </a:blipFill>
            </p:spPr>
            <p:txBody>
              <a:bodyPr/>
              <a:lstStyle/>
              <a:p>
                <a:r>
                  <a:rPr lang="en-IN">
                    <a:noFill/>
                  </a:rPr>
                  <a:t> </a:t>
                </a:r>
              </a:p>
            </p:txBody>
          </p:sp>
        </mc:Fallback>
      </mc:AlternateContent>
    </p:spTree>
    <p:extLst>
      <p:ext uri="{BB962C8B-B14F-4D97-AF65-F5344CB8AC3E}">
        <p14:creationId xmlns:p14="http://schemas.microsoft.com/office/powerpoint/2010/main" val="3634070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3CB49FF-2519-8E79-EA6C-E97FC530ACAF}"/>
                  </a:ext>
                </a:extLst>
              </p:cNvPr>
              <p:cNvSpPr txBox="1"/>
              <p:nvPr/>
            </p:nvSpPr>
            <p:spPr>
              <a:xfrm>
                <a:off x="232755" y="335846"/>
                <a:ext cx="10436629" cy="3416320"/>
              </a:xfrm>
              <a:prstGeom prst="rect">
                <a:avLst/>
              </a:prstGeom>
              <a:noFill/>
            </p:spPr>
            <p:txBody>
              <a:bodyPr wrap="square">
                <a:spAutoFit/>
              </a:bodyPr>
              <a:lstStyle/>
              <a:p>
                <a:pPr marL="0" marR="0" rtl="0">
                  <a:buNone/>
                </a:pPr>
                <a:r>
                  <a:rPr lang="en-IN" sz="1800" b="1" dirty="0">
                    <a:solidFill>
                      <a:schemeClr val="tx1"/>
                    </a:solidFill>
                    <a:effectLst/>
                    <a:latin typeface="+mn-lt"/>
                  </a:rPr>
                  <a:t>2. Classification Algorithms</a:t>
                </a:r>
              </a:p>
              <a:p>
                <a:pPr marL="0" marR="0" lvl="0" indent="-342900" rtl="0">
                  <a:buFont typeface="Arial" panose="020B0604020202020204" pitchFamily="34" charset="0"/>
                  <a:buChar char="•"/>
                </a:pPr>
                <a:r>
                  <a:rPr lang="en-IN" sz="1800" b="1" dirty="0">
                    <a:solidFill>
                      <a:schemeClr val="tx1"/>
                    </a:solidFill>
                    <a:effectLst/>
                    <a:latin typeface="+mn-lt"/>
                  </a:rPr>
                  <a:t>Logistic Regression:</a:t>
                </a:r>
                <a:r>
                  <a:rPr lang="en-IN" sz="1800" dirty="0">
                    <a:solidFill>
                      <a:schemeClr val="tx1"/>
                    </a:solidFill>
                    <a:effectLst/>
                    <a:latin typeface="+mn-lt"/>
                  </a:rPr>
                  <a:t> A generalized linear model used for binary and multinomial classification by passing linear outputs through a sigmoid (or </a:t>
                </a:r>
                <a:r>
                  <a:rPr lang="en-IN" sz="1800" dirty="0" err="1">
                    <a:solidFill>
                      <a:schemeClr val="tx1"/>
                    </a:solidFill>
                    <a:effectLst/>
                    <a:latin typeface="+mn-lt"/>
                  </a:rPr>
                  <a:t>softmax</a:t>
                </a:r>
                <a:r>
                  <a:rPr lang="en-IN" sz="1800" dirty="0">
                    <a:solidFill>
                      <a:schemeClr val="tx1"/>
                    </a:solidFill>
                    <a:effectLst/>
                    <a:latin typeface="+mn-lt"/>
                  </a:rPr>
                  <a:t>) function.</a:t>
                </a:r>
              </a:p>
              <a:p>
                <a:pPr marR="0" lvl="0" rtl="0"/>
                <a:endParaRPr lang="en-IN" sz="1800" dirty="0">
                  <a:solidFill>
                    <a:schemeClr val="tx1"/>
                  </a:solidFill>
                  <a:effectLst/>
                  <a:latin typeface="+mn-lt"/>
                </a:endParaRPr>
              </a:p>
              <a:p>
                <a:pPr marL="0" marR="0" lvl="0" indent="-342900" rtl="0">
                  <a:buFont typeface="Arial" panose="020B0604020202020204" pitchFamily="34" charset="0"/>
                  <a:buChar char="•"/>
                </a:pPr>
                <a:r>
                  <a:rPr lang="en-IN" sz="1800" b="1" dirty="0">
                    <a:solidFill>
                      <a:schemeClr val="tx1"/>
                    </a:solidFill>
                    <a:effectLst/>
                    <a:latin typeface="+mn-lt"/>
                  </a:rPr>
                  <a:t>Support Vector Machines (SVM):</a:t>
                </a:r>
                <a:r>
                  <a:rPr lang="en-IN" sz="1800" dirty="0">
                    <a:solidFill>
                      <a:schemeClr val="tx1"/>
                    </a:solidFill>
                    <a:effectLst/>
                    <a:latin typeface="+mn-lt"/>
                  </a:rPr>
                  <a:t> Identifies an optimal decision boundary (hyperplane) that maximizes the margin between distinct classes, utilizing kernel functions for non-linear separations.</a:t>
                </a:r>
                <a:br>
                  <a:rPr lang="en-IN" sz="1800" dirty="0">
                    <a:solidFill>
                      <a:schemeClr val="tx1"/>
                    </a:solidFill>
                    <a:effectLst/>
                    <a:latin typeface="+mn-lt"/>
                  </a:rPr>
                </a:br>
                <a:endParaRPr lang="en-IN" sz="1800" dirty="0">
                  <a:solidFill>
                    <a:schemeClr val="tx1"/>
                  </a:solidFill>
                  <a:effectLst/>
                  <a:latin typeface="+mn-lt"/>
                </a:endParaRPr>
              </a:p>
              <a:p>
                <a:pPr marL="0" marR="0" lvl="0" indent="-342900" rtl="0">
                  <a:buFont typeface="Arial" panose="020B0604020202020204" pitchFamily="34" charset="0"/>
                  <a:buChar char="•"/>
                </a:pPr>
                <a:r>
                  <a:rPr lang="en-IN" sz="1800" b="1" dirty="0">
                    <a:solidFill>
                      <a:schemeClr val="tx1"/>
                    </a:solidFill>
                    <a:effectLst/>
                    <a:latin typeface="+mn-lt"/>
                  </a:rPr>
                  <a:t>K-Nearest </a:t>
                </a:r>
                <a:r>
                  <a:rPr lang="en-IN" sz="1800" b="1" dirty="0" err="1">
                    <a:solidFill>
                      <a:schemeClr val="tx1"/>
                    </a:solidFill>
                    <a:effectLst/>
                    <a:latin typeface="+mn-lt"/>
                  </a:rPr>
                  <a:t>Neighbors</a:t>
                </a:r>
                <a:r>
                  <a:rPr lang="en-IN" sz="1800" b="1" dirty="0">
                    <a:solidFill>
                      <a:schemeClr val="tx1"/>
                    </a:solidFill>
                    <a:effectLst/>
                    <a:latin typeface="+mn-lt"/>
                  </a:rPr>
                  <a:t> (KNN):</a:t>
                </a:r>
                <a:r>
                  <a:rPr lang="en-IN" sz="1800" dirty="0">
                    <a:solidFill>
                      <a:schemeClr val="tx1"/>
                    </a:solidFill>
                    <a:effectLst/>
                    <a:latin typeface="+mn-lt"/>
                  </a:rPr>
                  <a:t> A non-parametric, instance-based lazy learner that classifies a data point based on the majority class of its </a:t>
                </a:r>
                <a14:m>
                  <m:oMath xmlns:m="http://schemas.openxmlformats.org/officeDocument/2006/math">
                    <m:r>
                      <a:rPr lang="en-IN" sz="1800" i="1" smtClean="0">
                        <a:latin typeface="+mn-lt"/>
                      </a:rPr>
                      <m:t>𝑘</m:t>
                    </m:r>
                  </m:oMath>
                </a14:m>
                <a:r>
                  <a:rPr lang="en-IN" sz="1800" dirty="0">
                    <a:solidFill>
                      <a:schemeClr val="tx1"/>
                    </a:solidFill>
                    <a:effectLst/>
                    <a:latin typeface="+mn-lt"/>
                  </a:rPr>
                  <a:t>nearest </a:t>
                </a:r>
                <a:r>
                  <a:rPr lang="en-IN" sz="1800" dirty="0" err="1">
                    <a:solidFill>
                      <a:schemeClr val="tx1"/>
                    </a:solidFill>
                    <a:effectLst/>
                    <a:latin typeface="+mn-lt"/>
                  </a:rPr>
                  <a:t>neighbors</a:t>
                </a:r>
                <a:r>
                  <a:rPr lang="en-IN" sz="1800" dirty="0">
                    <a:solidFill>
                      <a:schemeClr val="tx1"/>
                    </a:solidFill>
                    <a:effectLst/>
                    <a:latin typeface="+mn-lt"/>
                  </a:rPr>
                  <a:t> in feature space.</a:t>
                </a:r>
              </a:p>
              <a:p>
                <a:pPr marR="0" lvl="0" rtl="0"/>
                <a:endParaRPr lang="en-IN" sz="1800" dirty="0">
                  <a:solidFill>
                    <a:schemeClr val="tx1"/>
                  </a:solidFill>
                  <a:effectLst/>
                  <a:latin typeface="+mn-lt"/>
                </a:endParaRPr>
              </a:p>
              <a:p>
                <a:pPr marL="0" marR="0" lvl="0" indent="-342900" rtl="0">
                  <a:buFont typeface="Arial" panose="020B0604020202020204" pitchFamily="34" charset="0"/>
                  <a:buChar char="•"/>
                </a:pPr>
                <a:r>
                  <a:rPr lang="en-IN" sz="1800" b="1" dirty="0">
                    <a:solidFill>
                      <a:schemeClr val="tx1"/>
                    </a:solidFill>
                    <a:effectLst/>
                    <a:latin typeface="+mn-lt"/>
                  </a:rPr>
                  <a:t>Naive Bayes:</a:t>
                </a:r>
                <a:r>
                  <a:rPr lang="en-IN" sz="1800" dirty="0">
                    <a:solidFill>
                      <a:schemeClr val="tx1"/>
                    </a:solidFill>
                    <a:effectLst/>
                    <a:latin typeface="+mn-lt"/>
                  </a:rPr>
                  <a:t> A probabilistic classifier rooted in Bayes' Theorem that assumes strong (naive) independence between features, widely used for text classification and spam filtering.</a:t>
                </a:r>
              </a:p>
            </p:txBody>
          </p:sp>
        </mc:Choice>
        <mc:Fallback>
          <p:sp>
            <p:nvSpPr>
              <p:cNvPr id="3" name="TextBox 2">
                <a:extLst>
                  <a:ext uri="{FF2B5EF4-FFF2-40B4-BE49-F238E27FC236}">
                    <a16:creationId xmlns:a16="http://schemas.microsoft.com/office/drawing/2014/main" id="{C3CB49FF-2519-8E79-EA6C-E97FC530ACAF}"/>
                  </a:ext>
                </a:extLst>
              </p:cNvPr>
              <p:cNvSpPr txBox="1">
                <a:spLocks noRot="1" noChangeAspect="1" noMove="1" noResize="1" noEditPoints="1" noAdjustHandles="1" noChangeArrowheads="1" noChangeShapeType="1" noTextEdit="1"/>
              </p:cNvSpPr>
              <p:nvPr/>
            </p:nvSpPr>
            <p:spPr>
              <a:xfrm>
                <a:off x="232755" y="335846"/>
                <a:ext cx="10436629" cy="3416320"/>
              </a:xfrm>
              <a:prstGeom prst="rect">
                <a:avLst/>
              </a:prstGeom>
              <a:blipFill>
                <a:blip r:embed="rId2"/>
                <a:stretch>
                  <a:fillRect l="-467" t="-713" b="-1961"/>
                </a:stretch>
              </a:blipFill>
            </p:spPr>
            <p:txBody>
              <a:bodyPr/>
              <a:lstStyle/>
              <a:p>
                <a:r>
                  <a:rPr lang="en-IN">
                    <a:noFill/>
                  </a:rPr>
                  <a:t> </a:t>
                </a:r>
              </a:p>
            </p:txBody>
          </p:sp>
        </mc:Fallback>
      </mc:AlternateContent>
    </p:spTree>
    <p:extLst>
      <p:ext uri="{BB962C8B-B14F-4D97-AF65-F5344CB8AC3E}">
        <p14:creationId xmlns:p14="http://schemas.microsoft.com/office/powerpoint/2010/main" val="901689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868DE-665F-55F0-F0CE-10D10CE4327F}"/>
              </a:ext>
            </a:extLst>
          </p:cNvPr>
          <p:cNvSpPr txBox="1"/>
          <p:nvPr/>
        </p:nvSpPr>
        <p:spPr>
          <a:xfrm>
            <a:off x="37408" y="448799"/>
            <a:ext cx="11538065" cy="4801314"/>
          </a:xfrm>
          <a:prstGeom prst="rect">
            <a:avLst/>
          </a:prstGeom>
          <a:noFill/>
        </p:spPr>
        <p:txBody>
          <a:bodyPr wrap="square">
            <a:spAutoFit/>
          </a:bodyPr>
          <a:lstStyle/>
          <a:p>
            <a:pPr marL="0" marR="0" rtl="0">
              <a:buNone/>
            </a:pPr>
            <a:endParaRPr lang="en-IN" dirty="0">
              <a:solidFill>
                <a:schemeClr val="tx1"/>
              </a:solidFill>
              <a:effectLst/>
              <a:latin typeface="+mn-lt"/>
            </a:endParaRPr>
          </a:p>
          <a:p>
            <a:pPr marL="0" marR="0" rtl="0">
              <a:buNone/>
            </a:pPr>
            <a:r>
              <a:rPr lang="en-IN" b="1" dirty="0">
                <a:solidFill>
                  <a:schemeClr val="tx1"/>
                </a:solidFill>
                <a:effectLst/>
                <a:latin typeface="+mn-lt"/>
              </a:rPr>
              <a:t>3. Tree-Based &amp; Ensemble Algorithms</a:t>
            </a:r>
          </a:p>
          <a:p>
            <a:pPr marL="0" marR="0" lvl="0" indent="-342900" rtl="0">
              <a:buFont typeface="Arial" panose="020B0604020202020204" pitchFamily="34" charset="0"/>
              <a:buChar char="•"/>
            </a:pPr>
            <a:r>
              <a:rPr lang="en-IN" b="1" dirty="0">
                <a:solidFill>
                  <a:schemeClr val="tx1"/>
                </a:solidFill>
                <a:effectLst/>
                <a:latin typeface="+mn-lt"/>
              </a:rPr>
              <a:t>Decision Trees:</a:t>
            </a:r>
            <a:r>
              <a:rPr lang="en-IN" dirty="0">
                <a:solidFill>
                  <a:schemeClr val="tx1"/>
                </a:solidFill>
                <a:effectLst/>
                <a:latin typeface="+mn-lt"/>
              </a:rPr>
              <a:t> Splits data recursively based on feature thresholds to construct a flowchart-like hierarchical tree of decisions.</a:t>
            </a:r>
          </a:p>
          <a:p>
            <a:pPr marR="0" lvl="0" rtl="0"/>
            <a:br>
              <a:rPr lang="en-IN" dirty="0">
                <a:solidFill>
                  <a:schemeClr val="tx1"/>
                </a:solidFill>
                <a:effectLst/>
                <a:latin typeface="+mn-lt"/>
              </a:rPr>
            </a:br>
            <a:endParaRPr lang="en-IN" dirty="0">
              <a:solidFill>
                <a:schemeClr val="tx1"/>
              </a:solidFill>
              <a:effectLst/>
              <a:latin typeface="+mn-lt"/>
            </a:endParaRPr>
          </a:p>
          <a:p>
            <a:pPr marL="0" marR="0" lvl="0" indent="-342900" rtl="0">
              <a:buFont typeface="Arial" panose="020B0604020202020204" pitchFamily="34" charset="0"/>
              <a:buChar char="•"/>
            </a:pPr>
            <a:r>
              <a:rPr lang="en-IN" b="1" dirty="0">
                <a:solidFill>
                  <a:schemeClr val="tx1"/>
                </a:solidFill>
                <a:effectLst/>
                <a:latin typeface="+mn-lt"/>
              </a:rPr>
              <a:t>Random Forest:</a:t>
            </a:r>
            <a:r>
              <a:rPr lang="en-IN" dirty="0">
                <a:solidFill>
                  <a:schemeClr val="tx1"/>
                </a:solidFill>
                <a:effectLst/>
                <a:latin typeface="+mn-lt"/>
              </a:rPr>
              <a:t> A bagging ensemble method that trains multiple decision trees in parallel on bootstrapped subsets of data and features, reducing variance and preventing overfitting.</a:t>
            </a:r>
          </a:p>
          <a:p>
            <a:pPr marR="0" lvl="0" rtl="0"/>
            <a:br>
              <a:rPr lang="en-IN" dirty="0">
                <a:solidFill>
                  <a:schemeClr val="tx1"/>
                </a:solidFill>
                <a:effectLst/>
                <a:latin typeface="+mn-lt"/>
              </a:rPr>
            </a:br>
            <a:endParaRPr lang="en-IN" dirty="0">
              <a:solidFill>
                <a:schemeClr val="tx1"/>
              </a:solidFill>
              <a:effectLst/>
              <a:latin typeface="+mn-lt"/>
            </a:endParaRPr>
          </a:p>
          <a:p>
            <a:pPr marL="0" marR="0" lvl="0" indent="-342900" rtl="0">
              <a:buFont typeface="Arial" panose="020B0604020202020204" pitchFamily="34" charset="0"/>
              <a:buChar char="•"/>
            </a:pPr>
            <a:r>
              <a:rPr lang="en-IN" b="1" dirty="0">
                <a:solidFill>
                  <a:schemeClr val="tx1"/>
                </a:solidFill>
                <a:effectLst/>
                <a:latin typeface="+mn-lt"/>
              </a:rPr>
              <a:t>Gradient Boosting (</a:t>
            </a:r>
            <a:r>
              <a:rPr lang="en-IN" b="1" dirty="0" err="1">
                <a:solidFill>
                  <a:schemeClr val="tx1"/>
                </a:solidFill>
                <a:effectLst/>
                <a:latin typeface="+mn-lt"/>
              </a:rPr>
              <a:t>XGBoost</a:t>
            </a:r>
            <a:r>
              <a:rPr lang="en-IN" b="1" dirty="0">
                <a:solidFill>
                  <a:schemeClr val="tx1"/>
                </a:solidFill>
                <a:effectLst/>
                <a:latin typeface="+mn-lt"/>
              </a:rPr>
              <a:t>, </a:t>
            </a:r>
            <a:r>
              <a:rPr lang="en-IN" b="1" dirty="0" err="1">
                <a:solidFill>
                  <a:schemeClr val="tx1"/>
                </a:solidFill>
                <a:effectLst/>
                <a:latin typeface="+mn-lt"/>
              </a:rPr>
              <a:t>LightGBM</a:t>
            </a:r>
            <a:r>
              <a:rPr lang="en-IN" b="1" dirty="0">
                <a:solidFill>
                  <a:schemeClr val="tx1"/>
                </a:solidFill>
                <a:effectLst/>
                <a:latin typeface="+mn-lt"/>
              </a:rPr>
              <a:t>, </a:t>
            </a:r>
            <a:r>
              <a:rPr lang="en-IN" b="1" dirty="0" err="1">
                <a:solidFill>
                  <a:schemeClr val="tx1"/>
                </a:solidFill>
                <a:effectLst/>
                <a:latin typeface="+mn-lt"/>
              </a:rPr>
              <a:t>CatBoost</a:t>
            </a:r>
            <a:r>
              <a:rPr lang="en-IN" b="1" dirty="0">
                <a:solidFill>
                  <a:schemeClr val="tx1"/>
                </a:solidFill>
                <a:effectLst/>
                <a:latin typeface="+mn-lt"/>
              </a:rPr>
              <a:t>):</a:t>
            </a:r>
            <a:r>
              <a:rPr lang="en-IN" dirty="0">
                <a:solidFill>
                  <a:schemeClr val="tx1"/>
                </a:solidFill>
                <a:effectLst/>
                <a:latin typeface="+mn-lt"/>
              </a:rPr>
              <a:t> Boosting ensemble techniques that build trees sequentially, where each new tree specifically targets and corrects the residual errors of the previous ensemble.</a:t>
            </a:r>
          </a:p>
          <a:p>
            <a:pPr marR="0" lvl="0" rtl="0"/>
            <a:br>
              <a:rPr lang="en-IN" dirty="0">
                <a:solidFill>
                  <a:schemeClr val="tx1"/>
                </a:solidFill>
                <a:effectLst/>
                <a:latin typeface="+mn-lt"/>
              </a:rPr>
            </a:br>
            <a:endParaRPr lang="en-IN" dirty="0">
              <a:solidFill>
                <a:schemeClr val="tx1"/>
              </a:solidFill>
              <a:effectLst/>
              <a:latin typeface="+mn-lt"/>
            </a:endParaRPr>
          </a:p>
          <a:p>
            <a:pPr marL="0" marR="0" rtl="0">
              <a:buNone/>
            </a:pPr>
            <a:r>
              <a:rPr lang="en-IN" b="1" dirty="0">
                <a:solidFill>
                  <a:schemeClr val="tx1"/>
                </a:solidFill>
                <a:effectLst/>
                <a:latin typeface="+mn-lt"/>
              </a:rPr>
              <a:t>4. Neural Networks &amp; Deep Learning</a:t>
            </a:r>
          </a:p>
          <a:p>
            <a:pPr marL="0" marR="0" lvl="0" indent="-342900" rtl="0">
              <a:buFont typeface="Arial" panose="020B0604020202020204" pitchFamily="34" charset="0"/>
              <a:buChar char="•"/>
            </a:pPr>
            <a:r>
              <a:rPr lang="en-IN" b="1" dirty="0">
                <a:solidFill>
                  <a:schemeClr val="tx1"/>
                </a:solidFill>
                <a:effectLst/>
                <a:latin typeface="+mn-lt"/>
              </a:rPr>
              <a:t>Multilayer </a:t>
            </a:r>
            <a:r>
              <a:rPr lang="en-IN" b="1" dirty="0" err="1">
                <a:solidFill>
                  <a:schemeClr val="tx1"/>
                </a:solidFill>
                <a:effectLst/>
                <a:latin typeface="+mn-lt"/>
              </a:rPr>
              <a:t>Perceptrons</a:t>
            </a:r>
            <a:r>
              <a:rPr lang="en-IN" b="1" dirty="0">
                <a:solidFill>
                  <a:schemeClr val="tx1"/>
                </a:solidFill>
                <a:effectLst/>
                <a:latin typeface="+mn-lt"/>
              </a:rPr>
              <a:t> (MLP):</a:t>
            </a:r>
            <a:r>
              <a:rPr lang="en-IN" dirty="0">
                <a:solidFill>
                  <a:schemeClr val="tx1"/>
                </a:solidFill>
                <a:effectLst/>
                <a:latin typeface="+mn-lt"/>
              </a:rPr>
              <a:t> Feedforward artificial neural networks consisting of input, hidden, and output layers capable of learning complex, non-linear feature representations via backpropagation.</a:t>
            </a:r>
            <a:endParaRPr lang="en-IN" dirty="0">
              <a:solidFill>
                <a:srgbClr val="1F1F1F"/>
              </a:solidFill>
              <a:effectLst/>
              <a:latin typeface="Google Sans Text"/>
            </a:endParaRPr>
          </a:p>
        </p:txBody>
      </p:sp>
    </p:spTree>
    <p:extLst>
      <p:ext uri="{BB962C8B-B14F-4D97-AF65-F5344CB8AC3E}">
        <p14:creationId xmlns:p14="http://schemas.microsoft.com/office/powerpoint/2010/main" val="2846820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lnSpcReduction="10000"/>
          </a:bodyPr>
          <a:lstStyle/>
          <a:p>
            <a:endParaRPr lang="en-US" sz="2000" dirty="0"/>
          </a:p>
          <a:p>
            <a:r>
              <a:rPr lang="en-US" sz="2000" dirty="0"/>
              <a:t>• Model Performance: The primary factor, evaluated using metrics such as </a:t>
            </a:r>
          </a:p>
          <a:p>
            <a:r>
              <a:rPr lang="en-US" sz="2000" dirty="0"/>
              <a:t>	accuracy, </a:t>
            </a:r>
          </a:p>
          <a:p>
            <a:r>
              <a:rPr lang="en-US" sz="2000" dirty="0"/>
              <a:t>	precision, </a:t>
            </a:r>
          </a:p>
          <a:p>
            <a:r>
              <a:rPr lang="en-US" sz="2000" dirty="0"/>
              <a:t>	recall (for classification), or </a:t>
            </a:r>
          </a:p>
          <a:p>
            <a:r>
              <a:rPr lang="en-US" sz="2000" dirty="0"/>
              <a:t>	mean squared error (for regression).</a:t>
            </a:r>
          </a:p>
          <a:p>
            <a:endParaRPr lang="en-US" sz="2000" dirty="0"/>
          </a:p>
          <a:p>
            <a:r>
              <a:rPr lang="en-US" sz="2000" dirty="0"/>
              <a:t>• Data Characteristics: The nature of the data, including its size, dimensionality, and distribution, significantly influences algorithm suitability.</a:t>
            </a:r>
          </a:p>
          <a:p>
            <a:endParaRPr lang="en-US" sz="2000" dirty="0"/>
          </a:p>
          <a:p>
            <a:r>
              <a:rPr lang="en-US" sz="2000" dirty="0"/>
              <a:t>•   Some algorithms perform better on high-dimensional data, while others are more suitable for smaller datasets.</a:t>
            </a:r>
          </a:p>
          <a:p>
            <a:endParaRPr lang="en-US" sz="2000" dirty="0"/>
          </a:p>
          <a:p>
            <a:r>
              <a:rPr lang="en-US" sz="2000" dirty="0"/>
              <a:t>•   Thorough understanding of the dataset is crucial for making an informed choice.</a:t>
            </a:r>
          </a:p>
          <a:p>
            <a:endParaRPr lang="en-US" sz="2000" dirty="0"/>
          </a:p>
          <a:p>
            <a:r>
              <a:rPr lang="en-US" sz="2000" dirty="0"/>
              <a:t>•   There is no single "best" algorithm; the ideal choice is problem- and data-dependent.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Choosing the Right Algorithm: Factors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Computational Resources: Availability of CPU, GPU, and memory can restrict algorithm selection, as some models (e.g., deep learning) are computationally intensive.</a:t>
            </a:r>
          </a:p>
          <a:p>
            <a:endParaRPr lang="en-US" sz="2000" dirty="0"/>
          </a:p>
          <a:p>
            <a:r>
              <a:rPr lang="en-US" dirty="0"/>
              <a:t>• Interpretability: For applications requiring transparency, algorithms that offer understandable decision-making processes (e.g., Decision Trees, Linear Regression) are preferred.</a:t>
            </a:r>
          </a:p>
          <a:p>
            <a:endParaRPr lang="en-US" sz="2000" dirty="0"/>
          </a:p>
          <a:p>
            <a:r>
              <a:rPr lang="en-US" sz="2000" dirty="0"/>
              <a:t>• Robustness: This refers to an algorithm's ability to maintain performance in the presence of noisy or missing data. Random Forest and SVM are noted for their robustness.</a:t>
            </a:r>
          </a:p>
          <a:p>
            <a:endParaRPr lang="en-US" sz="2000" dirty="0"/>
          </a:p>
          <a:p>
            <a:r>
              <a:rPr lang="en-US" dirty="0"/>
              <a:t>•   Balancing these factors leads to effective, practical, and justifiable machine learning solutions.</a:t>
            </a:r>
          </a:p>
          <a:p>
            <a:endParaRPr lang="en-US" sz="2000" dirty="0"/>
          </a:p>
          <a:p>
            <a:r>
              <a:rPr lang="en-US" sz="2000" dirty="0"/>
              <a:t>•   Careful consideration across these dimensions is key to successful model deployment.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Choosing the Right Algorithm: Considerations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Which of the following best describes the fundamental characteristic of data used in supervised learning?</a:t>
            </a:r>
          </a:p>
          <a:p>
            <a:r>
              <a:rPr lang="en-US" sz="2000"/>
              <a:t>A) Data consists of features with no predefined categories.</a:t>
            </a:r>
          </a:p>
          <a:p>
            <a:r>
              <a:rPr lang="en-US" sz="2000"/>
              <a:t>B) Data includes only numerical values without associated labels.</a:t>
            </a:r>
          </a:p>
          <a:p>
            <a:r>
              <a:rPr lang="en-US" sz="2000"/>
              <a:t>C) Data is labeled, meaning each input is paired with a known target output.</a:t>
            </a:r>
          </a:p>
          <a:p>
            <a:r>
              <a:rPr lang="en-US" sz="2000"/>
              <a:t>D) Data is collected through real-time interaction with an environment.</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Which of the following best describes the fundamental characteristic of data used in supervised learning?</a:t>
            </a:r>
          </a:p>
          <a:p>
            <a:r>
              <a:rPr lang="en-US" sz="2000"/>
              <a:t>A) Data consists of features with no predefined categories.</a:t>
            </a:r>
          </a:p>
          <a:p>
            <a:r>
              <a:rPr lang="en-US" sz="2000"/>
              <a:t>B) Data includes only numerical values without associated labels.</a:t>
            </a:r>
          </a:p>
          <a:p>
            <a:r>
              <a:rPr lang="en-US" sz="2000"/>
              <a:t>C) Data is labeled, meaning each input is paired with a known target output.</a:t>
            </a:r>
          </a:p>
          <a:p>
            <a:r>
              <a:rPr lang="en-US" sz="2000"/>
              <a:t>D) Data is collected through real-time interaction with an environment.</a:t>
            </a:r>
          </a:p>
          <a:p>
            <a:endParaRPr lang="en-US" sz="2000"/>
          </a:p>
          <a:p>
            <a:endParaRPr lang="en-US" sz="2000"/>
          </a:p>
          <a:p>
            <a:r>
              <a:rPr lang="en-US" sz="2000" b="1"/>
              <a:t>Correct Answer: C) Data is labeled, meaning each input is paired with a known target output.</a:t>
            </a:r>
          </a:p>
          <a:p>
            <a:r>
              <a:rPr lang="en-US" sz="2000" b="1"/>
              <a:t>Explanation: Supervised learning explicitly requires labeled data, where the correct output for each input is known, allowing the model to learn the mapping function. Options A, B, and D describe characteristics of unsupervised or reinforcement learning, or incomplete descriptions.</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A financial institution wants to develop a model to predict the credit score (a numerical value between 300 and 850) of loan applicants based on their financial history. What type of supervised learning task is this, and which algorithm could be a suitable initial choice?</a:t>
            </a:r>
          </a:p>
          <a:p>
            <a:r>
              <a:rPr lang="en-US" sz="2000"/>
              <a:t>A) Classification; Decision Tree</a:t>
            </a:r>
          </a:p>
          <a:p>
            <a:r>
              <a:rPr lang="en-US" sz="2000"/>
              <a:t>B) Regression; Linear Regression</a:t>
            </a:r>
          </a:p>
          <a:p>
            <a:r>
              <a:rPr lang="en-US" sz="2000"/>
              <a:t>C) Classification; Support Vector Machine</a:t>
            </a:r>
          </a:p>
          <a:p>
            <a:r>
              <a:rPr lang="en-US" sz="2000"/>
              <a:t>D) Regression; k-Nearest Neighbors (KNN)</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2: A financial institution wants to develop a model to predict the credit score (a numerical value between 300 and 850) of loan applicants based on their financial history. What type of supervised learning task is this, and which algorithm could be a suitable initial choice?</a:t>
            </a:r>
          </a:p>
          <a:p>
            <a:r>
              <a:rPr lang="en-US" sz="2000"/>
              <a:t>A) Classification; Decision Tree</a:t>
            </a:r>
          </a:p>
          <a:p>
            <a:r>
              <a:rPr lang="en-US" sz="2000"/>
              <a:t>B) Regression; Linear Regression</a:t>
            </a:r>
          </a:p>
          <a:p>
            <a:r>
              <a:rPr lang="en-US" sz="2000"/>
              <a:t>C) Classification; Support Vector Machine</a:t>
            </a:r>
          </a:p>
          <a:p>
            <a:r>
              <a:rPr lang="en-US" sz="2000"/>
              <a:t>D) Regression; k-Nearest Neighbors (KNN)</a:t>
            </a:r>
          </a:p>
          <a:p>
            <a:endParaRPr lang="en-US" sz="2000"/>
          </a:p>
          <a:p>
            <a:endParaRPr lang="en-US" sz="2000"/>
          </a:p>
          <a:p>
            <a:r>
              <a:rPr lang="en-US" sz="2000" b="1"/>
              <a:t>Correct Answer: B) Regression; Linear Regression</a:t>
            </a:r>
          </a:p>
          <a:p>
            <a:r>
              <a:rPr lang="en-US" sz="2000" b="1"/>
              <a:t>Explanation: Predicting a credit score, which is a continuous numerical value, is a regression task. Linear Regression is a fundamental algorithm for such tasks, assuming a linear relationship between input features and the target. Decision Trees and SVM are primarily associated with classification, and while KNN can do regression, Linear Regression is a more direct fit for predicting a continuous score.</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In the context of evaluating supervised learning algorithms, if a model's decision-making process needs to be clearly understood and explained to stakeholders (e.g., in medical diagnosis), which factor would be prioritized?</a:t>
            </a:r>
          </a:p>
          <a:p>
            <a:r>
              <a:rPr lang="en-US" sz="2000"/>
              <a:t>A) Computational Resources</a:t>
            </a:r>
          </a:p>
          <a:p>
            <a:r>
              <a:rPr lang="en-US" sz="2000"/>
              <a:t>B) Robustness</a:t>
            </a:r>
          </a:p>
          <a:p>
            <a:r>
              <a:rPr lang="en-US" sz="2000"/>
              <a:t>C) Interpretability</a:t>
            </a:r>
          </a:p>
          <a:p>
            <a:r>
              <a:rPr lang="en-US" sz="2000"/>
              <a:t>D) Data Characteristics</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In the context of evaluating supervised learning algorithms, if a model's decision-making process needs to be clearly understood and explained to stakeholders (e.g., in medical diagnosis), which factor would be prioritized?</a:t>
            </a:r>
          </a:p>
          <a:p>
            <a:r>
              <a:rPr lang="en-US" sz="2000"/>
              <a:t>A) Computational Resources</a:t>
            </a:r>
          </a:p>
          <a:p>
            <a:r>
              <a:rPr lang="en-US" sz="2000"/>
              <a:t>B) Robustness</a:t>
            </a:r>
          </a:p>
          <a:p>
            <a:r>
              <a:rPr lang="en-US" sz="2000"/>
              <a:t>C) Interpretability</a:t>
            </a:r>
          </a:p>
          <a:p>
            <a:r>
              <a:rPr lang="en-US" sz="2000"/>
              <a:t>D) Data Characteristics</a:t>
            </a:r>
          </a:p>
          <a:p>
            <a:endParaRPr lang="en-US" sz="2000"/>
          </a:p>
          <a:p>
            <a:endParaRPr lang="en-US" sz="2000"/>
          </a:p>
          <a:p>
            <a:r>
              <a:rPr lang="en-US" sz="2000" b="1"/>
              <a:t>Correct Answer: C) Interpretability</a:t>
            </a:r>
          </a:p>
          <a:p>
            <a:r>
              <a:rPr lang="en-US" sz="2000" b="1"/>
              <a:t>Explanation: Interpretability refers to how transparent and understandable a model's decision-making process is. In fields like medical diagnosis or finance, being able to explain why a specific prediction was made is crucial, making interpretability a top priority. The other factors are important but do not directly address the need for understanding the "why" behind predictions.</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A supervised learning model is being developed to distinguish between benign and malignant tumors based on patient data. This involves assigning each case to one of two distinct categories. Which of the following algorithms is not typically used for such a classification task?</a:t>
            </a:r>
          </a:p>
          <a:p>
            <a:r>
              <a:rPr lang="en-US" sz="2000"/>
              <a:t>A) Decision Trees</a:t>
            </a:r>
          </a:p>
          <a:p>
            <a:r>
              <a:rPr lang="en-US" sz="2000"/>
              <a:t>B) Support Vector Machines (SVM)</a:t>
            </a:r>
          </a:p>
          <a:p>
            <a:r>
              <a:rPr lang="en-US" sz="2000"/>
              <a:t>C) Linear Regression</a:t>
            </a:r>
          </a:p>
          <a:p>
            <a:r>
              <a:rPr lang="en-US" sz="2000"/>
              <a:t>D) Neural Networks</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4: A supervised learning model is being developed to distinguish between benign and malignant tumors based on patient data. This involves assigning each case to one of two distinct categories. Which of the following algorithms is not typically used for such a classification task?</a:t>
            </a:r>
          </a:p>
          <a:p>
            <a:r>
              <a:rPr lang="en-US" sz="2000"/>
              <a:t>A) Decision Trees</a:t>
            </a:r>
          </a:p>
          <a:p>
            <a:r>
              <a:rPr lang="en-US" sz="2000"/>
              <a:t>B) Support Vector Machines (SVM)</a:t>
            </a:r>
          </a:p>
          <a:p>
            <a:r>
              <a:rPr lang="en-US" sz="2000"/>
              <a:t>C) Linear Regression</a:t>
            </a:r>
          </a:p>
          <a:p>
            <a:r>
              <a:rPr lang="en-US" sz="2000"/>
              <a:t>D) Neural Networks</a:t>
            </a:r>
          </a:p>
          <a:p>
            <a:endParaRPr lang="en-US" sz="2000"/>
          </a:p>
          <a:p>
            <a:endParaRPr lang="en-US" sz="2000"/>
          </a:p>
          <a:p>
            <a:r>
              <a:rPr lang="en-US" sz="2000" b="1"/>
              <a:t>Correct Answer: C) Linear Regression</a:t>
            </a:r>
          </a:p>
          <a:p>
            <a:r>
              <a:rPr lang="en-US" sz="2000" b="1"/>
              <a:t>Explanation: Linear Regression is a regression algorithm designed to predict continuous numerical values. Classification tasks, like distinguishing between benign and malignant tumors, require algorithms that predict categorical outcomes. Decision Trees, SVM, and Neural Networks are all common algorithms used for classification.</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A company is building a spam email detector. They have a dataset of millions of emails, many of which are unlabeled, but a smaller subset has been manually labeled as 'spam' or 'not spam'. If the goal is to make use of both labeled and unlabeled data for training, which learning paradigm would involve combining supervised and unsupervised elements, but is not the focus of section 2.1?</a:t>
            </a:r>
          </a:p>
          <a:p>
            <a:r>
              <a:rPr lang="en-US" sz="2000"/>
              <a:t>A) Supervised Learning</a:t>
            </a:r>
          </a:p>
          <a:p>
            <a:r>
              <a:rPr lang="en-US" sz="2000"/>
              <a:t>B) Unsupervised Learning</a:t>
            </a:r>
          </a:p>
          <a:p>
            <a:r>
              <a:rPr lang="en-US" sz="2000"/>
              <a:t>C) Reinforcement Learning</a:t>
            </a:r>
          </a:p>
          <a:p>
            <a:r>
              <a:rPr lang="en-US" sz="2000"/>
              <a:t>D) Semi-Supervised Learning</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10000"/>
          </a:bodyPr>
          <a:lstStyle/>
          <a:p>
            <a:r>
              <a:rPr lang="en-US" sz="2000"/>
              <a:t>Question 5: A company is building a spam email detector. They have a dataset of millions of emails, many of which are unlabeled, but a smaller subset has been manually labeled as 'spam' or 'not spam'. If the goal is to make use of both labeled and unlabeled data for training, which learning paradigm would involve combining supervised and unsupervised elements, but is not the focus of section 2.1?</a:t>
            </a:r>
          </a:p>
          <a:p>
            <a:r>
              <a:rPr lang="en-US" sz="2000"/>
              <a:t>A) Supervised Learning</a:t>
            </a:r>
          </a:p>
          <a:p>
            <a:r>
              <a:rPr lang="en-US" sz="2000"/>
              <a:t>B) Unsupervised Learning</a:t>
            </a:r>
          </a:p>
          <a:p>
            <a:r>
              <a:rPr lang="en-US" sz="2000"/>
              <a:t>C) Reinforcement Learning</a:t>
            </a:r>
          </a:p>
          <a:p>
            <a:r>
              <a:rPr lang="en-US" sz="2000"/>
              <a:t>D) Semi-Supervised Learning</a:t>
            </a:r>
          </a:p>
          <a:p>
            <a:endParaRPr lang="en-US" sz="2000"/>
          </a:p>
          <a:p>
            <a:endParaRPr lang="en-US" sz="2000"/>
          </a:p>
          <a:p>
            <a:r>
              <a:rPr lang="en-US" sz="2000" b="1"/>
              <a:t>Correct Answer: D) Semi-Supervised Learning</a:t>
            </a:r>
          </a:p>
          <a:p>
            <a:r>
              <a:rPr lang="en-US" sz="2000" b="1"/>
              <a:t>Explanation: While section 2.1 focuses only on Supervised Learning, the question asks about a paradigm that combines labeled and unlabeled data, making Semi-Supervised Learning the correct answer. Standard Supervised Learning relies solely on labeled data, Unsupervised Learning on unlabeled data, and Reinforcement Learning is a different paradigm altogether.</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When selecting a supervised learning algorithm, considering whether it performs well in the presence of missing or incorrect input values relates to which factor?</a:t>
            </a:r>
          </a:p>
          <a:p>
            <a:r>
              <a:rPr lang="en-US" sz="2000"/>
              <a:t>A) Model Performance</a:t>
            </a:r>
          </a:p>
          <a:p>
            <a:r>
              <a:rPr lang="en-US" sz="2000"/>
              <a:t>B) Interpretability</a:t>
            </a:r>
          </a:p>
          <a:p>
            <a:r>
              <a:rPr lang="en-US" sz="2000"/>
              <a:t>C) Robustness</a:t>
            </a:r>
          </a:p>
          <a:p>
            <a:r>
              <a:rPr lang="en-US" sz="2000"/>
              <a:t>D) Computational Resources</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When selecting a supervised learning algorithm, considering whether it performs well in the presence of missing or incorrect input values relates to which factor?</a:t>
            </a:r>
          </a:p>
          <a:p>
            <a:r>
              <a:rPr lang="en-US" sz="2000"/>
              <a:t>A) Model Performance</a:t>
            </a:r>
          </a:p>
          <a:p>
            <a:r>
              <a:rPr lang="en-US" sz="2000"/>
              <a:t>B) Interpretability</a:t>
            </a:r>
          </a:p>
          <a:p>
            <a:r>
              <a:rPr lang="en-US" sz="2000"/>
              <a:t>C) Robustness</a:t>
            </a:r>
          </a:p>
          <a:p>
            <a:r>
              <a:rPr lang="en-US" sz="2000"/>
              <a:t>D) Computational Resources</a:t>
            </a:r>
          </a:p>
          <a:p>
            <a:endParaRPr lang="en-US" sz="2000"/>
          </a:p>
          <a:p>
            <a:endParaRPr lang="en-US" sz="2000"/>
          </a:p>
          <a:p>
            <a:r>
              <a:rPr lang="en-US" sz="2000" b="1"/>
              <a:t>Correct Answer: C) Robustness</a:t>
            </a:r>
          </a:p>
          <a:p>
            <a:r>
              <a:rPr lang="en-US" sz="2000" b="1"/>
              <a:t>Explanation: Robustness refers to how well an algorithm maintains its performance and accuracy when dealing with imperfections in the data, such as noise or missing values. Algorithms known for good robustness can handle such issues better, making them more reliable in real-world scenarios.</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A data scientist is working on a project to automatically classify news articles into predefined topics (e.g., 'Politics', 'Sports', 'Technology'). They have a large dataset of articles, each with a known topic label. Which supervised learning task and a commonly associated algorithm would be most appropriate for this problem?</a:t>
            </a:r>
          </a:p>
          <a:p>
            <a:r>
              <a:rPr lang="en-US" sz="2000"/>
              <a:t>A) Regression; Random Forest Regression</a:t>
            </a:r>
          </a:p>
          <a:p>
            <a:r>
              <a:rPr lang="en-US" sz="2000"/>
              <a:t>B) Classification; Naive Bayes</a:t>
            </a:r>
          </a:p>
          <a:p>
            <a:r>
              <a:rPr lang="en-US" sz="2000"/>
              <a:t>C) Clustering; K-Means</a:t>
            </a:r>
          </a:p>
          <a:p>
            <a:r>
              <a:rPr lang="en-US" sz="2000"/>
              <a:t>D) Dimensionality Reduction; PCA</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7: A data scientist is working on a project to automatically classify news articles into predefined topics (e.g., 'Politics', 'Sports', 'Technology'). They have a large dataset of articles, each with a known topic label. Which supervised learning task and a commonly associated algorithm would be most appropriate for this problem?</a:t>
            </a:r>
          </a:p>
          <a:p>
            <a:r>
              <a:rPr lang="en-US" sz="2000"/>
              <a:t>A) Regression; Random Forest Regression</a:t>
            </a:r>
          </a:p>
          <a:p>
            <a:r>
              <a:rPr lang="en-US" sz="2000"/>
              <a:t>B) Classification; Naive Bayes</a:t>
            </a:r>
          </a:p>
          <a:p>
            <a:r>
              <a:rPr lang="en-US" sz="2000"/>
              <a:t>C) Clustering; K-Means</a:t>
            </a:r>
          </a:p>
          <a:p>
            <a:r>
              <a:rPr lang="en-US" sz="2000"/>
              <a:t>D) Dimensionality Reduction; PCA</a:t>
            </a:r>
          </a:p>
          <a:p>
            <a:endParaRPr lang="en-US" sz="2000"/>
          </a:p>
          <a:p>
            <a:endParaRPr lang="en-US" sz="2000"/>
          </a:p>
          <a:p>
            <a:r>
              <a:rPr lang="en-US" sz="2000" b="1"/>
              <a:t>Correct Answer: B) Classification; Naive Bayes</a:t>
            </a:r>
          </a:p>
          <a:p>
            <a:r>
              <a:rPr lang="en-US" sz="2000" b="1"/>
              <a:t>Explanation: Classifying news articles into predefined topics is a classification task, as the output is a categorical label. Naive Bayes is explicitly mentioned as being particularly suitable for text classification tasks, such as sentiment analysis and spam detection, which are similar in nature to topic classification for news articles. Regression, Clustering, and Dimensionality Reduction are different types of tasks.</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lnSpcReduction="10000"/>
          </a:bodyPr>
          <a:lstStyle/>
          <a:p>
            <a:endParaRPr lang="en-US" sz="2000" dirty="0"/>
          </a:p>
          <a:p>
            <a:r>
              <a:rPr lang="en-US" sz="2000" dirty="0"/>
              <a:t>A new e-commerce startup, "</a:t>
            </a:r>
            <a:r>
              <a:rPr lang="en-US" sz="2000" dirty="0" err="1"/>
              <a:t>TrendFinds</a:t>
            </a:r>
            <a:r>
              <a:rPr lang="en-US" sz="2000" dirty="0"/>
              <a:t>," wants to personalize the user experience on its website. Specifically, they have two immediate goals:</a:t>
            </a:r>
          </a:p>
          <a:p>
            <a:endParaRPr lang="en-US" sz="2000" dirty="0"/>
          </a:p>
          <a:p>
            <a:r>
              <a:rPr lang="en-US" sz="2000" dirty="0"/>
              <a:t>1.  Product Recommendation: When a user visits a product page, </a:t>
            </a:r>
            <a:r>
              <a:rPr lang="en-US" sz="2000" dirty="0" err="1"/>
              <a:t>TrendFinds</a:t>
            </a:r>
            <a:r>
              <a:rPr lang="en-US" sz="2000" dirty="0"/>
              <a:t> wants to suggest a price range for similar, complementary items based on the current product's features (e.g., if a user views a high-end dress, suggest shoes in a matching premium price range).</a:t>
            </a:r>
          </a:p>
          <a:p>
            <a:r>
              <a:rPr lang="en-US" sz="2000" dirty="0"/>
              <a:t>2.  Product Categorization: When new products are added to their inventory, the system needs to automatically assign them to one of their existing main product categories (e.g., "Apparel," "Electronics," "Home Goods," "Beauty"). They have a large historical dataset of products with their correct categories.</a:t>
            </a:r>
          </a:p>
          <a:p>
            <a:endParaRPr lang="en-US" sz="2000" dirty="0"/>
          </a:p>
          <a:p>
            <a:r>
              <a:rPr lang="en-US" sz="2000" dirty="0"/>
              <a:t>Identify the appropriate supervised learning task for each of </a:t>
            </a:r>
            <a:r>
              <a:rPr lang="en-US" sz="2000" dirty="0" err="1"/>
              <a:t>TrendFinds</a:t>
            </a:r>
            <a:r>
              <a:rPr lang="en-US" sz="2000" dirty="0"/>
              <a:t>' goals and suggest one suitable algorithm for each task, briefly justifying your choices based on the principles of supervised learning.</a:t>
            </a:r>
          </a:p>
          <a:p>
            <a:endParaRPr lang="en-US" sz="2000" dirty="0"/>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70000" lnSpcReduction="20000"/>
          </a:bodyPr>
          <a:lstStyle/>
          <a:p>
            <a:r>
              <a:rPr lang="en-US" sz="2000"/>
              <a:t>Solution:</a:t>
            </a:r>
          </a:p>
          <a:p>
            <a:endParaRPr lang="en-US" sz="2000"/>
          </a:p>
          <a:p>
            <a:endParaRPr lang="en-US" sz="2000"/>
          </a:p>
          <a:p>
            <a:r>
              <a:rPr lang="en-US" sz="2000"/>
              <a:t>Goal 1: Product Recommendation (Price Range Suggestion)</a:t>
            </a:r>
          </a:p>
          <a:p>
            <a:endParaRPr lang="en-US" sz="2000"/>
          </a:p>
          <a:p>
            <a:r>
              <a:rPr lang="en-US" sz="2000"/>
              <a:t>Supervised Learning Task: Regression</a:t>
            </a:r>
          </a:p>
          <a:p>
            <a:r>
              <a:rPr lang="en-US" sz="2000"/>
              <a:t>Justification: The task involves predicting a "price range," which signifies a continuous numerical output (or a range defined by continuous numbers). Regression models are specifically designed to forecast such continuous values.</a:t>
            </a:r>
          </a:p>
          <a:p>
            <a:r>
              <a:rPr lang="en-US" sz="2000"/>
              <a:t>Suitable Algorithm: Linear Regression or Random Forest Regression.</a:t>
            </a:r>
          </a:p>
          <a:p>
            <a:r>
              <a:rPr lang="en-US" sz="2000"/>
              <a:t>Linear Regression: A suitable initial choice if the relationship between product features and price is assumed to be roughly linear, offering simplicity and interpretability.</a:t>
            </a:r>
          </a:p>
          <a:p>
            <a:r>
              <a:rPr lang="en-US" sz="2000"/>
              <a:t>Random Forest Regression: A more robust option if the relationship is complex and non-linear, as it leverages an ensemble of decision trees to capture intricate patterns and is less prone to overfitting than a single tree.</a:t>
            </a:r>
          </a:p>
          <a:p>
            <a:endParaRPr lang="en-US" sz="2000"/>
          </a:p>
          <a:p>
            <a:r>
              <a:rPr lang="en-US" sz="2000"/>
              <a:t>Goal 2: Product Categorization</a:t>
            </a:r>
          </a:p>
          <a:p>
            <a:endParaRPr lang="en-US" sz="2000"/>
          </a:p>
          <a:p>
            <a:r>
              <a:rPr lang="en-US" sz="2000"/>
              <a:t>Supervised Learning Task: Classification</a:t>
            </a:r>
          </a:p>
          <a:p>
            <a:r>
              <a:rPr lang="en-US" sz="2000"/>
              <a:t>Justification: This goal requires assigning new products to one of several predefined, distinct categories ("Apparel," "Electronics," etc.). This is a classic classification problem where the model learns to predict a categorical label. The availability of a large historical dataset with correct categories makes supervised classification the ideal approach.</a:t>
            </a:r>
          </a:p>
          <a:p>
            <a:r>
              <a:rPr lang="en-US" sz="2000"/>
              <a:t>Suitable Algorithm: Decision Trees or Support Vector Machines (SVM).</a:t>
            </a:r>
          </a:p>
          <a:p>
            <a:r>
              <a:rPr lang="en-US" sz="2000"/>
              <a:t>Decision Trees: They are highly interpretable and can effectively handle various product features (both numerical and categorical). They create clear rules for categorization.</a:t>
            </a:r>
          </a:p>
          <a:p>
            <a:r>
              <a:rPr lang="en-US" sz="2000"/>
              <a:t>Support Vector Machines (SVM): Excellent for distinguishing between different product categories, especially when the data might have complex, non-linear boundaries between categories through the use of kernel functions.</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0412708" cy="3219815"/>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Understanding the fundamental concepts of supervised learning.</a:t>
            </a:r>
          </a:p>
          <a:p>
            <a:pPr>
              <a:lnSpc>
                <a:spcPct val="115000"/>
              </a:lnSpc>
              <a:spcAft>
                <a:spcPts val="1000"/>
              </a:spcAft>
            </a:pPr>
            <a:r>
              <a:rPr lang="en-US" dirty="0">
                <a:latin typeface=""/>
                <a:ea typeface="Times New Roman"/>
                <a:cs typeface="Times New Roman"/>
              </a:rPr>
              <a:t>•   Exploration of the different types of supervised learning algorithms and their applications.</a:t>
            </a:r>
          </a:p>
          <a:p>
            <a:pPr>
              <a:lnSpc>
                <a:spcPct val="115000"/>
              </a:lnSpc>
              <a:spcAft>
                <a:spcPts val="1000"/>
              </a:spcAft>
            </a:pPr>
            <a:r>
              <a:rPr lang="en-US" dirty="0">
                <a:latin typeface=""/>
                <a:ea typeface="Times New Roman"/>
                <a:cs typeface="Times New Roman"/>
              </a:rPr>
              <a:t>•   Differentiating between classification and regression tasks in supervised learning.</a:t>
            </a:r>
          </a:p>
          <a:p>
            <a:pPr>
              <a:lnSpc>
                <a:spcPct val="115000"/>
              </a:lnSpc>
              <a:spcAft>
                <a:spcPts val="1000"/>
              </a:spcAft>
            </a:pPr>
            <a:r>
              <a:rPr lang="en-US" dirty="0">
                <a:latin typeface=""/>
                <a:ea typeface="Times New Roman"/>
                <a:cs typeface="Times New Roman"/>
              </a:rPr>
              <a:t>•   Identification of key factors for selecting appropriate supervised learning algorithms.</a:t>
            </a:r>
          </a:p>
          <a:p>
            <a:pPr>
              <a:lnSpc>
                <a:spcPct val="115000"/>
              </a:lnSpc>
              <a:spcAft>
                <a:spcPts val="1000"/>
              </a:spcAft>
            </a:pPr>
            <a:r>
              <a:rPr lang="en-US" dirty="0">
                <a:latin typeface=""/>
                <a:ea typeface="Times New Roman"/>
                <a:cs typeface="Times New Roman"/>
              </a:rPr>
              <a:t>•   Gaining insights into the strengths and weaknesses of various supervised learning algorithms.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3382</Words>
  <Application>Microsoft Office PowerPoint</Application>
  <PresentationFormat>Widescreen</PresentationFormat>
  <Paragraphs>299</Paragraphs>
  <Slides>32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Aptos Display</vt:lpstr>
      <vt:lpstr>Arial</vt:lpstr>
      <vt:lpstr>Avenir</vt:lpstr>
      <vt:lpstr>Calibri</vt:lpstr>
      <vt:lpstr>Cambria Math</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idol</dc:creator>
  <cp:lastModifiedBy>Mohamed Ali</cp:lastModifiedBy>
  <cp:revision>46</cp:revision>
  <dcterms:created xsi:type="dcterms:W3CDTF">2025-07-09T10:39:06Z</dcterms:created>
  <dcterms:modified xsi:type="dcterms:W3CDTF">2026-10-28T07:10:23Z</dcterms:modified>
</cp:coreProperties>
</file>