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7" r:id="rId2"/>
    <p:sldId id="259" r:id="rId3"/>
    <p:sldId id="263" r:id="rId4"/>
    <p:sldId id="278" r:id="rId5"/>
    <p:sldId id="279" r:id="rId6"/>
    <p:sldId id="280" r:id="rId7"/>
    <p:sldId id="281" r:id="rId8"/>
    <p:sldId id="282" r:id="rId9"/>
    <p:sldId id="283" r:id="rId10"/>
    <p:sldId id="284" r:id="rId11"/>
    <p:sldId id="285" r:id="rId12"/>
    <p:sldId id="286" r:id="rId13"/>
    <p:sldId id="260" r:id="rId14"/>
    <p:sldId id="277" r:id="rId15"/>
    <p:sldId id="276" r:id="rId16"/>
    <p:sldId id="275" r:id="rId17"/>
    <p:sldId id="274" r:id="rId18"/>
    <p:sldId id="273" r:id="rId19"/>
    <p:sldId id="272" r:id="rId20"/>
    <p:sldId id="271" r:id="rId21"/>
    <p:sldId id="270" r:id="rId22"/>
    <p:sldId id="269" r:id="rId23"/>
    <p:sldId id="268" r:id="rId24"/>
    <p:sldId id="267" r:id="rId25"/>
    <p:sldId id="266" r:id="rId26"/>
    <p:sldId id="265" r:id="rId27"/>
    <p:sldId id="261" r:id="rId28"/>
    <p:sldId id="264" r:id="rId29"/>
    <p:sldId id="26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66" userDrawn="1">
          <p15:clr>
            <a:srgbClr val="A4A3A4"/>
          </p15:clr>
        </p15:guide>
        <p15:guide id="4" pos="75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71" autoAdjust="0"/>
    <p:restoredTop sz="94660"/>
  </p:normalViewPr>
  <p:slideViewPr>
    <p:cSldViewPr snapToGrid="0" showGuides="1">
      <p:cViewPr>
        <p:scale>
          <a:sx n="100" d="100"/>
          <a:sy n="100" d="100"/>
        </p:scale>
        <p:origin x="98" y="-132"/>
      </p:cViewPr>
      <p:guideLst>
        <p:guide orient="horz" pos="2160"/>
        <p:guide pos="3840"/>
        <p:guide pos="166"/>
        <p:guide pos="75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38:05.744"/>
    </inkml:context>
    <inkml:brush xml:id="br0">
      <inkml:brushProperty name="width" value="0.05292" units="cm"/>
      <inkml:brushProperty name="height" value="0.05292" units="cm"/>
      <inkml:brushProperty name="color" value="#FF0000"/>
    </inkml:brush>
  </inkml:definitions>
  <inkml:trace contextRef="#ctx0" brushRef="#br0">14486 8235 0,'25'0'93,"0"0"-77,-1 0 0,1 0-1,25 0 1,-25 0-1,24 0 17,-24 0-17,0 0-15,0 0 16,-1 0-16,51 0 16,98 0-1,-73 0-15,73 0 16,26 0-1,74 0 1,24 0 0,1 0-1,-100-25 1,1-24 0,-100 49-1,25 0 1,-50 0 15,1 0-31,-26 0 16,100 0-1,-74 0 1,24 0 0,0 0-1,25 0 1,-74 0-1,-25 0 1,-1 0 0,26 0-1,-25 0 1,24 0 0,75 0-1,-74 25 1,0-1 15,-1 1-15,-24 0-1,25-25 1,24 50 0,-49-50-1,49 0 1,1 0-1,-26 0 1,75 0 0,-49 0-1,24 0 1,-25 0 0,-24 0-1,0 0 16,-1 0-15,26 0 0,-26 0-16,-24 0 15,25 0 17,-26 0-17,1 0 1,0 0-1,0 0 1,24 0 0,-24 0-1,25 0 1,-25 0 31,24 0-16,26 0 0,-50 0 1,24 0-17,-24 0 48</inkml:trace>
  <inkml:trace contextRef="#ctx0" brushRef="#br0" timeOffset="2425.07">5953 8161 0,'50'0'110,"49"0"-95,-74 0-15,49 0 16,50 0-1,99 0 1,1 0 0,-125 0-1,-25 0 1,-49 0 0,25 0 15,-25 0 0,24 0-15,-24 0-16,25 25 15,-26-25 1,26 0 0,0 0-1,24 0 1,-24 0-1,49 0 1,-74 0 0,49 0-1,-49 0 17</inkml:trace>
  <inkml:trace contextRef="#ctx0" brushRef="#br0" timeOffset="3882.68">9178 8285 0,'99'0'93,"248"25"-77,-74-25 0,521 24-1,-248-24 1,-150 0-1,-148 0 17,-148 0-17,-76 0 48,1 0-16,0 0 31,0 0-31,24 0-16,1 0 0,-25 0-15,0 0 31</inkml:trace>
  <inkml:trace contextRef="#ctx0" brushRef="#br0" timeOffset="31481.6">6077 7466 0,'0'0'0,"25"0"31,0 0 0,49 0 1,-49 0-17,124 0 1,74 0 15,50 0-15,-75 0-1,75 0 1,25 0 0,74 0-1,-50 0 1,-24 0-1,0 0 1,-25 0 0,-174 0-16,0 0 15,25 0-15,-25 0 16,50 0-16,0 0 16,347 0-1,-124 0 1,-50 0 15,-148 0-15,-50 0-1,0 0 1,-49 0 0,24 0-1,50 0 1,-50 0-16,-25 0 15,125 0 1,-100 0-16,124 0 16,50 0-1,25 0 1,49 0 0,-124 0-1,-49 0 16,49 0-15,-99 0 0,-50 0-16,-49 0 15,75 0-15,-26 0 16,0 0-16,-24 0 16,124 0-1,-1 0 1,-74 0-1,50 0 1,25 0 0,-75 0-1,-24 0 1,-26 0 0,1 0-1,-25 0 16,-1 0-15,1 0 0,25 0 62,-25 0-63,49 0 1,25 0 0,50 0-1,0 0 1,-50 0-16,100 0 16,-1 0 15,-24 0-16,24 0 1,25 0 0,50 0-1,-124 0 1,0 0 0,-25 0-1,-25 0 1,-74 0-16,24 0 15,75 0 1,0 0 0,25-49-1,0 49 1,-50-25 15,50 0-15,-25 0-1,-74 25-15,-1 0 16,75-25 0,0 1-1,-49 24-15,-50 0 16,124 0 0,-75 0-1,0 0 1,-49 0-1,50 0 1,-51 0 0,26 0-1</inkml:trace>
  <inkml:trace contextRef="#ctx0" brushRef="#br0" timeOffset="39050.94">12923 9947 0,'25'-50'62,"25"25"-15,-26 25-31,26-25-1,24 25 1,75 0-1,75 0 1,-1 0 0,-25 0-1,50 0 17,-24 0-17,24 0 1,-75 0-1,-74 0-15,1 0 16,172 0 0,-48-24-1,-51 24 1,26 0 0,-75-25-1,49 25 1,-24 0-1,-25 0 1,0 0 0,-49 0-1,-26 0 1,-24 0-16,74 0 16,-24 0-1,-50 0 1,-1 0-1,1 0 1,25 0 0,-25 0 15,24 0-15,1 0-1,-25 0 1,-1 0 15</inkml:trace>
  <inkml:trace contextRef="#ctx0" brushRef="#br0" timeOffset="40578.94">18231 9971 0,'149'0'140,"149"0"-124,99 0 0,-25 0-1,-99-49 1,-50 49 15,-124 0-31,0-25 16,-74 25-1</inkml:trace>
  <inkml:trace contextRef="#ctx0" brushRef="#br0" timeOffset="44833.25">23192 9872 0,'100'0'172,"24"0"-156,-75 0-16,100 0 16,-50 0-1,-74 0 1,25 0-1,-26 0 1,26 0 15,0 0-31,-1 0 16,26 0 0,-26 0-1,51 0 1,48 0-1,1 0 1,25 0 0,-25-25-1,24 25 1,-73 0 0,-1 0-1,-50 0-15,26 0 16,24 0-1,0 0 17,-24 0-17,24 0 1,0 0 0,50 0-1,-50 0 1,25 0-1,0 0 1,-74 0-16,-1 0 16,150-24-1,-100-1 1,0 0 0,25 25-1,0-25 1,0 25-1,25-25 17,-74 1-17,-1 24 1,-49 0-16,0 0 16,24 0-1,1 0-15,-1 0 16,26 0-1,-26 0 1,-24 0 0,50 0-1,-26 0 1,26 0 0,-26 0-1,1 0 1,0 0 15,-26 0-31,76 0 31,-1 24-15,25-24 0,0 0-1,-50 50 1,25-25-1,-74-25 1,0 0 0</inkml:trace>
</inkml:ink>
</file>

<file path=ppt/ink/ink2.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39:25.890"/>
    </inkml:context>
    <inkml:brush xml:id="br0">
      <inkml:brushProperty name="width" value="0.05292" units="cm"/>
      <inkml:brushProperty name="height" value="0.05292" units="cm"/>
      <inkml:brushProperty name="color" value="#FF0000"/>
    </inkml:brush>
  </inkml:definitions>
  <inkml:trace contextRef="#ctx0" brushRef="#br0">16098 8310 0,'25'-25'140,"25"25"-124,74 0 0,25-50-1,24 25 1,26 1 15,49 24-15,0-50-1,49 50 1,-98 0 0,-50 0-1,-100 0 1,1 0-16,-25 0 15,24 0 1,1 0 0,24 0-1,-24 0 1,49 0 0,25 0-1,0 0 1,-25 0 15,-24 0-15,-50 0-16,24 0 15,-24 0-15,0 0 16,49 0 0,-49 0-1,25 0 1,-26 0-1,1 0 1,25 0 0,-1 25 15,1 24 0</inkml:trace>
  <inkml:trace contextRef="#ctx0" brushRef="#br0" timeOffset="6069.9">17363 10988 0,'25'0'172,"124"0"-141,-75 0-16,125 75 1,-26-75 0,1 0-1,-25 25 1,-75-25 0,50 0-1,-49 0 1,98 0-1,-98 0-15,24 0 16,-25 0-16,26 0 16,172 0-1,-172 0 1,-26 0 0,1 0 15,-1 0-16,-24 24 1,49 1 0,-50-25-1,51 0 1,-1 0 0,25 0-1,-99 0-15,123 0 16,26 0-1,0 0 1,-1 0 0,-49 0-1,25 0 1,-50 0 15,1 0-15,-26 0-1,0 0 1,1 0-16,-26 0 16,200 0-1,-76 0 1,50 0 0,-24 0-1,24 0 1,-49 0-1,-75 0 1,25 0 0,-25 0 15,-74 0-31,0 0 16,24 0-1,-24 0-15,50 0 16,24 0-1,0 0 1,-25 0 0,1 0-1,-50 0 17,49 0-1,-24 0-16,-25 0 1,49 0 0,-24 0 15,-26 0-15,26 0-1,-25 0 1,24 0 15</inkml:trace>
  <inkml:trace contextRef="#ctx0" brushRef="#br0" timeOffset="14055.72">15949 12601 0,'50'0'78,"-25"0"-62,74 0-1,50 0 1,-124 0-16,49 0 16,224 25-1,-149-1 1,-1-24 0,-24 0-1,25 50 1,-25-50-1,75 25 1,24 0 0,-25-25 15,1 0-15,-26 0-1,-73 0-15,-26 0 16,125 0-1,-75 0 1,49 0 0,-24 0-1,0 0 1,49 0 0,75 0-1,0 0 1,-75 0-1,-74 0-15,-49 0 16,49 0 0,0 0-16,198 0 31,-123 0-15,-125 0-1,50 0 1,-74 0-1,24 0 1,1 0 0,-1 0-1,1 0 1,-51 0-16,1 0 16,0 0-16,49 0 15,50 0 1,0 0-1,0 0 1,50 0 15,-50 0-15,50 0 0,-25 0-1,-50 0 1,-25 0-1,-24 0 1,24 0 0,-24 0-1,-25 0 1,24 0 0,1 0-1,-1 0 1,1 0-1,-25 0 17,49 0-17,-24 0 1,-1 0 0,-24 0-16</inkml:trace>
  <inkml:trace contextRef="#ctx0" brushRef="#br0" timeOffset="16523.57">25102 12601 0,'100'0'156,"247"0"-124,50 0-1,272 0 0,-545 0-31,298 0 31,-273-50-15,-50 25-16,-49 25 16,74 0-1,-75 0-15,26-24 16,-26 24 0,1 0-1,-25 0 1,24 0 46</inkml:trace>
  <inkml:trace contextRef="#ctx0" brushRef="#br0" timeOffset="18367.8">1984 13320 0,'50'0'47,"-25"0"-16,49 0-16,199 0 1,0 0 0,25 0-1,123 0 1,-24 0 0,-50 0-1,-49 0 1,-50 0-1,-149 0-15,-24 0 16,222 0 15,-148 0-15,-25 0 0,-74 0-1,-25 0 1</inkml:trace>
</inkml:ink>
</file>

<file path=ppt/ink/ink3.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43:16.218"/>
    </inkml:context>
    <inkml:brush xml:id="br0">
      <inkml:brushProperty name="width" value="0.05292" units="cm"/>
      <inkml:brushProperty name="height" value="0.05292" units="cm"/>
      <inkml:brushProperty name="color" value="#FF0000"/>
    </inkml:brush>
  </inkml:definitions>
  <inkml:trace contextRef="#ctx0" brushRef="#br0">22324 9897 0,'25'0'125,"74"0"-109,0 0-1,25 0 1,50 0-1,99 50 1,-99-50-16,173 0 16,-99 0-1,-99 0 1,24 0 0,-123 0-1,0 0 16,-26 0-15,1 0 0,0 0-16,0 0 15,0 24 1,24-24 0,-24 0-16,0 0 15,24 0 1,1 0 46,-25 0 1,0 0-48,-1 0 1,1 0 0,0 0 31,25 0-16,-26 0 63</inkml:trace>
  <inkml:trace contextRef="#ctx0" brushRef="#br0" timeOffset="1368.34">25450 9847 0,'99'-24'109,"174"24"-77,148 0-1,-222 24-15,-50-24-1,-25 0 1,24 0-1,-24 0 1,1 0 0,23 0-1,-48 0 1,-1 0 0,50 50-1,-1-50 1,-73 0-16,-26 0 15,125 0 1,-75 0 0,-24 0 15,-1 0-15,-24 0-1,-1 0 1,-24 0-1,50 0 1,-1 0 0,25 25-1,25-25 1,-99 0 0,49 25-1,-49-1 16</inkml:trace>
  <inkml:trace contextRef="#ctx0" brushRef="#br0" timeOffset="3057.33">2009 10864 0,'174'0'109,"-50"0"-93,322 50-1,100-25 1,-248-25-16,123 0 16,522 25-1,-472-25 1,-148 0-1,-26 0 1,-148 0 0,-25 0-1,-99 0 17,25 0 14</inkml:trace>
</inkml:ink>
</file>

<file path=ppt/ink/ink4.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48:32.330"/>
    </inkml:context>
    <inkml:brush xml:id="br0">
      <inkml:brushProperty name="width" value="0.05292" units="cm"/>
      <inkml:brushProperty name="height" value="0.05292" units="cm"/>
      <inkml:brushProperty name="color" value="#FF0000"/>
    </inkml:brush>
  </inkml:definitions>
  <inkml:trace contextRef="#ctx0" brushRef="#br0">2828 8310 0,'49'0'78,"-24"0"-62,0 0-1,124 0 1,148-25 0,125 25-1,74 0 1,50-25 0,0-74-1,-1 99 1,-321 0 15,48 0-15,-24 0-1,-49 0 1,-100 0-16,25 0 16,25 0-1,-50 0 1,0 0-1,125 0 1,48 0 0,-73 0-1,-50 0 1,0 0 0,-75 0-1,-49 0 1,24 0-1,26 0-15,-50 0 16,99 0 0,-25 0-1,-25 0 1,1 0 0,-50 0-1,24 0 1,-24 0-1,0 0 1,0 0 15,24 0-15,-24 25 0</inkml:trace>
  <inkml:trace contextRef="#ctx0" brushRef="#br0" timeOffset="4112.93">7739 10740 0,'25'0'141,"0"0"-125,-1 0 15,1 0-15,0 0-16,49 0 15,-49 0 1,50 0-16,24 0 15,149 0 1,-50 0 0,50 0-1,75 25 1,-50 0 0,49-25-1,-24 0 1,24 0-1,-123 0 17,-75 0-32,-25 0 15,199 0 1,-125 0 0,-49 0-1,50 0 1,0 0-1,-1 0 1,-24 0 0,0 0-1,0 0 1,-75 0 0,1 0-1,-26 0-15,-24 0 16,25 0-1,24 0 17,-24 0-17,24 0 1,50 0 0,-74 0-1,24 0 1,25 0-1,-24 0 1,-1 0 0,75 0-1,-124 0-15,124 0 16,-100 0 0,75 25-1,-49-25 1,24 0 15,-25 0-15,-24 0-1,-1 0 1</inkml:trace>
  <inkml:trace contextRef="#ctx0" brushRef="#br0" timeOffset="7849.3">13965 10864 0,'0'25'63,"50"-25"-48,-26 0 1,26 0 15,-25 0-15,49 0-1,224 0 1,99 25 0,-199-25-16,25 0 15,373 25 1,-423 24 0,-24-49-1,-50 0 1,1 0-1,-1 0 1,25 0 0,25 0-1,24 0 17,-73 0-32,24 0 15,-25 0-15,-25 0 16,125 0-1,-100 0-15,99 0 16,-74 0 0,-24 0-1,-26 0 1,-24 0 0,-26 0-1,51 0 1,-50 0 31,-1 0-16</inkml:trace>
  <inkml:trace contextRef="#ctx0" brushRef="#br0" timeOffset="-189201.93">2952 12452 0,'0'0'0,"0"-25"94,25 25-63,24 0 0,50 0 0,1 0-15,98 0 0,0 0-1,-123 0-15,-1 25 16,249 25-1,-100-50 1,25 74 0,75-49-1,-51-25 1,76 0 0,24 0 15,-223 0-31,-1 0 15,-98 0-15,24 0 16,50 0 0,25 0-16,-50 0 15,199 0 1,-75 0 0,1 0-1,-26 0 1,-24 0-1,49 0 1,0 0 0,124 0-1,1 0 1,24 0 15,198 0-15,-371 0-1,24 0 1,-74 0 0,0 0-1,-1 0 1,26 0 0,99 0-1,0 0 1,-50 0-1,25 0 1,-149 0-16,-24 0 16,98 0 15,-148 0-15,50 0-1,-26 0 1,-24 0-1,25 0 1</inkml:trace>
  <inkml:trace contextRef="#ctx0" brushRef="#br0" timeOffset="-149709.8">2853 14957 0,'24'0'141,"1"0"-126,50 0 1,-26 0 0,1 0-16,49 0 15,75 0 1,74 0-1,49 0 17,-24 0-17,-99 0 1,-1 0 0,-73 0-1,24 0 1,25 0-1,-125 0-15,76 0 16,247 0 0,-198 0-1,24 0 1,-98 0 0,24 0-1,-25 0 1,50 0 15,-49 0-15,-1 0-1,-24 0-15,24 25 16,100 0 0,-1 0-1,-24-25 1,0 0-1,50 0 1,-26 0 0,26 0-1,-26 0 1,-49 0 0,-25 0-1,26 0 16,-51 24-31,-49-24 16,198 25 0,-99 0-1,25-25 1,0 0 0,-1 0-1,26 0 1,0 0-1,-1 0 1,-24 0 0,-74 0-16,-1 0 15,0 0-15,-24 0 16,49 0 0,-74 0 15,0 0-16,25 0 1,-26 25 0,26-25 15,-25 0-15,24 0 15</inkml:trace>
</inkml:ink>
</file>

<file path=ppt/ink/ink5.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54:48.868"/>
    </inkml:context>
    <inkml:brush xml:id="br0">
      <inkml:brushProperty name="width" value="0.05292" units="cm"/>
      <inkml:brushProperty name="height" value="0.05292" units="cm"/>
      <inkml:brushProperty name="color" value="#FF0000"/>
    </inkml:brush>
  </inkml:definitions>
  <inkml:trace contextRef="#ctx0" brushRef="#br0">4762 9252 0,'25'-25'157,"0"25"-126,25 0 0,148 0 0,174 0 1,75 0-1,-298 50-15,-1-25-1,-73-25 1,24 0-1,25 0 1,-25 0-16,-24 0 16,173 0-1,-99 0 1,24 0 0,-49 0-1,25 0 1,-50 25-1,0-1 1,50-24 15,0 50-15,-74-50-16,49 0 16,0 0-16,24 0 15,274 0 1,-75 0-1,-49 0 1,24 0 0,-98 0-1,-51 0 1,-24 0 0,25 0-1,-25 0 1,-1 0-1,76 0 17,-75 0-32,123 0 15,-48 0 1,73 0 0,-49 0-1,-49 0 1,148 0-1,-149 0 1,26 0 0,123 0-1,-149 0 1,-24 0 0,24 0-1,-148 0-15,149 0 16,24 0 15,-25 0-15,-49 0-1,-25 0 1,-50 0 0,-24 0-1,49 0 1,-49 0-1,49 0 1,-74 0-16,25-25 16,-26 25-1,1 0 48</inkml:trace>
</inkml:ink>
</file>

<file path=ppt/ink/ink6.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56:22.850"/>
    </inkml:context>
    <inkml:brush xml:id="br0">
      <inkml:brushProperty name="width" value="0.05292" units="cm"/>
      <inkml:brushProperty name="height" value="0.05292" units="cm"/>
      <inkml:brushProperty name="color" value="#FF0000"/>
    </inkml:brush>
  </inkml:definitions>
  <inkml:trace contextRef="#ctx0" brushRef="#br0">16346 5730 0,'75'0'234,"98"25"-203,-148-25-31,322 49 32,1-24-17,24 0 1,25-25-1,-199 0-15,-49 0 16,198 0 0,-173 0-16,-25 0 15,-50 0-15,74 0 16,224 0 0,-49 0-1,-76 0 1,26 0-1,-75 0 1,-24 0 0,-50 0-1,24 0 17,-74 0-17,-24 0-15,-50 0 16,148-25-1,-49 0 1,25 25 0,-50-25-1,25 25 1,-49-49 0,-50 49-1,24 0 1</inkml:trace>
  <inkml:trace contextRef="#ctx0" brushRef="#br0" timeOffset="3784.76">23763 5730 0,'25'0'109,"24"0"-93,-24 0-1,74 0 1,1 0 0,148 0-1,99 0 1,298 0-1,-149 0 1,-50 0 0,1 0 15,-25 0-15,49 0-1,-74 0 1,-25 49-1,-50-49 1,-148 0 0,-125 0-16,26 0 15,99 25 1,-100-25 0,0 0-1,-49 0 1,25 0-1,-25 0 1,24 25 15,-24-25 1,25 0-17,-26 0 1,26 0-1,-25 0 657</inkml:trace>
  <inkml:trace contextRef="#ctx0" brushRef="#br0" timeOffset="22752.58">14684 10864 0,'25'0'140,"25"-24"-124,-1 24 0,1-25 15,-25 25-31,0 0 16,322-50-1,-198 50 1,-25 0-1,49 0 1,-73 0 0,73 0-1,75 0 1,50 0 0,-25 0-1,-174 0-15,0 0 16,298 0-1,-174 0 1,-24 0 15,-50 0-15,24 0 0,26 0-1,-75 50 1,25-50-1,-50 0 1,-50 25-16,1-25 16,74 24-16,-50-24 15,199 50 1,-99-50 0,49 25-1,25 0 1,-74-25-1,24 0 1,-49 0 15,49 0-15,-24 0 0,-75 0-16,-24 0 15,24 0-15,-74 0 16,124 0-1,-1 0 1,1 0 0,25 0-1,-75 0 1,0 0 0,50 0-1,-25 0 1,50 0-1,49 0 17,-49 0-17,-100 0-15,25 0 16,125 0 0,-125 0-1,-25 0 1,-49 0-1,25 0 1,24 0 0,-24 0-1,49 0 1,-25 0 0,-49 0-16,74 0 31,1 0 0,-1 0-15,-74 0-1,123 0 1,-73 49 0,-26-49-1,26 0 1,-1 0-1,-24 25 1,24-25 0,50 25-1,-49-25 1,-1 0 0,-24 0-1,-25 0 16,24 0-15,1 0 15,-1 0-15,-24 0-16,25 0 31,-1 0-15,-24 0-1,25 0 1,-25 0 15,-1 0-15,1 0 0,0 0 46,25 0-46</inkml:trace>
</inkml:ink>
</file>

<file path=ppt/ink/ink7.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57:23.033"/>
    </inkml:context>
    <inkml:brush xml:id="br0">
      <inkml:brushProperty name="width" value="0.05292" units="cm"/>
      <inkml:brushProperty name="height" value="0.05292" units="cm"/>
      <inkml:brushProperty name="color" value="#FF0000"/>
    </inkml:brush>
  </inkml:definitions>
  <inkml:trace contextRef="#ctx0" brushRef="#br0">11733 8310 0,'49'0'156,"26"0"-124,24 0-17,0 0 1,-25 0-16,-24 0 16,124 0-1,-75 0-15,25 0 16,0 0-16,50 0 15,148 0 1,-74 0 0,-25 0-1,75 0 1,-25 0 0,149 0-1,-26-50 1,-123 25-1,-49-24 17,-125 24-17,-50 25 1,-24 0 0,0 0-1,0 0 1,0 0 15,24 0-15,-24 0-1,0 0 1,0 0 0,-1 0 202,1 25-218</inkml:trace>
  <inkml:trace contextRef="#ctx0" brushRef="#br0" timeOffset="1682.19">17611 8334 0,'0'0'0,"25"0"156,74 0-140,1 0-16,73 0 16,323 25-1,-248-25-15,100 0 16,197 0-1,-73 0 1,-100 0 0,-75 0-1,26 0 17,-150 0-17,-49 0 1,-74 0-16,0 0 15,-1 0-15,1 0 16,-25 0 0,-1 0-1,1 0 1,0 0 0,0 0 15,25 0-16,-26 0 17,76 0-1,24-25-15,-25 25-1,-25 0-15,25 0 16,50 0-1,25 0 1,-100 0 0,1 0-1,-1 0 1,-49 0 15,0 0 94</inkml:trace>
  <inkml:trace contextRef="#ctx0" brushRef="#br0" timeOffset="4178.18">24954 8210 0,'49'0'156,"50"0"-140,-24 0-16,24 0 15,422 0 1,-124 0 0,99 0-1,0 0 1,25 0-1,-25 0 1,-149 0 0,-24 0 15,-125-49-15,-24-26-16,-25 51 15,-25-1 1,-75 25-16,1-50 15,-25 50 1,-1-25 0,26 25 15,-25 0-15,24 0-1,26 0 1,-26-25-1</inkml:trace>
  <inkml:trace contextRef="#ctx0" brushRef="#br0" timeOffset="22571.2">21282 10815 0,'-24'0'234,"123"0"-218,-74 0 0,74 0-1,-25 0 1,25 0-1,-24 25 1,24-1 0,25-24-1,-25 25 1,1-25 0,-26 25-1,0-25 1,-49 0 15,25 0-31,-1 0 16,-24 0-1,50 0 1,24 0 0,0 0-1,25 0 1,0 0-1,25 0 1,-124 0-16,74 0 16,0 0-16,0 0 15,75 0 1,49 0 0,-74 0-1,0 0 1,-25 0 15,-50 0-15,1 0-1,24 0 1,25 0 0,0 0-1,0 0 1,-74 0-16,24 0 15,-24 0-15,49 0 16,0 0 0,0 0-1,-24 0 1,-1 0 0,-49 0 15,49 0-16,1 0 1,-1 0 0,-24 0-1,-25 0 1,24 0 0,26 0-1,-26 0 1,1 0-1,24 0 1,1 0 0,24 0-1,-25 0 1,1 0 0,-50 0 15,24 0-16,-24 0-15,25 0 16,-26 0 15,1 0 1,0 0-1,0 0 31,0 0-15</inkml:trace>
</inkml:ink>
</file>

<file path=ppt/ink/ink8.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58:40.589"/>
    </inkml:context>
    <inkml:brush xml:id="br0">
      <inkml:brushProperty name="width" value="0.05292" units="cm"/>
      <inkml:brushProperty name="height" value="0.05292" units="cm"/>
      <inkml:brushProperty name="color" value="#FF0000"/>
    </inkml:brush>
  </inkml:definitions>
  <inkml:trace contextRef="#ctx0" brushRef="#br0">8285 7491 0,'25'0'172,"24"0"-141,-24 0-15,0 0 0,74 0-1,-74 0 1,49 0 0,1 0-1,49 0 1,-25 0-1,50 0 1,148 0 0,-24 0-1,-74 0 1,24 0 0,-149 0-1,-24 0 1,148 0-1,-74 0 1,25 0 0,-25 0-1,25 0 1,0 0 0,0 0-1,-50 0 1,50 0-1,-100 0-15,26 0 16,-26 0-16,-24 0 16,124 0-1,0 0 1,24 0 15,1 0-15,-50 0-1,50 0 1,-25 0 0,-25 0-1,74 0 1,-124 0-16,1 0 16,-25 0-16,-26 0 15,51 0 1,-26 0-1,1 0 1,-25 0 0,49 0-1,-24 0 17,-1 0-17,1 0 1,24 0-1,-49 0 17,0 25-17,49-25 1,-49 0 0,0 25-1,0-25 63</inkml:trace>
  <inkml:trace contextRef="#ctx0" brushRef="#br0" timeOffset="2933.94">2580 9500 0,'0'-25'78,"74"25"-47,-24 0-15,24 0-1,50 0 1,124 0 0,75 0-1,49 0 1,0 0 0,-223 0-16,49 0 15,25 0 1,-173 0-16,74 0 15,-74 0 1,-1 0 0,50 0-1,1 0 17,24 0-17,-25 0 1,25 0-1,25 0 1,0 0 0,-75 0-16,0 0 15,199 0 1,-50 0 0,-24 0-1,-50 0 1,24 0-1,1 0 1,24 0 0,-24 0 15,-50 0-15,-25 0-16,-24 0 15,98 0 1,-98 0-16,74 0 15,49 0 1,-24 0 0,-50 0-1,49 0 1,-98 0 0,74 0-1,-1 0 1,1 0-1,74 0 1,-123 0 0,-26 0-1,-24 0-15,99 0 16,-1 0 0,-24 0-1,-49 0 1,24 0-1,-25 0 1,-49 0 0,50 0-1,-51 0 1,26 0 0,-25 0-16,0 0 15,49 0 1,-49 0-1,24 0 17,-24 0-17,25 0 1,-25 0 0,74 0-1,-49 0 1,49 0-1,-50 0 1,26 0 0,-50 0 15</inkml:trace>
  <inkml:trace contextRef="#ctx0" brushRef="#br0" timeOffset="55062.88">2803 11509 0,'25'0'78,"24"0"-63,1 0 1,49 0 0,100 0-1,24 0 1,50 0 0,99 0-1,-199 0-15,-24 0 16,149 0-1,-149 0-15,24 25 16,100-25 0,-25 25-1,-49-25 1,-26 25 15,75 24-15,25-24-1,-25-25 1,25 0 0,74 0-1,-173 0-15,-50 0 16,347 0 0,-198 0-1,25 0 1,-25 0-1,0 0 1,-1 0 0,-48 0 15,48 0-15,1 0-1,-173 0-15,48 0 16,125 0-1,-174 0-15,100 0 16,24 0 0,-24 0-1,-75 0 1,49 0 0,-49 0-1,50 0 1,-25 0-1,-50 0 1,0 0 0,-49 0 15,-1 0-15,26 0-1,-1 0 1,25 0-1,1 0 1,24 0 0,-50 0-1,-49 0 1,49 0 0,-24 0-1,49 0 1,-74 0-16,74 0 15,0 0 1,-24-25 15,-26 25-15,1-24 0,-25 24-1,0 0 1,24-25-1,-24 25 17,25 0-17,-26 0 48</inkml:trace>
  <inkml:trace contextRef="#ctx0" brushRef="#br0" timeOffset="182877.15">10468 15528 0,'-25'-25'94,"50"25"31,-1 0-78,26 0-16,24 0 0,-49 0 1,0 0-17,0 0 1,0 0-1,24 0 1,1 0 0,-25 0-16,-1 0 31,26 0-15,-25 0 15,24 0 0,26 0 0,-1 0 1,1 0-17,49 0 1,-50 0-16,-24 0 15,198 0 1,-75 0 0,-73 0-1,-1 0 1,-25 0 0,-24 0 15,-25 0-16,24 0 17,-24 0-1,0 0 0,0 0-15</inkml:trace>
</inkml:ink>
</file>

<file path=ppt/ink/ink9.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5:12:26.689"/>
    </inkml:context>
    <inkml:brush xml:id="br0">
      <inkml:brushProperty name="width" value="0.05292" units="cm"/>
      <inkml:brushProperty name="height" value="0.05292" units="cm"/>
      <inkml:brushProperty name="color" value="#FF0000"/>
    </inkml:brush>
  </inkml:definitions>
  <inkml:trace contextRef="#ctx0" brushRef="#br0">19447 14635 0,'49'-25'31,"-24"0"0,0 0 1,0 25-17,25 0 17,-26 0-1,26 0 0,-25 0-15,0 0-1,24 0-15,75 0 32,-49 0-17,-1 0 1,25 0-1,50 0 1,0 0 0,-50 0-1,-49 0 1,24 0 0,-24 0-1,-1 0-15,-24 0 31,99 25-15,-74-25 0,24 0-1,1 25 1,-1-25 0,25 50-1,-24-50 1,-1 0-1,50 0 1,-50 0 0,1 0-1,-25 0-15,-26 0 16,26 24 0,0-24-1,-26 0 16,26 0-15,0 0 0,24 0-1,0 0 1,-49 0 0,0 0-1,0 0-15,0 0 16,24 0-1,1 0 1,49 0 0,25 0-1,-25 0 1,25 0 0,0 0 15,-24 0-16,-26 0 1,-24 0-16,-1 0 16,100 0-1,-25 0 1,25 0 0,-50 0-1,0 0 1,-24 0-1,24 0 1,0 0 0,0 0-1,-49 0 17,24 0-17,-49 0-15,25 0 16,99 0-1,-25 0 1,0 0 0,25 0-1,-25 0 1,-50 0 0,25 0-1,-49 0 1,-1 25-1,-24-25-15,0 0 16,149 25 0,-75-25-1,50 0 17,-75 0-17,-49 0 1,49 0-1,-24 0 1,49 0 0,-49 0-1,49 0 1,-74 0 0,24 0-16,26 0 15,74 0 1,-25 0-1,-25 0 1,25 0 0,-50 0 15,1 0-15,-1 0-1,1 0 1,24 0-1,0 0 1,99 0 0,-74 0-1,0 0 1,-24 0 0,-51 0-1,26 0 1,-1 0-1,50 0 1,25 0 15,-75 0-31,-24 0 16,99 0 0,-124 0-1,148 0 1,-98 0-1,-51 0 1,26 0 0,-25 0-1,25 0 1,-26 0 15,1 0-15,0 0-16,0 0 15,24 0 17,1 0-17,-25 0 1</inkml:trace>
  <inkml:trace contextRef="#ctx0" brushRef="#br0" timeOffset="3089.99">2059 15255 0,'49'0'125,"51"0"-109,24 0-1,223 49 1,-223-24-16,74 0 16,224 50-1,-348-75-15,50 0 16,447 0-1,-373 0 17,100 0-17,49 0 1,50 0 0,-50 0-1,1 0 1,-26 0-1,-74 0 1,-149 0-16,100 0 16,-1 0-1,50 0 1,50 0 0,-75 0-1,25 0 16,25 0-15,0 0 0,-75 0-1,1 0 1,-100 0-16,50 0 16,149 0-1,-174 0-15,24 0 16,373 0-1,-248 0 1,-25 0 0,-99 0-1,25 0 1,-75 24 0,-25-24-1,1 25 16,-26-25-15,-24 0-16,0 0 16,0 0-1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8CAB6-0A18-B12A-06A5-CFD0B0666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51E932-87D4-E4A3-5EC5-FD37D2ADB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361194-F8BE-C949-EFCA-00EE7F867912}"/>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FF334BE2-760E-FA63-F53E-6EC6D65C14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019652-B072-95C3-666A-824B223F073C}"/>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20810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6250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55807-6537-7A6D-A641-B2A17376E9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5B0403-42FF-1C59-1D5B-32C3D76224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186C83-3353-0411-EE9B-3502DB3E4588}"/>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470F388B-76FB-C020-4F27-4E8F47369B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013B55-0C9D-95FE-DE57-76D9CAC53846}"/>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0718621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0200A-4353-C353-E184-88D52DADCD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3E2DB6-9BB8-38D4-16CA-0544ED95B0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E55387-24D0-58FA-83A3-7DE9457A88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6792733-6AE7-EB0F-FA3B-AF5CDFCC84AC}"/>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051F2C6F-7464-367E-E3F8-97DC8C8F38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816EA2-7E56-7BA3-2439-E543C4160FC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2368239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A9EF-5440-6E76-FF73-0CF065E3FE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746708-25E5-77F6-A964-227D0EE4C5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C22E3-5FB3-FA79-ED62-21819A6A00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96025A-E802-D170-D6B8-690A286BCE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B7203-20FE-415A-F923-11A30CAAC6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7DA1C9-7D6A-71D0-70D9-9B0828718429}"/>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8" name="Footer Placeholder 7">
            <a:extLst>
              <a:ext uri="{FF2B5EF4-FFF2-40B4-BE49-F238E27FC236}">
                <a16:creationId xmlns:a16="http://schemas.microsoft.com/office/drawing/2014/main" id="{C5FE8C4F-142A-8803-C2AD-C6393A49A3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A83C7CE-86E2-2A63-0ECE-6F7089A68601}"/>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181712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AE12F-6D65-52A0-48AA-B03A63F84E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2C2E755-9EA8-6439-9AA9-91FF3D9183D1}"/>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4" name="Footer Placeholder 3">
            <a:extLst>
              <a:ext uri="{FF2B5EF4-FFF2-40B4-BE49-F238E27FC236}">
                <a16:creationId xmlns:a16="http://schemas.microsoft.com/office/drawing/2014/main" id="{3DEB468B-111F-CF06-6C38-3BC8CFF43D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D94801-333D-738E-07D1-D8DAF45C098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65337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345271-495D-152E-CF4A-DF4710D8BEC2}"/>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3" name="Footer Placeholder 2">
            <a:extLst>
              <a:ext uri="{FF2B5EF4-FFF2-40B4-BE49-F238E27FC236}">
                <a16:creationId xmlns:a16="http://schemas.microsoft.com/office/drawing/2014/main" id="{24F704DD-032D-53A7-BFF6-45E5965DD4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277178-4230-89A4-5872-75B349208232}"/>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53700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A69D6-24F8-42C9-1D77-EC88669074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9D61D7-9867-D57B-393C-47C770AA65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ED94E2-1CFC-4DFF-4491-2085D8036D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0CD279-5116-5E15-60C5-9EF79DDB4C64}"/>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69031C19-F77D-04E3-B033-CF6338C139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8963EA-8864-E6BE-24F5-23AFDA15D8B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808667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6FE6-775B-5F83-EEAB-E36547DB11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964366-F9DB-7570-8134-3DDD5A1017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EFF4E6-78FE-6A93-F107-25294F26CE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A6E5D-D1B7-97B4-E5F0-293D2283C25B}"/>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7470F263-4F04-05C5-5AB8-17B4BF4369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8888F2-58F4-670D-C34D-AD8FC7455A6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408837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8A30-B913-89F3-B532-786CB42C2F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D29D4D-DEE7-6A1D-B42E-38574A7273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96FAF5-A696-3446-BF82-38164F6A8A2C}"/>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24EE94DE-54DD-A6A8-474C-AB93008EA0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98F6DA-A2A6-C945-BF21-6706B5FA6B6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139727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308265-AD14-4580-CC74-9C4CF00E99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F309DA-5772-6FBD-97A3-F137B93F90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C1C790-714C-45F7-D996-F901BECA504F}"/>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7BF76402-000D-C35B-9564-25F55D31AC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067743-5BF8-DFC2-CBDC-EB27E01169C7}"/>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6375857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B05E56-8D2F-5F2F-8551-44A2B095FC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6445D5-7E47-8624-9AC3-BB3BCD2772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9B5D27-2F61-7E25-7C4F-55CEB62622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628E40CC-F5EF-5459-5DE6-51B24194D7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C677AFA-267B-483B-8828-7D5EC7CBFD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0C9D19-9CC2-4BD0-80ED-38FDA6BAD898}" type="slidenum">
              <a:rPr lang="en-IN" smtClean="0"/>
              <a:pPr/>
              <a:t>‹#›</a:t>
            </a:fld>
            <a:endParaRPr lang="en-IN"/>
          </a:p>
        </p:txBody>
      </p:sp>
    </p:spTree>
    <p:extLst>
      <p:ext uri="{BB962C8B-B14F-4D97-AF65-F5344CB8AC3E}">
        <p14:creationId xmlns:p14="http://schemas.microsoft.com/office/powerpoint/2010/main" val="892197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9860DA-A0EB-8D65-F1A2-8A78791C385D}"/>
              </a:ext>
            </a:extLst>
          </p:cNvPr>
          <p:cNvSpPr txBox="1"/>
          <p:nvPr/>
        </p:nvSpPr>
        <p:spPr>
          <a:xfrm>
            <a:off x="2765021" y="2953388"/>
            <a:ext cx="6095306" cy="369332"/>
          </a:xfrm>
          <a:prstGeom prst="rect">
            <a:avLst/>
          </a:prstGeom>
          <a:noFill/>
        </p:spPr>
        <p:txBody>
          <a:bodyPr wrap="square">
            <a:spAutoFit/>
          </a:bodyPr>
          <a:lstStyle/>
          <a:p>
            <a:r>
              <a:rPr lang="en-IN" dirty="0">
                <a:solidFill>
                  <a:srgbClr val="FF0000"/>
                </a:solidFill>
              </a:rPr>
              <a:t>Mastering Data Preprocessing for Machine Learning</a:t>
            </a:r>
          </a:p>
        </p:txBody>
      </p:sp>
    </p:spTree>
    <p:extLst>
      <p:ext uri="{BB962C8B-B14F-4D97-AF65-F5344CB8AC3E}">
        <p14:creationId xmlns:p14="http://schemas.microsoft.com/office/powerpoint/2010/main" val="3069026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782108" cy="3856913"/>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r>
              <a:rPr lang="en-US" dirty="0">
                <a:latin typeface=""/>
                <a:ea typeface="Times New Roman"/>
                <a:cs typeface="Times New Roman"/>
              </a:rPr>
              <a:t> </a:t>
            </a:r>
          </a:p>
          <a:p>
            <a:pPr>
              <a:lnSpc>
                <a:spcPct val="115000"/>
              </a:lnSpc>
              <a:spcAft>
                <a:spcPts val="1000"/>
              </a:spcAft>
            </a:pPr>
            <a:r>
              <a:rPr lang="en-US" dirty="0">
                <a:latin typeface=""/>
                <a:ea typeface="Times New Roman"/>
                <a:cs typeface="Times New Roman"/>
              </a:rPr>
              <a:t>•   Explain the critical role of data preprocessing in the machine learning pipeline.</a:t>
            </a:r>
          </a:p>
          <a:p>
            <a:pPr>
              <a:lnSpc>
                <a:spcPct val="115000"/>
              </a:lnSpc>
              <a:spcAft>
                <a:spcPts val="1000"/>
              </a:spcAft>
            </a:pPr>
            <a:r>
              <a:rPr lang="en-US" dirty="0">
                <a:latin typeface=""/>
                <a:ea typeface="Times New Roman"/>
                <a:cs typeface="Times New Roman"/>
              </a:rPr>
              <a:t>•   Identify and apply various data cleaning techniques, including handling missing data and outliers.</a:t>
            </a:r>
          </a:p>
          <a:p>
            <a:pPr>
              <a:lnSpc>
                <a:spcPct val="115000"/>
              </a:lnSpc>
              <a:spcAft>
                <a:spcPts val="1000"/>
              </a:spcAft>
            </a:pPr>
            <a:r>
              <a:rPr lang="en-US" dirty="0">
                <a:latin typeface=""/>
                <a:ea typeface="Times New Roman"/>
                <a:cs typeface="Times New Roman"/>
              </a:rPr>
              <a:t>•   Understand different data transformation methods, such as scaling, normalization, and encoding categorical variables.</a:t>
            </a:r>
          </a:p>
          <a:p>
            <a:pPr>
              <a:lnSpc>
                <a:spcPct val="115000"/>
              </a:lnSpc>
              <a:spcAft>
                <a:spcPts val="1000"/>
              </a:spcAft>
            </a:pPr>
            <a:r>
              <a:rPr lang="en-US" dirty="0">
                <a:latin typeface=""/>
                <a:ea typeface="Times New Roman"/>
                <a:cs typeface="Times New Roman"/>
              </a:rPr>
              <a:t>•   Implement feature engineering strategies to enhance model performance and interpretability.</a:t>
            </a:r>
          </a:p>
          <a:p>
            <a:pPr>
              <a:lnSpc>
                <a:spcPct val="115000"/>
              </a:lnSpc>
              <a:spcAft>
                <a:spcPts val="1000"/>
              </a:spcAft>
            </a:pPr>
            <a:r>
              <a:rPr lang="en-US" dirty="0">
                <a:latin typeface=""/>
                <a:ea typeface="Times New Roman"/>
                <a:cs typeface="Times New Roman"/>
              </a:rPr>
              <a:t>•   Recognize the importance of dimensionality reduction and strategies for addressing imbalanced datasets.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a:t>
            </a:r>
            <a:r>
              <a:rPr lang="en-US" dirty="0"/>
              <a:t>Data preprocessing is a fundamental and crucial initial step in any machine learning workflow.</a:t>
            </a:r>
          </a:p>
          <a:p>
            <a:endParaRPr lang="en-US" sz="2000" dirty="0"/>
          </a:p>
          <a:p>
            <a:r>
              <a:rPr lang="en-US" sz="2000" dirty="0"/>
              <a:t>•   It involves cleaning, transforming, and preparing raw data to make it suitable for analysis or model training.</a:t>
            </a:r>
          </a:p>
          <a:p>
            <a:endParaRPr lang="en-US" sz="2000" dirty="0"/>
          </a:p>
          <a:p>
            <a:r>
              <a:rPr lang="en-US" sz="2000" dirty="0"/>
              <a:t>•   The primary goal is to ensure the data is accurate, reliable, and in a format that machine learning algorithms can effectively process.</a:t>
            </a:r>
          </a:p>
          <a:p>
            <a:endParaRPr lang="en-US" sz="2000" dirty="0"/>
          </a:p>
          <a:p>
            <a:r>
              <a:rPr lang="en-US" sz="2000" dirty="0"/>
              <a:t>•   Effective preprocessing significantly impacts the performance, robustness, and interpretability of subsequent models.</a:t>
            </a:r>
          </a:p>
          <a:p>
            <a:endParaRPr lang="en-US" sz="2000" dirty="0"/>
          </a:p>
          <a:p>
            <a:r>
              <a:rPr lang="en-US" sz="2000" dirty="0"/>
              <a:t>•   Key aspects include data cleaning, data transformation, and feature engineering strategies.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Data Preprocessing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68DC72E-8826-39B0-55D5-299A18B90A06}"/>
                  </a:ext>
                </a:extLst>
              </p14:cNvPr>
              <p14:cNvContentPartPr/>
              <p14:nvPr/>
            </p14:nvContentPartPr>
            <p14:xfrm>
              <a:off x="2143080" y="2625480"/>
              <a:ext cx="8233560" cy="964440"/>
            </p14:xfrm>
          </p:contentPart>
        </mc:Choice>
        <mc:Fallback>
          <p:pic>
            <p:nvPicPr>
              <p:cNvPr id="2" name="Ink 1">
                <a:extLst>
                  <a:ext uri="{FF2B5EF4-FFF2-40B4-BE49-F238E27FC236}">
                    <a16:creationId xmlns:a16="http://schemas.microsoft.com/office/drawing/2014/main" id="{D68DC72E-8826-39B0-55D5-299A18B90A06}"/>
                  </a:ext>
                </a:extLst>
              </p:cNvPr>
              <p:cNvPicPr/>
              <p:nvPr/>
            </p:nvPicPr>
            <p:blipFill>
              <a:blip r:embed="rId3"/>
              <a:stretch>
                <a:fillRect/>
              </a:stretch>
            </p:blipFill>
            <p:spPr>
              <a:xfrm>
                <a:off x="2133720" y="2616120"/>
                <a:ext cx="8252280" cy="98316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Missing data refers to the absence of values for certain variables, which can severely impact analysis and model training.</a:t>
            </a:r>
          </a:p>
          <a:p>
            <a:endParaRPr lang="en-US" sz="2000" dirty="0"/>
          </a:p>
          <a:p>
            <a:r>
              <a:rPr lang="en-US" sz="2000" dirty="0"/>
              <a:t>•   Techniques to address missing data include imputation, where missing values are replaced with estimated values.</a:t>
            </a:r>
          </a:p>
          <a:p>
            <a:endParaRPr lang="en-US" sz="2000" dirty="0"/>
          </a:p>
          <a:p>
            <a:r>
              <a:rPr lang="en-US" sz="2000" dirty="0"/>
              <a:t>•   Common imputation methods involve using the mean, median, or mode of the feature.</a:t>
            </a:r>
          </a:p>
          <a:p>
            <a:endParaRPr lang="en-US" sz="2000" dirty="0"/>
          </a:p>
          <a:p>
            <a:r>
              <a:rPr lang="en-US" sz="2000" dirty="0"/>
              <a:t>•   More advanced imputation techniques like k-nearest neighbors (k-NN) or regression imputation can also be employed.</a:t>
            </a:r>
          </a:p>
          <a:p>
            <a:endParaRPr lang="en-US" sz="2000" dirty="0"/>
          </a:p>
          <a:p>
            <a:r>
              <a:rPr lang="en-US" sz="2000" dirty="0"/>
              <a:t>•   Alternatively, rows or columns with a high percentage of missing data might be removed, but this can lead to data loss.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Data Cleaning: Handling Missing Data</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EFFFA18A-BBDE-706F-ABAD-9A43902846C7}"/>
                  </a:ext>
                </a:extLst>
              </p14:cNvPr>
              <p14:cNvContentPartPr/>
              <p14:nvPr/>
            </p14:nvContentPartPr>
            <p14:xfrm>
              <a:off x="714240" y="2928960"/>
              <a:ext cx="9322920" cy="1866600"/>
            </p14:xfrm>
          </p:contentPart>
        </mc:Choice>
        <mc:Fallback>
          <p:pic>
            <p:nvPicPr>
              <p:cNvPr id="2" name="Ink 1">
                <a:extLst>
                  <a:ext uri="{FF2B5EF4-FFF2-40B4-BE49-F238E27FC236}">
                    <a16:creationId xmlns:a16="http://schemas.microsoft.com/office/drawing/2014/main" id="{EFFFA18A-BBDE-706F-ABAD-9A43902846C7}"/>
                  </a:ext>
                </a:extLst>
              </p:cNvPr>
              <p:cNvPicPr/>
              <p:nvPr/>
            </p:nvPicPr>
            <p:blipFill>
              <a:blip r:embed="rId3"/>
              <a:stretch>
                <a:fillRect/>
              </a:stretch>
            </p:blipFill>
            <p:spPr>
              <a:xfrm>
                <a:off x="704880" y="2919600"/>
                <a:ext cx="9341640" cy="188532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a:t>
            </a:r>
            <a:r>
              <a:rPr lang="en-US" dirty="0"/>
              <a:t>Outliers are data points that deviate significantly from the general pattern or majority of the data.</a:t>
            </a:r>
          </a:p>
          <a:p>
            <a:endParaRPr lang="en-US" sz="2000" dirty="0"/>
          </a:p>
          <a:p>
            <a:r>
              <a:rPr lang="en-US" sz="2000" dirty="0"/>
              <a:t>•   These unusual values can distort statistical analyses and negatively influence machine learning models.</a:t>
            </a:r>
          </a:p>
          <a:p>
            <a:endParaRPr lang="en-US" sz="2000" dirty="0"/>
          </a:p>
          <a:p>
            <a:r>
              <a:rPr lang="en-US" sz="2000" dirty="0"/>
              <a:t>•   Outliers can be detected through visualization methods such as box plots, scatter plots, or histograms.</a:t>
            </a:r>
          </a:p>
          <a:p>
            <a:endParaRPr lang="en-US" sz="2000" dirty="0"/>
          </a:p>
          <a:p>
            <a:r>
              <a:rPr lang="en-US" sz="2000" dirty="0"/>
              <a:t>•   Statistical tests and clustering-based approaches are also used for more formal outlier detection.</a:t>
            </a:r>
          </a:p>
          <a:p>
            <a:endParaRPr lang="en-US" sz="2000" dirty="0"/>
          </a:p>
          <a:p>
            <a:r>
              <a:rPr lang="en-US" sz="2000" dirty="0"/>
              <a:t>•   Treatment options include removing outliers, transforming the data (e.g., using log transformations), or employing robust statistical methods that are less sensitive to extreme values.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Data Cleaning: Outlier Detection and Treatment</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33D572A-CC59-2E0B-8B9A-852EE0FAE8F4}"/>
                  </a:ext>
                </a:extLst>
              </p14:cNvPr>
              <p14:cNvContentPartPr/>
              <p14:nvPr/>
            </p14:nvContentPartPr>
            <p14:xfrm>
              <a:off x="723240" y="3536280"/>
              <a:ext cx="9689040" cy="411120"/>
            </p14:xfrm>
          </p:contentPart>
        </mc:Choice>
        <mc:Fallback>
          <p:pic>
            <p:nvPicPr>
              <p:cNvPr id="2" name="Ink 1">
                <a:extLst>
                  <a:ext uri="{FF2B5EF4-FFF2-40B4-BE49-F238E27FC236}">
                    <a16:creationId xmlns:a16="http://schemas.microsoft.com/office/drawing/2014/main" id="{B33D572A-CC59-2E0B-8B9A-852EE0FAE8F4}"/>
                  </a:ext>
                </a:extLst>
              </p:cNvPr>
              <p:cNvPicPr/>
              <p:nvPr/>
            </p:nvPicPr>
            <p:blipFill>
              <a:blip r:embed="rId3"/>
              <a:stretch>
                <a:fillRect/>
              </a:stretch>
            </p:blipFill>
            <p:spPr>
              <a:xfrm>
                <a:off x="713880" y="3526920"/>
                <a:ext cx="9707760" cy="42984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Ensuring that data types are appropriate is essential for algorithms to correctly interpret variables.</a:t>
            </a:r>
          </a:p>
          <a:p>
            <a:endParaRPr lang="en-US" sz="2000"/>
          </a:p>
          <a:p>
            <a:r>
              <a:rPr lang="en-US" sz="2000"/>
              <a:t>•   Data type conversion often involves changing categorical text into numerical representations.</a:t>
            </a:r>
          </a:p>
          <a:p>
            <a:endParaRPr lang="en-US" sz="2000"/>
          </a:p>
          <a:p>
            <a:r>
              <a:rPr lang="en-US" sz="2000"/>
              <a:t>•   Techniques like one-hot encoding or label encoding are commonly used for this purpose.</a:t>
            </a:r>
          </a:p>
          <a:p>
            <a:endParaRPr lang="en-US" sz="2000"/>
          </a:p>
          <a:p>
            <a:r>
              <a:rPr lang="en-US" sz="2000"/>
              <a:t>•   Data scaling and normalization are critical when features have different ranges or magnitudes.</a:t>
            </a:r>
          </a:p>
          <a:p>
            <a:endParaRPr lang="en-US" sz="2000"/>
          </a:p>
          <a:p>
            <a:r>
              <a:rPr lang="en-US" sz="2000"/>
              <a:t>•   Min-Max scaling normalizes data to a specific range (e.g., 0 to 1), while Z-score normalization (standardization) transforms data to have a mean of 0 and a standard deviation of 1, preventing features with larger values from dominating.</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Data Transformation: Data Type Conversion &amp; Scaling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7940B8EB-BD5A-0108-EC4F-8AB3D130A08C}"/>
                  </a:ext>
                </a:extLst>
              </p14:cNvPr>
              <p14:cNvContentPartPr/>
              <p14:nvPr/>
            </p14:nvContentPartPr>
            <p14:xfrm>
              <a:off x="1018080" y="2937960"/>
              <a:ext cx="5590080" cy="2509560"/>
            </p14:xfrm>
          </p:contentPart>
        </mc:Choice>
        <mc:Fallback>
          <p:pic>
            <p:nvPicPr>
              <p:cNvPr id="2" name="Ink 1">
                <a:extLst>
                  <a:ext uri="{FF2B5EF4-FFF2-40B4-BE49-F238E27FC236}">
                    <a16:creationId xmlns:a16="http://schemas.microsoft.com/office/drawing/2014/main" id="{7940B8EB-BD5A-0108-EC4F-8AB3D130A08C}"/>
                  </a:ext>
                </a:extLst>
              </p:cNvPr>
              <p:cNvPicPr/>
              <p:nvPr/>
            </p:nvPicPr>
            <p:blipFill>
              <a:blip r:embed="rId3"/>
              <a:stretch>
                <a:fillRect/>
              </a:stretch>
            </p:blipFill>
            <p:spPr>
              <a:xfrm>
                <a:off x="1008720" y="2928600"/>
                <a:ext cx="5608800" cy="252828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Categorical data, representing discrete values (e.g., colors, regions), requires specific treatment before modeling.</a:t>
            </a:r>
          </a:p>
          <a:p>
            <a:endParaRPr lang="en-US" sz="2000"/>
          </a:p>
          <a:p>
            <a:r>
              <a:rPr lang="en-US" sz="2000"/>
              <a:t>•   Beyond basic encoding, advanced methods like target encoding or binary encoding can be used for high-cardinality categorical features.</a:t>
            </a:r>
          </a:p>
          <a:p>
            <a:endParaRPr lang="en-US" sz="2000"/>
          </a:p>
          <a:p>
            <a:r>
              <a:rPr lang="en-US" sz="2000"/>
              <a:t>•   The choice of encoding technique depends on the nature of the categorical variable and the specific machine learning algorithm.</a:t>
            </a:r>
          </a:p>
          <a:p>
            <a:endParaRPr lang="en-US" sz="2000"/>
          </a:p>
          <a:p>
            <a:r>
              <a:rPr lang="en-US" sz="2000"/>
              <a:t>•   General data transformation techniques improve the linearity of relationships between variables.</a:t>
            </a:r>
          </a:p>
          <a:p>
            <a:endParaRPr lang="en-US" sz="2000"/>
          </a:p>
          <a:p>
            <a:r>
              <a:rPr lang="en-US" sz="2000"/>
              <a:t>•   Examples include log transformations for skewed data, Box-Cox transformations, and polynomial transformations, which can help meet model assumptions and improve performance.</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Data Transformation: Categorical Data &amp; General Transformations</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31242C0-7601-EF37-211F-FAD04A6F50BE}"/>
                  </a:ext>
                </a:extLst>
              </p14:cNvPr>
              <p14:cNvContentPartPr/>
              <p14:nvPr/>
            </p14:nvContentPartPr>
            <p14:xfrm>
              <a:off x="1714320" y="3321720"/>
              <a:ext cx="3902760" cy="63000"/>
            </p14:xfrm>
          </p:contentPart>
        </mc:Choice>
        <mc:Fallback>
          <p:pic>
            <p:nvPicPr>
              <p:cNvPr id="2" name="Ink 1">
                <a:extLst>
                  <a:ext uri="{FF2B5EF4-FFF2-40B4-BE49-F238E27FC236}">
                    <a16:creationId xmlns:a16="http://schemas.microsoft.com/office/drawing/2014/main" id="{631242C0-7601-EF37-211F-FAD04A6F50BE}"/>
                  </a:ext>
                </a:extLst>
              </p:cNvPr>
              <p:cNvPicPr/>
              <p:nvPr/>
            </p:nvPicPr>
            <p:blipFill>
              <a:blip r:embed="rId3"/>
              <a:stretch>
                <a:fillRect/>
              </a:stretch>
            </p:blipFill>
            <p:spPr>
              <a:xfrm>
                <a:off x="1704960" y="3312360"/>
                <a:ext cx="3921480" cy="8172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Feature engineering is the art and science of creating new features or transforming existing ones from raw data.</a:t>
            </a:r>
          </a:p>
          <a:p>
            <a:endParaRPr lang="en-US" sz="2000"/>
          </a:p>
          <a:p>
            <a:r>
              <a:rPr lang="en-US" sz="2000"/>
              <a:t>•   Its primary objective is to improve the predictive power and performance of machine learning models.</a:t>
            </a:r>
          </a:p>
          <a:p>
            <a:endParaRPr lang="en-US" sz="2000"/>
          </a:p>
          <a:p>
            <a:r>
              <a:rPr lang="en-US" sz="2000"/>
              <a:t>•   Effective feature engineering leverages domain knowledge and data insights to generate more informative inputs for algorithms.</a:t>
            </a:r>
          </a:p>
          <a:p>
            <a:endParaRPr lang="en-US" sz="2000"/>
          </a:p>
          <a:p>
            <a:r>
              <a:rPr lang="en-US" sz="2000"/>
              <a:t>•   It can significantly differentiate between a mediocre model and a high-performing one.</a:t>
            </a:r>
          </a:p>
          <a:p>
            <a:endParaRPr lang="en-US" sz="2000"/>
          </a:p>
          <a:p>
            <a:r>
              <a:rPr lang="en-US" sz="2000"/>
              <a:t>•   Strategies encompass feature selection, feature creation, and advanced handling of data properties.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Feature Engineering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3212F95C-F86B-1EBA-0A18-3C7D17B5C017}"/>
                  </a:ext>
                </a:extLst>
              </p14:cNvPr>
              <p14:cNvContentPartPr/>
              <p14:nvPr/>
            </p14:nvContentPartPr>
            <p14:xfrm>
              <a:off x="5286240" y="2062800"/>
              <a:ext cx="5376240" cy="1920240"/>
            </p14:xfrm>
          </p:contentPart>
        </mc:Choice>
        <mc:Fallback>
          <p:pic>
            <p:nvPicPr>
              <p:cNvPr id="2" name="Ink 1">
                <a:extLst>
                  <a:ext uri="{FF2B5EF4-FFF2-40B4-BE49-F238E27FC236}">
                    <a16:creationId xmlns:a16="http://schemas.microsoft.com/office/drawing/2014/main" id="{3212F95C-F86B-1EBA-0A18-3C7D17B5C017}"/>
                  </a:ext>
                </a:extLst>
              </p:cNvPr>
              <p:cNvPicPr/>
              <p:nvPr/>
            </p:nvPicPr>
            <p:blipFill>
              <a:blip r:embed="rId3"/>
              <a:stretch>
                <a:fillRect/>
              </a:stretch>
            </p:blipFill>
            <p:spPr>
              <a:xfrm>
                <a:off x="5276880" y="2053440"/>
                <a:ext cx="5394960" cy="193896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Feature selection involves identifying and choosing the most relevant features from the dataset.</a:t>
            </a:r>
          </a:p>
          <a:p>
            <a:endParaRPr lang="en-US" sz="2000" dirty="0"/>
          </a:p>
          <a:p>
            <a:r>
              <a:rPr lang="en-US" sz="2000" dirty="0"/>
              <a:t>•   This process helps to reduce model complexity, mitigate overfitting, and enhance model interpretability.</a:t>
            </a:r>
          </a:p>
          <a:p>
            <a:endParaRPr lang="en-US" sz="2000" dirty="0"/>
          </a:p>
          <a:p>
            <a:r>
              <a:rPr lang="en-US" sz="2000" dirty="0"/>
              <a:t>•   Techniques include statistical tests like mutual information, correlation analysis, and methods based on feature importance scores from tree-based models.</a:t>
            </a:r>
          </a:p>
          <a:p>
            <a:endParaRPr lang="en-US" sz="2000" dirty="0"/>
          </a:p>
          <a:p>
            <a:r>
              <a:rPr lang="en-US" sz="2000" dirty="0"/>
              <a:t>•   Recursive Feature Elimination (RFE) is an iterative method to select features by repeatedly building a model and eliminating the worst-performing ones.</a:t>
            </a:r>
          </a:p>
          <a:p>
            <a:endParaRPr lang="en-US" sz="2000" dirty="0"/>
          </a:p>
          <a:p>
            <a:r>
              <a:rPr lang="en-US" sz="2000" dirty="0"/>
              <a:t>•   Feature creation generates entirely new features by combining or manipulating existing ones, often based on domain expertise (e.g., calculating ratios or differences, extracting day of week from date).</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Feature Engineering: Selection and Creation</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D51C7EC-DD18-8E04-736B-33B1C6BA57E4}"/>
                  </a:ext>
                </a:extLst>
              </p14:cNvPr>
              <p14:cNvContentPartPr/>
              <p14:nvPr/>
            </p14:nvContentPartPr>
            <p14:xfrm>
              <a:off x="4223880" y="2857320"/>
              <a:ext cx="6545520" cy="1072080"/>
            </p14:xfrm>
          </p:contentPart>
        </mc:Choice>
        <mc:Fallback>
          <p:pic>
            <p:nvPicPr>
              <p:cNvPr id="2" name="Ink 1">
                <a:extLst>
                  <a:ext uri="{FF2B5EF4-FFF2-40B4-BE49-F238E27FC236}">
                    <a16:creationId xmlns:a16="http://schemas.microsoft.com/office/drawing/2014/main" id="{CD51C7EC-DD18-8E04-736B-33B1C6BA57E4}"/>
                  </a:ext>
                </a:extLst>
              </p:cNvPr>
              <p:cNvPicPr/>
              <p:nvPr/>
            </p:nvPicPr>
            <p:blipFill>
              <a:blip r:embed="rId3"/>
              <a:stretch>
                <a:fillRect/>
              </a:stretch>
            </p:blipFill>
            <p:spPr>
              <a:xfrm>
                <a:off x="4214520" y="2847960"/>
                <a:ext cx="6564240" cy="109080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1600" dirty="0"/>
          </a:p>
          <a:p>
            <a:r>
              <a:rPr lang="en-US" sz="1600" dirty="0"/>
              <a:t>•   Dimensionality reduction techniques are employed to reduce the number of features in a dataset, especially in high-dimensional scenarios.</a:t>
            </a:r>
          </a:p>
          <a:p>
            <a:endParaRPr lang="en-US" sz="1600" dirty="0"/>
          </a:p>
          <a:p>
            <a:r>
              <a:rPr lang="en-US" sz="1600" dirty="0"/>
              <a:t>•   This helps combat the "curse of dimensionality," reduces computational cost, and can improve model generalization.</a:t>
            </a:r>
          </a:p>
          <a:p>
            <a:endParaRPr lang="en-US" sz="1600" dirty="0"/>
          </a:p>
          <a:p>
            <a:r>
              <a:rPr lang="en-US" sz="1600" dirty="0"/>
              <a:t>•   Principal Component Analysis (PCA) is a popular technique that transforms data into a new set of orthogonal components that capture the most variance.</a:t>
            </a:r>
          </a:p>
          <a:p>
            <a:endParaRPr lang="en-US" sz="1600" dirty="0"/>
          </a:p>
          <a:p>
            <a:r>
              <a:rPr lang="en-US" sz="1600" dirty="0"/>
              <a:t>•   t-Distributed Stochastic Neighbor Embedding (t-SNE) is often used for visualizing high-dimensional data in 2D or 3D.</a:t>
            </a:r>
          </a:p>
          <a:p>
            <a:endParaRPr lang="en-US" sz="1600" dirty="0"/>
          </a:p>
          <a:p>
            <a:r>
              <a:rPr lang="en-US" sz="1600" dirty="0"/>
              <a:t>•   Handling imbalanced data is crucial in classification tasks where one class significantly outnumbers others, leading to biased models.</a:t>
            </a:r>
          </a:p>
          <a:p>
            <a:endParaRPr lang="en-US" sz="1600" dirty="0"/>
          </a:p>
          <a:p>
            <a:r>
              <a:rPr lang="en-US" sz="1600" dirty="0"/>
              <a:t>•   Methods like oversampling (e.g., SMOTE for synthetic data generation), </a:t>
            </a:r>
            <a:r>
              <a:rPr lang="en-US" sz="1600" dirty="0" err="1"/>
              <a:t>undersampling</a:t>
            </a:r>
            <a:r>
              <a:rPr lang="en-US" sz="1600" dirty="0"/>
              <a:t>, or adjusting class weights are used to address this.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Feature Engineering: Dimensionality Reduction &amp; Imbalanced Data</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0CC9FB0-8EDB-ACD3-A81C-22504DDD8595}"/>
                  </a:ext>
                </a:extLst>
              </p14:cNvPr>
              <p14:cNvContentPartPr/>
              <p14:nvPr/>
            </p14:nvContentPartPr>
            <p14:xfrm>
              <a:off x="928800" y="2696760"/>
              <a:ext cx="4107960" cy="2893680"/>
            </p14:xfrm>
          </p:contentPart>
        </mc:Choice>
        <mc:Fallback>
          <p:pic>
            <p:nvPicPr>
              <p:cNvPr id="2" name="Ink 1">
                <a:extLst>
                  <a:ext uri="{FF2B5EF4-FFF2-40B4-BE49-F238E27FC236}">
                    <a16:creationId xmlns:a16="http://schemas.microsoft.com/office/drawing/2014/main" id="{B0CC9FB0-8EDB-ACD3-A81C-22504DDD8595}"/>
                  </a:ext>
                </a:extLst>
              </p:cNvPr>
              <p:cNvPicPr/>
              <p:nvPr/>
            </p:nvPicPr>
            <p:blipFill>
              <a:blip r:embed="rId3"/>
              <a:stretch>
                <a:fillRect/>
              </a:stretch>
            </p:blipFill>
            <p:spPr>
              <a:xfrm>
                <a:off x="919440" y="2687400"/>
                <a:ext cx="4126680" cy="291240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In customer churn prediction, data preprocessing involves cleaning transaction logs and customer demographics.</a:t>
            </a:r>
          </a:p>
          <a:p>
            <a:endParaRPr lang="en-US" sz="2000"/>
          </a:p>
          <a:p>
            <a:r>
              <a:rPr lang="en-US" sz="2000"/>
              <a:t>•   Feature engineering is critical, creating new metrics like customer lifetime value, recency, frequency, and monetary (RFM) values.</a:t>
            </a:r>
          </a:p>
          <a:p>
            <a:endParaRPr lang="en-US" sz="2000"/>
          </a:p>
          <a:p>
            <a:r>
              <a:rPr lang="en-US" sz="2000"/>
              <a:t>•   For image classification tasks, preprocessing techniques prepare raw pixel data for deep learning models.</a:t>
            </a:r>
          </a:p>
          <a:p>
            <a:endParaRPr lang="en-US" sz="2000"/>
          </a:p>
          <a:p>
            <a:r>
              <a:rPr lang="en-US" sz="2000"/>
              <a:t>•   This includes resizing images to a uniform dimension, normalizing pixel values, and data augmentation (e.g., rotation, flipping) to increase training data diversity.</a:t>
            </a:r>
          </a:p>
          <a:p>
            <a:endParaRPr lang="en-US" sz="2000"/>
          </a:p>
          <a:p>
            <a:r>
              <a:rPr lang="en-US" sz="2000"/>
              <a:t>•   Pre-trained convolutional neural networks (CNNs) are often used for efficient feature extraction from images.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Practical Applications: Customer Churn &amp; Image Data</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dirty="0"/>
          </a:p>
          <a:p>
            <a:r>
              <a:rPr lang="en-US" dirty="0"/>
              <a:t>•   Natural Language Processing (NLP) requires extensive text data preprocessing before analysis.</a:t>
            </a:r>
          </a:p>
          <a:p>
            <a:endParaRPr lang="en-US" dirty="0"/>
          </a:p>
          <a:p>
            <a:r>
              <a:rPr lang="en-US" dirty="0"/>
              <a:t>•   This involves tokenization (breaking text into words), removing stop words, stemming/lemmatization (reducing words to root form), and handling punctuation.</a:t>
            </a:r>
          </a:p>
          <a:p>
            <a:endParaRPr lang="en-US" dirty="0"/>
          </a:p>
          <a:p>
            <a:r>
              <a:rPr lang="en-US" dirty="0"/>
              <a:t>•   Text </a:t>
            </a:r>
            <a:r>
              <a:rPr lang="en-US" dirty="0" err="1"/>
              <a:t>vectorization</a:t>
            </a:r>
            <a:r>
              <a:rPr lang="en-US" dirty="0"/>
              <a:t> techniques like TF-IDF (Term Frequency-Inverse Document Frequency) or word embeddings (e.g., Word2Vec) convert text into numerical feature vectors.</a:t>
            </a:r>
          </a:p>
          <a:p>
            <a:endParaRPr lang="en-US" dirty="0"/>
          </a:p>
          <a:p>
            <a:r>
              <a:rPr lang="en-US" dirty="0"/>
              <a:t>•   For time series forecasting, specialized preprocessing techniques are essential to capture temporal dependencies.</a:t>
            </a:r>
          </a:p>
          <a:p>
            <a:endParaRPr lang="en-US" dirty="0"/>
          </a:p>
          <a:p>
            <a:r>
              <a:rPr lang="en-US" dirty="0"/>
              <a:t>•   These include creating lagged features (previous observations), calculating rolling statistics (e.g., moving averages), and decomposing time series into trend, seasonality, and residual components.</a:t>
            </a:r>
          </a:p>
          <a:p>
            <a:endParaRPr lang="en-US" dirty="0"/>
          </a:p>
          <a:p>
            <a:endParaRPr lang="en-US"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Practical Applications: NLP &amp; Time Series Data</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a:t>
            </a:r>
          </a:p>
          <a:p>
            <a:r>
              <a:rPr lang="en-US" sz="2000"/>
              <a:t>Which of the following is NOT a primary goal of data preprocessing in machine learning?</a:t>
            </a:r>
          </a:p>
          <a:p>
            <a:r>
              <a:rPr lang="en-US" sz="2000"/>
              <a:t>a) To ensure data is in a suitable format for model training.</a:t>
            </a:r>
          </a:p>
          <a:p>
            <a:r>
              <a:rPr lang="en-US" sz="2000"/>
              <a:t>b) To reduce the computational cost of model deployment.</a:t>
            </a:r>
          </a:p>
          <a:p>
            <a:r>
              <a:rPr lang="en-US" sz="2000"/>
              <a:t>c) To improve the accuracy and robustness of machine learning models.</a:t>
            </a:r>
          </a:p>
          <a:p>
            <a:r>
              <a:rPr lang="en-US" sz="2000"/>
              <a:t>d) To handle inconsistencies and errors within the dataset.</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a:t>
            </a:r>
          </a:p>
          <a:p>
            <a:r>
              <a:rPr lang="en-US" sz="2000"/>
              <a:t>Which of the following is NOT a primary goal of data preprocessing in machine learning?</a:t>
            </a:r>
          </a:p>
          <a:p>
            <a:r>
              <a:rPr lang="en-US" sz="2000"/>
              <a:t>a) To ensure data is in a suitable format for model training.</a:t>
            </a:r>
          </a:p>
          <a:p>
            <a:r>
              <a:rPr lang="en-US" sz="2000"/>
              <a:t>b) To reduce the computational cost of model deployment.</a:t>
            </a:r>
          </a:p>
          <a:p>
            <a:r>
              <a:rPr lang="en-US" sz="2000"/>
              <a:t>c) To improve the accuracy and robustness of machine learning models.</a:t>
            </a:r>
          </a:p>
          <a:p>
            <a:r>
              <a:rPr lang="en-US" sz="2000"/>
              <a:t>d) To handle inconsistencies and errors within the dataset.</a:t>
            </a:r>
          </a:p>
          <a:p>
            <a:endParaRPr lang="en-US" sz="2000"/>
          </a:p>
          <a:p>
            <a:endParaRPr lang="en-US" sz="2000"/>
          </a:p>
          <a:p>
            <a:endParaRPr lang="en-US" sz="2000"/>
          </a:p>
          <a:p>
            <a:r>
              <a:rPr lang="en-US" sz="2000" b="1"/>
              <a:t>Correct Answer: b) To reduce the computational cost of model deployment.</a:t>
            </a:r>
          </a:p>
          <a:p>
            <a:r>
              <a:rPr lang="en-US" sz="2000" b="1"/>
              <a:t>Explanation: While some preprocessing steps like dimensionality reduction can indirectly help reduce deployment costs by simplifying models, the primary goals of preprocessing are focused on data quality and format before deployment, directly impacting model training and performance.</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a:t>
            </a:r>
          </a:p>
          <a:p>
            <a:r>
              <a:rPr lang="en-US" sz="2000"/>
              <a:t>A dataset for a credit risk model contains numerous missing values in the 'Income' column. Which of the following imputation methods would typically introduce the least bias if the income distribution is skewed and contains outliers?</a:t>
            </a:r>
          </a:p>
          <a:p>
            <a:r>
              <a:rPr lang="en-US" sz="2000"/>
              <a:t>a) Replacing missing values with the mean income.</a:t>
            </a:r>
          </a:p>
          <a:p>
            <a:r>
              <a:rPr lang="en-US" sz="2000"/>
              <a:t>b) Removing all rows with missing income values.</a:t>
            </a:r>
          </a:p>
          <a:p>
            <a:r>
              <a:rPr lang="en-US" sz="2000"/>
              <a:t>c) Replacing missing values with the median income.</a:t>
            </a:r>
          </a:p>
          <a:p>
            <a:r>
              <a:rPr lang="en-US" sz="2000"/>
              <a:t>d) Using a constant value like 0 for all missing incomes.</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10000"/>
          </a:bodyPr>
          <a:lstStyle/>
          <a:p>
            <a:r>
              <a:rPr lang="en-US" sz="2000"/>
              <a:t>Question 2:</a:t>
            </a:r>
          </a:p>
          <a:p>
            <a:r>
              <a:rPr lang="en-US" sz="2000"/>
              <a:t>A dataset for a credit risk model contains numerous missing values in the 'Income' column. Which of the following imputation methods would typically introduce the least bias if the income distribution is skewed and contains outliers?</a:t>
            </a:r>
          </a:p>
          <a:p>
            <a:r>
              <a:rPr lang="en-US" sz="2000"/>
              <a:t>a) Replacing missing values with the mean income.</a:t>
            </a:r>
          </a:p>
          <a:p>
            <a:r>
              <a:rPr lang="en-US" sz="2000"/>
              <a:t>b) Removing all rows with missing income values.</a:t>
            </a:r>
          </a:p>
          <a:p>
            <a:r>
              <a:rPr lang="en-US" sz="2000"/>
              <a:t>c) Replacing missing values with the median income.</a:t>
            </a:r>
          </a:p>
          <a:p>
            <a:r>
              <a:rPr lang="en-US" sz="2000"/>
              <a:t>d) Using a constant value like 0 for all missing incomes.</a:t>
            </a:r>
          </a:p>
          <a:p>
            <a:endParaRPr lang="en-US" sz="2000"/>
          </a:p>
          <a:p>
            <a:endParaRPr lang="en-US" sz="2000"/>
          </a:p>
          <a:p>
            <a:endParaRPr lang="en-US" sz="2000"/>
          </a:p>
          <a:p>
            <a:r>
              <a:rPr lang="en-US" sz="2000" b="1"/>
              <a:t>Correct Answer: c) Replacing missing values with the median income.</a:t>
            </a:r>
          </a:p>
          <a:p>
            <a:r>
              <a:rPr lang="en-US" sz="2000" b="1"/>
              <a:t>Explanation: If the data distribution is skewed or contains outliers, the mean can be heavily influenced by these extreme values, leading to a biased imputation. The median is a more robust measure of central tendency in such cases, making it a better choice than the mean. Removing rows (b) can lead to significant data loss, and using a constant (d) can distort the distribution and introduce artificial patterns.</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a:t>
            </a:r>
          </a:p>
          <a:p>
            <a:r>
              <a:rPr lang="en-US" sz="2000"/>
              <a:t>You are preparing a dataset for a house price prediction model. One feature, 'Square Footage', shows a few extremely large values compared to the rest. Which action is generally recommended for handling these potential outliers?</a:t>
            </a:r>
          </a:p>
          <a:p>
            <a:r>
              <a:rPr lang="en-US" sz="2000"/>
              <a:t>a) Always remove the rows containing these extreme values.</a:t>
            </a:r>
          </a:p>
          <a:p>
            <a:r>
              <a:rPr lang="en-US" sz="2000"/>
              <a:t>b) Transform the 'Square Footage' feature using a logarithmic scale.</a:t>
            </a:r>
          </a:p>
          <a:p>
            <a:r>
              <a:rPr lang="en-US" sz="2000"/>
              <a:t>c) Replace the extreme values with the mean of the 'Square Footage' column.</a:t>
            </a:r>
          </a:p>
          <a:p>
            <a:r>
              <a:rPr lang="en-US" sz="2000"/>
              <a:t>d) Do nothing, as machine learning models can inherently handle outliers.</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Question 3:</a:t>
            </a:r>
          </a:p>
          <a:p>
            <a:r>
              <a:rPr lang="en-US" sz="2000"/>
              <a:t>You are preparing a dataset for a house price prediction model. One feature, 'Square Footage', shows a few extremely large values compared to the rest. Which action is generally recommended for handling these potential outliers?</a:t>
            </a:r>
          </a:p>
          <a:p>
            <a:r>
              <a:rPr lang="en-US" sz="2000"/>
              <a:t>a) Always remove the rows containing these extreme values.</a:t>
            </a:r>
          </a:p>
          <a:p>
            <a:r>
              <a:rPr lang="en-US" sz="2000"/>
              <a:t>b) Transform the 'Square Footage' feature using a logarithmic scale.</a:t>
            </a:r>
          </a:p>
          <a:p>
            <a:r>
              <a:rPr lang="en-US" sz="2000"/>
              <a:t>c) Replace the extreme values with the mean of the 'Square Footage' column.</a:t>
            </a:r>
          </a:p>
          <a:p>
            <a:r>
              <a:rPr lang="en-US" sz="2000"/>
              <a:t>d) Do nothing, as machine learning models can inherently handle outliers.</a:t>
            </a:r>
          </a:p>
          <a:p>
            <a:endParaRPr lang="en-US" sz="2000"/>
          </a:p>
          <a:p>
            <a:endParaRPr lang="en-US" sz="2000"/>
          </a:p>
          <a:p>
            <a:endParaRPr lang="en-US" sz="2000"/>
          </a:p>
          <a:p>
            <a:r>
              <a:rPr lang="en-US" sz="2000" b="1"/>
              <a:t>Correct Answer: b) Transform the 'Square Footage' feature using a logarithmic scale.</a:t>
            </a:r>
          </a:p>
          <a:p>
            <a:r>
              <a:rPr lang="en-US" sz="2000" b="1"/>
              <a:t>Explanation: Transforming skewed features like 'Square Footage' with a logarithmic scale can effectively reduce the impact of large outliers, making the distribution more symmetric and suitable for many models without losing the data points. Removing outliers (a) can lead to loss of valuable information. Replacing with the mean (c) can be problematic if the mean is heavily influenced by the outliers. Option (d) is incorrect, as many models are sensitive to outliers.</a:t>
            </a:r>
          </a:p>
          <a:p>
            <a:endParaRPr lang="en-US" sz="2000" b="1"/>
          </a:p>
          <a:p>
            <a:endParaRPr lang="en-US" sz="2000"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8FCF401-AF63-5059-AF27-289D24BFA386}"/>
                  </a:ext>
                </a:extLst>
              </p14:cNvPr>
              <p14:cNvContentPartPr/>
              <p14:nvPr/>
            </p14:nvContentPartPr>
            <p14:xfrm>
              <a:off x="741240" y="5241600"/>
              <a:ext cx="9831960" cy="330840"/>
            </p14:xfrm>
          </p:contentPart>
        </mc:Choice>
        <mc:Fallback>
          <p:pic>
            <p:nvPicPr>
              <p:cNvPr id="4" name="Ink 3">
                <a:extLst>
                  <a:ext uri="{FF2B5EF4-FFF2-40B4-BE49-F238E27FC236}">
                    <a16:creationId xmlns:a16="http://schemas.microsoft.com/office/drawing/2014/main" id="{C8FCF401-AF63-5059-AF27-289D24BFA386}"/>
                  </a:ext>
                </a:extLst>
              </p:cNvPr>
              <p:cNvPicPr/>
              <p:nvPr/>
            </p:nvPicPr>
            <p:blipFill>
              <a:blip r:embed="rId3"/>
              <a:stretch>
                <a:fillRect/>
              </a:stretch>
            </p:blipFill>
            <p:spPr>
              <a:xfrm>
                <a:off x="731880" y="5232240"/>
                <a:ext cx="9850680" cy="34956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a:t>
            </a:r>
          </a:p>
          <a:p>
            <a:r>
              <a:rPr lang="en-US" sz="2000"/>
              <a:t>Consider a 'City' feature with 100 unique city names in a dataset. Which encoding technique is most suitable to represent this categorical feature while potentially reducing the dimensionality compared to one-hot encoding for a tree-based model?</a:t>
            </a:r>
          </a:p>
          <a:p>
            <a:r>
              <a:rPr lang="en-US" sz="2000"/>
              <a:t>a) Label Encoding.</a:t>
            </a:r>
          </a:p>
          <a:p>
            <a:r>
              <a:rPr lang="en-US" sz="2000"/>
              <a:t>b) One-Hot Encoding.</a:t>
            </a:r>
          </a:p>
          <a:p>
            <a:r>
              <a:rPr lang="en-US" sz="2000"/>
              <a:t>c) Target Encoding.</a:t>
            </a:r>
          </a:p>
          <a:p>
            <a:r>
              <a:rPr lang="en-US" sz="2000"/>
              <a:t>d) Binary Encoding.</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dirty="0"/>
              <a:t>Question 4:</a:t>
            </a:r>
          </a:p>
          <a:p>
            <a:r>
              <a:rPr lang="en-US" sz="2000" dirty="0"/>
              <a:t>Consider a 'City' feature with 100 unique city names in a dataset. Which encoding technique is most suitable to represent this categorical feature while potentially reducing the dimensionality compared to one-hot encoding for a tree-based model?</a:t>
            </a:r>
          </a:p>
          <a:p>
            <a:r>
              <a:rPr lang="en-US" sz="2000" dirty="0"/>
              <a:t>a) Label Encoding.</a:t>
            </a:r>
          </a:p>
          <a:p>
            <a:r>
              <a:rPr lang="en-US" sz="2000" dirty="0"/>
              <a:t>b) One-Hot Encoding.</a:t>
            </a:r>
          </a:p>
          <a:p>
            <a:r>
              <a:rPr lang="en-US" sz="2000" dirty="0"/>
              <a:t>c) Target Encoding.</a:t>
            </a:r>
          </a:p>
          <a:p>
            <a:r>
              <a:rPr lang="en-US" sz="2000" dirty="0"/>
              <a:t>d) Binary Encoding.</a:t>
            </a:r>
          </a:p>
          <a:p>
            <a:endParaRPr lang="en-US" sz="2000" dirty="0"/>
          </a:p>
          <a:p>
            <a:endParaRPr lang="en-US" sz="2000" dirty="0"/>
          </a:p>
          <a:p>
            <a:endParaRPr lang="en-US" sz="2000" dirty="0"/>
          </a:p>
          <a:p>
            <a:r>
              <a:rPr lang="en-US" sz="2000" b="1" dirty="0"/>
              <a:t>Correct Answer: d) Binary Encoding.</a:t>
            </a:r>
          </a:p>
          <a:p>
            <a:r>
              <a:rPr lang="en-US" sz="2000" b="1" dirty="0"/>
              <a:t>Explanation: For a high-cardinality categorical feature like 'City' with 100 unique values, one-hot encoding would create 100 new features, leading to high dimensionality. Label encoding (a) assigns an arbitrary numerical order, which is not suitable for non-ordinal data as it implies a false relationship. Target encoding (c) replaces categories with the mean of the target variable, which is powerful but prone to overfitting. Binary encoding (d) converts categories to binary code, which then gets one-hot encoded, resulting in fewer features than direct one-hot encoding while retaining more information than label encoding, making it a good compromise for high-cardinality features.</a:t>
            </a:r>
          </a:p>
          <a:p>
            <a:endParaRPr lang="en-US" sz="2000" b="1" dirty="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a:t>
            </a:r>
          </a:p>
          <a:p>
            <a:r>
              <a:rPr lang="en-US" sz="2000"/>
              <a:t>Which of the following scenarios best exemplifies the application of "feature creation" in feature engineering?</a:t>
            </a:r>
          </a:p>
          <a:p>
            <a:r>
              <a:rPr lang="en-US" sz="2000"/>
              <a:t>a) Selecting the top 5 most correlated features with the target variable.</a:t>
            </a:r>
          </a:p>
          <a:p>
            <a:r>
              <a:rPr lang="en-US" sz="2000"/>
              <a:t>b) Normalizing all numerical features to a 0-1 range.</a:t>
            </a:r>
          </a:p>
          <a:p>
            <a:r>
              <a:rPr lang="en-US" sz="2000"/>
              <a:t>c) Deriving 'age_in_years' from a 'date_of_birth' column.</a:t>
            </a:r>
          </a:p>
          <a:p>
            <a:r>
              <a:rPr lang="en-US" sz="2000"/>
              <a:t>d) Removing redundant features to reduce multicollinearity.</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dirty="0"/>
              <a:t>Question 5:</a:t>
            </a:r>
          </a:p>
          <a:p>
            <a:r>
              <a:rPr lang="en-US" sz="2000" dirty="0"/>
              <a:t>Which of the following scenarios best exemplifies the application of "feature creation" in feature engineering?</a:t>
            </a:r>
          </a:p>
          <a:p>
            <a:r>
              <a:rPr lang="en-US" sz="2000" dirty="0"/>
              <a:t>a) Selecting the top 5 most correlated features with the target variable.</a:t>
            </a:r>
          </a:p>
          <a:p>
            <a:r>
              <a:rPr lang="en-US" sz="2000" dirty="0"/>
              <a:t>b) Normalizing all numerical features to a 0-1 range.</a:t>
            </a:r>
          </a:p>
          <a:p>
            <a:r>
              <a:rPr lang="en-US" sz="2000" dirty="0"/>
              <a:t>c) Deriving '</a:t>
            </a:r>
            <a:r>
              <a:rPr lang="en-US" sz="2000" dirty="0" err="1"/>
              <a:t>age_in_years</a:t>
            </a:r>
            <a:r>
              <a:rPr lang="en-US" sz="2000" dirty="0"/>
              <a:t>' from a '</a:t>
            </a:r>
            <a:r>
              <a:rPr lang="en-US" sz="2000" dirty="0" err="1"/>
              <a:t>date_of_birth</a:t>
            </a:r>
            <a:r>
              <a:rPr lang="en-US" sz="2000" dirty="0"/>
              <a:t>' column.</a:t>
            </a:r>
          </a:p>
          <a:p>
            <a:r>
              <a:rPr lang="en-US" sz="2000" dirty="0"/>
              <a:t>d) Removing redundant features to reduce multicollinearity.</a:t>
            </a:r>
          </a:p>
          <a:p>
            <a:endParaRPr lang="en-US" sz="2000" dirty="0"/>
          </a:p>
          <a:p>
            <a:endParaRPr lang="en-US" sz="2000" dirty="0"/>
          </a:p>
          <a:p>
            <a:endParaRPr lang="en-US" sz="2000" dirty="0"/>
          </a:p>
          <a:p>
            <a:r>
              <a:rPr lang="en-US" sz="2000" b="1" dirty="0"/>
              <a:t>Correct Answer: c) Deriving '</a:t>
            </a:r>
            <a:r>
              <a:rPr lang="en-US" sz="2000" b="1" dirty="0" err="1"/>
              <a:t>age_in_years</a:t>
            </a:r>
            <a:r>
              <a:rPr lang="en-US" sz="2000" b="1" dirty="0"/>
              <a:t>' from a '</a:t>
            </a:r>
            <a:r>
              <a:rPr lang="en-US" sz="2000" b="1" dirty="0" err="1"/>
              <a:t>date_of_birth</a:t>
            </a:r>
            <a:r>
              <a:rPr lang="en-US" sz="2000" b="1" dirty="0"/>
              <a:t>' column.</a:t>
            </a:r>
          </a:p>
          <a:p>
            <a:r>
              <a:rPr lang="en-US" sz="2000" b="1" dirty="0"/>
              <a:t>Explanation: Feature creation involves generating new, informative features from existing ones. Calculating '</a:t>
            </a:r>
            <a:r>
              <a:rPr lang="en-US" sz="2000" b="1" dirty="0" err="1"/>
              <a:t>age_in_years</a:t>
            </a:r>
            <a:r>
              <a:rPr lang="en-US" sz="2000" b="1" dirty="0"/>
              <a:t>' from '</a:t>
            </a:r>
            <a:r>
              <a:rPr lang="en-US" sz="2000" b="1" dirty="0" err="1"/>
              <a:t>date_of_birth</a:t>
            </a:r>
            <a:r>
              <a:rPr lang="en-US" sz="2000" b="1" dirty="0"/>
              <a:t>' is a classic example of creating a new feature using domain knowledge and existing data. Options (a) and (d) describe feature selection, while (b) describes feature scaling/transformation.</a:t>
            </a:r>
          </a:p>
          <a:p>
            <a:endParaRPr lang="en-US" sz="2000" b="1" dirty="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a:t>
            </a:r>
          </a:p>
          <a:p>
            <a:r>
              <a:rPr lang="en-US" sz="2000"/>
              <a:t>In a dataset with hundreds of features, a data scientist decides to apply Principal Component Analysis (PCA). What is the primary benefit of using PCA in this context?</a:t>
            </a:r>
          </a:p>
          <a:p>
            <a:r>
              <a:rPr lang="en-US" sz="2000"/>
              <a:t>a) To convert categorical features into numerical ones.</a:t>
            </a:r>
          </a:p>
          <a:p>
            <a:r>
              <a:rPr lang="en-US" sz="2000"/>
              <a:t>b) To directly improve model accuracy by removing all noise.</a:t>
            </a:r>
          </a:p>
          <a:p>
            <a:r>
              <a:rPr lang="en-US" sz="2000"/>
              <a:t>c) To reduce the number of features while retaining most of the data's variance.</a:t>
            </a:r>
          </a:p>
          <a:p>
            <a:r>
              <a:rPr lang="en-US" sz="2000"/>
              <a:t>d) To detect and remove outliers more effectively.</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a:bodyPr>
          <a:lstStyle/>
          <a:p>
            <a:r>
              <a:rPr lang="en-US" sz="2000"/>
              <a:t>Question 6:</a:t>
            </a:r>
          </a:p>
          <a:p>
            <a:r>
              <a:rPr lang="en-US" sz="2000"/>
              <a:t>In a dataset with hundreds of features, a data scientist decides to apply Principal Component Analysis (PCA). What is the primary benefit of using PCA in this context?</a:t>
            </a:r>
          </a:p>
          <a:p>
            <a:r>
              <a:rPr lang="en-US" sz="2000"/>
              <a:t>a) To convert categorical features into numerical ones.</a:t>
            </a:r>
          </a:p>
          <a:p>
            <a:r>
              <a:rPr lang="en-US" sz="2000"/>
              <a:t>b) To directly improve model accuracy by removing all noise.</a:t>
            </a:r>
          </a:p>
          <a:p>
            <a:r>
              <a:rPr lang="en-US" sz="2000"/>
              <a:t>c) To reduce the number of features while retaining most of the data's variance.</a:t>
            </a:r>
          </a:p>
          <a:p>
            <a:r>
              <a:rPr lang="en-US" sz="2000"/>
              <a:t>d) To detect and remove outliers more effectively.</a:t>
            </a:r>
          </a:p>
          <a:p>
            <a:endParaRPr lang="en-US" sz="2000"/>
          </a:p>
          <a:p>
            <a:endParaRPr lang="en-US" sz="2000"/>
          </a:p>
          <a:p>
            <a:endParaRPr lang="en-US" sz="2000"/>
          </a:p>
          <a:p>
            <a:r>
              <a:rPr lang="en-US" sz="2000" b="1"/>
              <a:t>Correct Answer: c) To reduce the number of features while retaining most of the data's variance.</a:t>
            </a:r>
          </a:p>
          <a:p>
            <a:r>
              <a:rPr lang="en-US" sz="2000" b="1"/>
              <a:t>Explanation: PCA is a dimensionality reduction technique. Its main goal is to transform a large set of correlated variables into a smaller set of uncorrelated variables (principal components) that capture most of the original data's variance, thereby reducing dimensionality. Options (a), (b), and (d) are not the primary benefits or direct functions of PCA.</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a:t>
            </a:r>
          </a:p>
          <a:p>
            <a:r>
              <a:rPr lang="en-US" sz="2000"/>
              <a:t>A classification model for detecting rare fraudulent transactions performs poorly, consistently predicting "non-fraudulent." This suggests an issue with:</a:t>
            </a:r>
          </a:p>
          <a:p>
            <a:r>
              <a:rPr lang="en-US" sz="2000"/>
              <a:t>a) Outlier treatment.</a:t>
            </a:r>
          </a:p>
          <a:p>
            <a:r>
              <a:rPr lang="en-US" sz="2000"/>
              <a:t>b) Data scaling.</a:t>
            </a:r>
          </a:p>
          <a:p>
            <a:r>
              <a:rPr lang="en-US" sz="2000"/>
              <a:t>c) Imbalanced data.</a:t>
            </a:r>
          </a:p>
          <a:p>
            <a:r>
              <a:rPr lang="en-US" sz="2000"/>
              <a:t>d) Feature selection.</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10000"/>
          </a:bodyPr>
          <a:lstStyle/>
          <a:p>
            <a:r>
              <a:rPr lang="en-US" sz="2000"/>
              <a:t>Question 7:</a:t>
            </a:r>
          </a:p>
          <a:p>
            <a:r>
              <a:rPr lang="en-US" sz="2000"/>
              <a:t>A classification model for detecting rare fraudulent transactions performs poorly, consistently predicting "non-fraudulent." This suggests an issue with:</a:t>
            </a:r>
          </a:p>
          <a:p>
            <a:r>
              <a:rPr lang="en-US" sz="2000"/>
              <a:t>a) Outlier treatment.</a:t>
            </a:r>
          </a:p>
          <a:p>
            <a:r>
              <a:rPr lang="en-US" sz="2000"/>
              <a:t>b) Data scaling.</a:t>
            </a:r>
          </a:p>
          <a:p>
            <a:r>
              <a:rPr lang="en-US" sz="2000"/>
              <a:t>c) Imbalanced data.</a:t>
            </a:r>
          </a:p>
          <a:p>
            <a:r>
              <a:rPr lang="en-US" sz="2000"/>
              <a:t>d) Feature selection.</a:t>
            </a:r>
          </a:p>
          <a:p>
            <a:endParaRPr lang="en-US" sz="2000"/>
          </a:p>
          <a:p>
            <a:endParaRPr lang="en-US" sz="2000"/>
          </a:p>
          <a:p>
            <a:endParaRPr lang="en-US" sz="2000"/>
          </a:p>
          <a:p>
            <a:r>
              <a:rPr lang="en-US" sz="2000" b="1"/>
              <a:t>Correct Answer: c) Imbalanced data.</a:t>
            </a:r>
          </a:p>
          <a:p>
            <a:r>
              <a:rPr lang="en-US" sz="2000" b="1"/>
              <a:t>Explanation: When a classification model consistently predicts the majority class (e.g., "non-fraudulent") and performs poorly on the minority class (e.g., "fraudulent"), it is a strong indicator of an imbalanced dataset. The model learns to prioritize the majority class due to its overwhelming presence in the training data.</a:t>
            </a:r>
          </a:p>
          <a:p>
            <a:endParaRPr lang="en-US" sz="2000" b="1"/>
          </a:p>
          <a:p>
            <a:r>
              <a:rPr lang="en-US" sz="2000" b="1"/>
              <a:t>---</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lnSpcReduction="10000"/>
          </a:bodyPr>
          <a:lstStyle/>
          <a:p>
            <a:endParaRPr lang="en-US" sz="2000" dirty="0"/>
          </a:p>
          <a:p>
            <a:endParaRPr lang="en-US" sz="2000" dirty="0"/>
          </a:p>
          <a:p>
            <a:r>
              <a:rPr lang="en-US" sz="2000" dirty="0"/>
              <a:t>A marketing team wants to predict customer churn for their subscription service. They provide you with a raw dataset containing:</a:t>
            </a:r>
          </a:p>
          <a:p>
            <a:r>
              <a:rPr lang="en-US" sz="2000" dirty="0"/>
              <a:t>•   `</a:t>
            </a:r>
            <a:r>
              <a:rPr lang="en-US" sz="2000" dirty="0" err="1"/>
              <a:t>CustomerID</a:t>
            </a:r>
            <a:r>
              <a:rPr lang="en-US" sz="2000" dirty="0"/>
              <a:t>`: Unique identifier.</a:t>
            </a:r>
          </a:p>
          <a:p>
            <a:r>
              <a:rPr lang="en-US" sz="2000" dirty="0"/>
              <a:t>•   `</a:t>
            </a:r>
            <a:r>
              <a:rPr lang="en-US" sz="2000" dirty="0" err="1"/>
              <a:t>SubscriptionDate</a:t>
            </a:r>
            <a:r>
              <a:rPr lang="en-US" sz="2000" dirty="0"/>
              <a:t>`: Date the customer subscribed.</a:t>
            </a:r>
          </a:p>
          <a:p>
            <a:r>
              <a:rPr lang="en-US" sz="2000" dirty="0"/>
              <a:t>•   `</a:t>
            </a:r>
            <a:r>
              <a:rPr lang="en-US" sz="2000" dirty="0" err="1"/>
              <a:t>LastLoginDaysAgo</a:t>
            </a:r>
            <a:r>
              <a:rPr lang="en-US" sz="2000" dirty="0"/>
              <a:t>`: Number of days since the customer last logged in (contains some `</a:t>
            </a:r>
            <a:r>
              <a:rPr lang="en-US" sz="2000" dirty="0" err="1"/>
              <a:t>NaN</a:t>
            </a:r>
            <a:r>
              <a:rPr lang="en-US" sz="2000" dirty="0"/>
              <a:t>` values).</a:t>
            </a:r>
          </a:p>
          <a:p>
            <a:r>
              <a:rPr lang="en-US" sz="2000" dirty="0"/>
              <a:t>•   `</a:t>
            </a:r>
            <a:r>
              <a:rPr lang="en-US" sz="2000" dirty="0" err="1"/>
              <a:t>ServiceType</a:t>
            </a:r>
            <a:r>
              <a:rPr lang="en-US" sz="2000" dirty="0"/>
              <a:t>`: Categorical, indicating 'Basic', 'Premium', or 'Enterprise'.</a:t>
            </a:r>
          </a:p>
          <a:p>
            <a:r>
              <a:rPr lang="en-US" sz="2000" dirty="0"/>
              <a:t>•   `</a:t>
            </a:r>
            <a:r>
              <a:rPr lang="en-US" sz="2000" dirty="0" err="1"/>
              <a:t>MonthlyCharge</a:t>
            </a:r>
            <a:r>
              <a:rPr lang="en-US" sz="2000" dirty="0"/>
              <a:t>`: Numerical, subscription fee.</a:t>
            </a:r>
          </a:p>
          <a:p>
            <a:r>
              <a:rPr lang="en-US" sz="2000" dirty="0"/>
              <a:t>•   `</a:t>
            </a:r>
            <a:r>
              <a:rPr lang="en-US" sz="2000" dirty="0" err="1"/>
              <a:t>DataUsageGB</a:t>
            </a:r>
            <a:r>
              <a:rPr lang="en-US" sz="2000" dirty="0"/>
              <a:t>`: Numerical, gigabytes used (some extreme high values due to enterprise clients).</a:t>
            </a:r>
          </a:p>
          <a:p>
            <a:r>
              <a:rPr lang="en-US" sz="2000" dirty="0"/>
              <a:t>•   `Churn`: Binary (Yes/No), target variable.</a:t>
            </a:r>
          </a:p>
          <a:p>
            <a:endParaRPr lang="en-US" sz="2000" dirty="0"/>
          </a:p>
          <a:p>
            <a:r>
              <a:rPr lang="en-US" sz="2000" dirty="0"/>
              <a:t>Outline a comprehensive data preprocessing plan for this dataset, explaining why each step is necessary and what techniques you would consider.</a:t>
            </a:r>
          </a:p>
          <a:p>
            <a:endParaRPr lang="en-US" sz="2000" dirty="0"/>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32500" lnSpcReduction="20000"/>
          </a:bodyPr>
          <a:lstStyle/>
          <a:p>
            <a:r>
              <a:rPr lang="en-US" sz="2000" dirty="0"/>
              <a:t>Solution:</a:t>
            </a:r>
          </a:p>
          <a:p>
            <a:endParaRPr lang="en-US" sz="2000" dirty="0"/>
          </a:p>
          <a:p>
            <a:endParaRPr lang="en-US" sz="2000" dirty="0"/>
          </a:p>
          <a:p>
            <a:r>
              <a:rPr lang="en-US" sz="2000" dirty="0"/>
              <a:t>Here's a comprehensive data preprocessing plan:</a:t>
            </a:r>
          </a:p>
          <a:p>
            <a:endParaRPr lang="en-US" sz="2000" dirty="0"/>
          </a:p>
          <a:p>
            <a:r>
              <a:rPr lang="en-US" sz="2000" dirty="0"/>
              <a:t>1.  Handle Missing Data (`</a:t>
            </a:r>
            <a:r>
              <a:rPr lang="en-US" sz="2000" dirty="0" err="1"/>
              <a:t>LastLoginDaysAgo</a:t>
            </a:r>
            <a:r>
              <a:rPr lang="en-US" sz="2000" dirty="0"/>
              <a:t>`):</a:t>
            </a:r>
          </a:p>
          <a:p>
            <a:r>
              <a:rPr lang="en-US" sz="2000" dirty="0"/>
              <a:t>Reasoning: Missing values in a critical feature like `</a:t>
            </a:r>
            <a:r>
              <a:rPr lang="en-US" sz="2000" dirty="0" err="1"/>
              <a:t>LastLoginDaysAgo</a:t>
            </a:r>
            <a:r>
              <a:rPr lang="en-US" sz="2000" dirty="0"/>
              <a:t>` can cause errors or lead to incorrect model assumptions.</a:t>
            </a:r>
          </a:p>
          <a:p>
            <a:r>
              <a:rPr lang="en-US" sz="2000" dirty="0"/>
              <a:t>Technique: Given it's a numerical feature related to activity, imputing with the median is a robust choice if the distribution is skewed. Alternatively, if `</a:t>
            </a:r>
            <a:r>
              <a:rPr lang="en-US" sz="2000" dirty="0" err="1"/>
              <a:t>NaN</a:t>
            </a:r>
            <a:r>
              <a:rPr lang="en-US" sz="2000" dirty="0"/>
              <a:t>` might indicate customers who never logged in (or logged in very long ago), a specific placeholder value (e.g., a number much larger than the max `</a:t>
            </a:r>
            <a:r>
              <a:rPr lang="en-US" sz="2000" dirty="0" err="1"/>
              <a:t>LastLoginDaysAgo</a:t>
            </a:r>
            <a:r>
              <a:rPr lang="en-US" sz="2000" dirty="0"/>
              <a:t>`) could be considered if it makes sense in the domain. A simple `</a:t>
            </a:r>
            <a:r>
              <a:rPr lang="en-US" sz="2000" dirty="0" err="1"/>
              <a:t>fillna</a:t>
            </a:r>
            <a:r>
              <a:rPr lang="en-US" sz="2000" dirty="0"/>
              <a:t>(</a:t>
            </a:r>
            <a:r>
              <a:rPr lang="en-US" sz="2000" dirty="0" err="1"/>
              <a:t>df</a:t>
            </a:r>
            <a:r>
              <a:rPr lang="en-US" sz="2000" dirty="0"/>
              <a:t>['</a:t>
            </a:r>
            <a:r>
              <a:rPr lang="en-US" sz="2000" dirty="0" err="1"/>
              <a:t>LastLoginDaysAgo</a:t>
            </a:r>
            <a:r>
              <a:rPr lang="en-US" sz="2000" dirty="0"/>
              <a:t>'].median())` would be a starting point.</a:t>
            </a:r>
          </a:p>
          <a:p>
            <a:endParaRPr lang="en-US" sz="2000" dirty="0"/>
          </a:p>
          <a:p>
            <a:r>
              <a:rPr lang="en-US" sz="2000" dirty="0"/>
              <a:t>2.  Feature Engineering (`</a:t>
            </a:r>
            <a:r>
              <a:rPr lang="en-US" sz="2000" dirty="0" err="1"/>
              <a:t>SubscriptionDate</a:t>
            </a:r>
            <a:r>
              <a:rPr lang="en-US" sz="2000" dirty="0"/>
              <a:t>`):</a:t>
            </a:r>
          </a:p>
          <a:p>
            <a:r>
              <a:rPr lang="en-US" sz="2000" dirty="0"/>
              <a:t>Reasoning: The raw date format is not directly usable by most ML models. Extracting temporal features can provide valuable insights into customer tenure and loyalty.</a:t>
            </a:r>
          </a:p>
          <a:p>
            <a:r>
              <a:rPr lang="en-US" sz="2000" dirty="0"/>
              <a:t>Technique:</a:t>
            </a:r>
          </a:p>
          <a:p>
            <a:r>
              <a:rPr lang="en-US" sz="2000" dirty="0"/>
              <a:t>•   Calculate `</a:t>
            </a:r>
            <a:r>
              <a:rPr lang="en-US" sz="2000" dirty="0" err="1"/>
              <a:t>CustomerTenureMonths</a:t>
            </a:r>
            <a:r>
              <a:rPr lang="en-US" sz="2000" dirty="0"/>
              <a:t>` by finding the difference between the current date and `</a:t>
            </a:r>
            <a:r>
              <a:rPr lang="en-US" sz="2000" dirty="0" err="1"/>
              <a:t>SubscriptionDate</a:t>
            </a:r>
            <a:r>
              <a:rPr lang="en-US" sz="2000" dirty="0"/>
              <a:t>` and converting it to months.</a:t>
            </a:r>
          </a:p>
          <a:p>
            <a:r>
              <a:rPr lang="en-US" sz="2000" dirty="0"/>
              <a:t>•   Extract `</a:t>
            </a:r>
            <a:r>
              <a:rPr lang="en-US" sz="2000" dirty="0" err="1"/>
              <a:t>SubscriptionMonth</a:t>
            </a:r>
            <a:r>
              <a:rPr lang="en-US" sz="2000" dirty="0"/>
              <a:t>` or `</a:t>
            </a:r>
            <a:r>
              <a:rPr lang="en-US" sz="2000" dirty="0" err="1"/>
              <a:t>SubscriptionYear</a:t>
            </a:r>
            <a:r>
              <a:rPr lang="en-US" sz="2000" dirty="0"/>
              <a:t>` if there are seasonal subscription patterns.</a:t>
            </a:r>
          </a:p>
          <a:p>
            <a:r>
              <a:rPr lang="en-US" sz="2000" dirty="0"/>
              <a:t>•   Drop the original `</a:t>
            </a:r>
            <a:r>
              <a:rPr lang="en-US" sz="2000" dirty="0" err="1"/>
              <a:t>SubscriptionDate</a:t>
            </a:r>
            <a:r>
              <a:rPr lang="en-US" sz="2000" dirty="0"/>
              <a:t>` column after feature extraction.</a:t>
            </a:r>
          </a:p>
          <a:p>
            <a:endParaRPr lang="en-US" sz="2000" dirty="0"/>
          </a:p>
          <a:p>
            <a:r>
              <a:rPr lang="en-US" sz="2000" dirty="0"/>
              <a:t>3.  Outlier Treatment (`</a:t>
            </a:r>
            <a:r>
              <a:rPr lang="en-US" sz="2000" dirty="0" err="1"/>
              <a:t>DataUsageGB</a:t>
            </a:r>
            <a:r>
              <a:rPr lang="en-US" sz="2000" dirty="0"/>
              <a:t>`):</a:t>
            </a:r>
          </a:p>
          <a:p>
            <a:r>
              <a:rPr lang="en-US" sz="2000" dirty="0"/>
              <a:t>Reasoning: Extreme values, especially from 'Enterprise' clients, can skew the distribution of `</a:t>
            </a:r>
            <a:r>
              <a:rPr lang="en-US" sz="2000" dirty="0" err="1"/>
              <a:t>DataUsageGB</a:t>
            </a:r>
            <a:r>
              <a:rPr lang="en-US" sz="2000" dirty="0"/>
              <a:t>` and disproportionately influence models.</a:t>
            </a:r>
          </a:p>
          <a:p>
            <a:r>
              <a:rPr lang="en-US" sz="2000" dirty="0"/>
              <a:t>Technique:</a:t>
            </a:r>
          </a:p>
          <a:p>
            <a:r>
              <a:rPr lang="en-US" sz="2000" dirty="0"/>
              <a:t>•   Visualize the distribution (e.g., histogram, box plot) to confirm outliers.</a:t>
            </a:r>
          </a:p>
          <a:p>
            <a:r>
              <a:rPr lang="en-US" sz="2000" dirty="0"/>
              <a:t>•   Consider a logarithmic transformation (`np.log1p(</a:t>
            </a:r>
            <a:r>
              <a:rPr lang="en-US" sz="2000" dirty="0" err="1"/>
              <a:t>df</a:t>
            </a:r>
            <a:r>
              <a:rPr lang="en-US" sz="2000" dirty="0"/>
              <a:t>['</a:t>
            </a:r>
            <a:r>
              <a:rPr lang="en-US" sz="2000" dirty="0" err="1"/>
              <a:t>DataUsageGB</a:t>
            </a:r>
            <a:r>
              <a:rPr lang="en-US" sz="2000" dirty="0"/>
              <a:t>'])`) to compress the range of these values, making the distribution more normal without discarding data. This is often preferred over simple removal, especially if the extreme values represent legitimate (albeit large) data points.</a:t>
            </a:r>
          </a:p>
          <a:p>
            <a:endParaRPr lang="en-US" sz="2000" dirty="0"/>
          </a:p>
          <a:p>
            <a:r>
              <a:rPr lang="en-US" sz="2000" dirty="0"/>
              <a:t>4.  Handle Categorical Data (`</a:t>
            </a:r>
            <a:r>
              <a:rPr lang="en-US" sz="2000" dirty="0" err="1"/>
              <a:t>ServiceType</a:t>
            </a:r>
            <a:r>
              <a:rPr lang="en-US" sz="2000" dirty="0"/>
              <a:t>`, `Churn`):</a:t>
            </a:r>
          </a:p>
          <a:p>
            <a:r>
              <a:rPr lang="en-US" sz="2000" dirty="0"/>
              <a:t>Reasoning: Machine learning models typically require numerical input. Categorical features need to be converted.</a:t>
            </a:r>
          </a:p>
          <a:p>
            <a:r>
              <a:rPr lang="en-US" sz="2000" dirty="0"/>
              <a:t>Technique:</a:t>
            </a:r>
          </a:p>
          <a:p>
            <a:r>
              <a:rPr lang="en-US" sz="2000" dirty="0"/>
              <a:t>•   For `</a:t>
            </a:r>
            <a:r>
              <a:rPr lang="en-US" sz="2000" dirty="0" err="1"/>
              <a:t>ServiceType</a:t>
            </a:r>
            <a:r>
              <a:rPr lang="en-US" sz="2000" dirty="0"/>
              <a:t>`: Use one-hot encoding (`</a:t>
            </a:r>
            <a:r>
              <a:rPr lang="en-US" sz="2000" dirty="0" err="1"/>
              <a:t>pd.get_dummies</a:t>
            </a:r>
            <a:r>
              <a:rPr lang="en-US" sz="2000" dirty="0"/>
              <a:t>(</a:t>
            </a:r>
            <a:r>
              <a:rPr lang="en-US" sz="2000" dirty="0" err="1"/>
              <a:t>df</a:t>
            </a:r>
            <a:r>
              <a:rPr lang="en-US" sz="2000" dirty="0"/>
              <a:t>['</a:t>
            </a:r>
            <a:r>
              <a:rPr lang="en-US" sz="2000" dirty="0" err="1"/>
              <a:t>ServiceType</a:t>
            </a:r>
            <a:r>
              <a:rPr lang="en-US" sz="2000" dirty="0"/>
              <a:t>'])`). Since it has only a few distinct values and no inherent order, one-hot encoding prevents the model from assuming ordinal relationships.</a:t>
            </a:r>
          </a:p>
          <a:p>
            <a:r>
              <a:rPr lang="en-US" sz="2000" dirty="0"/>
              <a:t>•   For `Churn`: Convert the target variable 'Yes' to 1 and 'No' to 0 using label encoding or a simple mapping (`</a:t>
            </a:r>
            <a:r>
              <a:rPr lang="en-US" sz="2000" dirty="0" err="1"/>
              <a:t>df</a:t>
            </a:r>
            <a:r>
              <a:rPr lang="en-US" sz="2000" dirty="0"/>
              <a:t>['Churn'] = </a:t>
            </a:r>
            <a:r>
              <a:rPr lang="en-US" sz="2000" dirty="0" err="1"/>
              <a:t>df</a:t>
            </a:r>
            <a:r>
              <a:rPr lang="en-US" sz="2000" dirty="0"/>
              <a:t>['Churn'].map('Yes': 1, 'No': 0)`).</a:t>
            </a:r>
          </a:p>
          <a:p>
            <a:endParaRPr lang="en-US" sz="2000" dirty="0"/>
          </a:p>
          <a:p>
            <a:r>
              <a:rPr lang="en-US" sz="2000" dirty="0"/>
              <a:t>5.  Feature Scaling (Numerical Features):</a:t>
            </a:r>
          </a:p>
          <a:p>
            <a:r>
              <a:rPr lang="en-US" sz="2000" dirty="0"/>
              <a:t>Reasoning: Numerical features like `</a:t>
            </a:r>
            <a:r>
              <a:rPr lang="en-US" sz="2000" dirty="0" err="1"/>
              <a:t>MonthlyCharge</a:t>
            </a:r>
            <a:r>
              <a:rPr lang="en-US" sz="2000" dirty="0"/>
              <a:t>`, `</a:t>
            </a:r>
            <a:r>
              <a:rPr lang="en-US" sz="2000" dirty="0" err="1"/>
              <a:t>CustomerTenureMonths</a:t>
            </a:r>
            <a:r>
              <a:rPr lang="en-US" sz="2000" dirty="0"/>
              <a:t>`, and `</a:t>
            </a:r>
            <a:r>
              <a:rPr lang="en-US" sz="2000" dirty="0" err="1"/>
              <a:t>DataUsageGB</a:t>
            </a:r>
            <a:r>
              <a:rPr lang="en-US" sz="2000" dirty="0"/>
              <a:t>` (after transformation) often have different scales. Many ML algorithms (e.g., K-Nearest Neighbors, Support Vector Machines, neural networks) are sensitive to feature scales.</a:t>
            </a:r>
          </a:p>
          <a:p>
            <a:r>
              <a:rPr lang="en-US" sz="2000" dirty="0"/>
              <a:t>Technique: Apply </a:t>
            </a:r>
            <a:r>
              <a:rPr lang="en-US" sz="2000" dirty="0" err="1"/>
              <a:t>StandardScaler</a:t>
            </a:r>
            <a:r>
              <a:rPr lang="en-US" sz="2000" dirty="0"/>
              <a:t> (`</a:t>
            </a:r>
            <a:r>
              <a:rPr lang="en-US" sz="2000" dirty="0" err="1"/>
              <a:t>sklearn.preprocessing.StandardScaler</a:t>
            </a:r>
            <a:r>
              <a:rPr lang="en-US" sz="2000" dirty="0"/>
              <a:t>`) to standardize these features. This transforms the data to have a mean of 0 and a standard deviation of 1. Min-Max Scaler (`</a:t>
            </a:r>
            <a:r>
              <a:rPr lang="en-US" sz="2000" dirty="0" err="1"/>
              <a:t>sklearn.preprocessing.MinMaxScaler</a:t>
            </a:r>
            <a:r>
              <a:rPr lang="en-US" sz="2000" dirty="0"/>
              <a:t>`) could also be an option if features need to be within a specific range.</a:t>
            </a:r>
          </a:p>
          <a:p>
            <a:endParaRPr lang="en-US" sz="2000" dirty="0"/>
          </a:p>
          <a:p>
            <a:r>
              <a:rPr lang="en-US" sz="2000" dirty="0"/>
              <a:t>6.  Address `</a:t>
            </a:r>
            <a:r>
              <a:rPr lang="en-US" sz="2000" dirty="0" err="1"/>
              <a:t>CustomerID</a:t>
            </a:r>
            <a:r>
              <a:rPr lang="en-US" sz="2000" dirty="0"/>
              <a:t>`:</a:t>
            </a:r>
          </a:p>
          <a:p>
            <a:r>
              <a:rPr lang="en-US" sz="2000" dirty="0"/>
              <a:t>Reasoning: `</a:t>
            </a:r>
            <a:r>
              <a:rPr lang="en-US" sz="2000" dirty="0" err="1"/>
              <a:t>CustomerID</a:t>
            </a:r>
            <a:r>
              <a:rPr lang="en-US" sz="2000" dirty="0"/>
              <a:t>` is a unique identifier and not a predictive feature.</a:t>
            </a:r>
          </a:p>
          <a:p>
            <a:r>
              <a:rPr lang="en-US" sz="2000" dirty="0"/>
              <a:t>Technique: Drop this column as it adds no predictive value and could lead to overfitting if accidentally used.</a:t>
            </a:r>
          </a:p>
          <a:p>
            <a:endParaRPr lang="en-US" sz="2000" dirty="0"/>
          </a:p>
          <a:p>
            <a:r>
              <a:rPr lang="en-US" sz="2000" dirty="0"/>
              <a:t>Summary of Plan:</a:t>
            </a:r>
          </a:p>
          <a:p>
            <a:endParaRPr lang="en-US" sz="2000" dirty="0"/>
          </a:p>
          <a:p>
            <a:r>
              <a:rPr lang="en-US" sz="2000" dirty="0"/>
              <a:t>1.  Impute missing `</a:t>
            </a:r>
            <a:r>
              <a:rPr lang="en-US" sz="2000" dirty="0" err="1"/>
              <a:t>LastLoginDaysAgo</a:t>
            </a:r>
            <a:r>
              <a:rPr lang="en-US" sz="2000" dirty="0"/>
              <a:t>` with the median.</a:t>
            </a:r>
          </a:p>
          <a:p>
            <a:r>
              <a:rPr lang="en-US" sz="2000" dirty="0"/>
              <a:t>2.  Create `</a:t>
            </a:r>
            <a:r>
              <a:rPr lang="en-US" sz="2000" dirty="0" err="1"/>
              <a:t>CustomerTenureMonths</a:t>
            </a:r>
            <a:r>
              <a:rPr lang="en-US" sz="2000" dirty="0"/>
              <a:t>` from `</a:t>
            </a:r>
            <a:r>
              <a:rPr lang="en-US" sz="2000" dirty="0" err="1"/>
              <a:t>SubscriptionDate</a:t>
            </a:r>
            <a:r>
              <a:rPr lang="en-US" sz="2000" dirty="0"/>
              <a:t>` and drop the original date column.</a:t>
            </a:r>
          </a:p>
          <a:p>
            <a:r>
              <a:rPr lang="en-US" sz="2000" dirty="0"/>
              <a:t>3.  Apply logarithmic transformation to `</a:t>
            </a:r>
            <a:r>
              <a:rPr lang="en-US" sz="2000" dirty="0" err="1"/>
              <a:t>DataUsageGB</a:t>
            </a:r>
            <a:r>
              <a:rPr lang="en-US" sz="2000" dirty="0"/>
              <a:t>` to handle skewness and outliers.</a:t>
            </a:r>
          </a:p>
          <a:p>
            <a:r>
              <a:rPr lang="en-US" sz="2000" dirty="0"/>
              <a:t>4.  One-hot encode `</a:t>
            </a:r>
            <a:r>
              <a:rPr lang="en-US" sz="2000" dirty="0" err="1"/>
              <a:t>ServiceType</a:t>
            </a:r>
            <a:r>
              <a:rPr lang="en-US" sz="2000" dirty="0"/>
              <a:t>`.</a:t>
            </a:r>
          </a:p>
          <a:p>
            <a:r>
              <a:rPr lang="en-US" sz="2000" dirty="0"/>
              <a:t>5.  Label encode the `Churn` target variable (Yes=1, No=0).</a:t>
            </a:r>
          </a:p>
          <a:p>
            <a:r>
              <a:rPr lang="en-US" sz="2000" dirty="0"/>
              <a:t>6.  Standardize all numerical features (`</a:t>
            </a:r>
            <a:r>
              <a:rPr lang="en-US" sz="2000" dirty="0" err="1"/>
              <a:t>MonthlyCharge</a:t>
            </a:r>
            <a:r>
              <a:rPr lang="en-US" sz="2000" dirty="0"/>
              <a:t>`, `</a:t>
            </a:r>
            <a:r>
              <a:rPr lang="en-US" sz="2000" dirty="0" err="1"/>
              <a:t>CustomerTenureMonths</a:t>
            </a:r>
            <a:r>
              <a:rPr lang="en-US" sz="2000" dirty="0"/>
              <a:t>`, transformed `</a:t>
            </a:r>
            <a:r>
              <a:rPr lang="en-US" sz="2000" dirty="0" err="1"/>
              <a:t>DataUsageGB</a:t>
            </a:r>
            <a:r>
              <a:rPr lang="en-US" sz="2000" dirty="0"/>
              <a:t>`, imputed `</a:t>
            </a:r>
            <a:r>
              <a:rPr lang="en-US" sz="2000" dirty="0" err="1"/>
              <a:t>LastLoginDaysAgo</a:t>
            </a:r>
            <a:r>
              <a:rPr lang="en-US" sz="2000" dirty="0"/>
              <a:t>`).</a:t>
            </a:r>
          </a:p>
          <a:p>
            <a:r>
              <a:rPr lang="en-US" sz="2000" dirty="0"/>
              <a:t>7.  Drop the `</a:t>
            </a:r>
            <a:r>
              <a:rPr lang="en-US" sz="2000" dirty="0" err="1"/>
              <a:t>CustomerID</a:t>
            </a:r>
            <a:r>
              <a:rPr lang="en-US" sz="2000" dirty="0"/>
              <a:t>` column.</a:t>
            </a:r>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0110956" cy="4622251"/>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a:t>
            </a:r>
          </a:p>
          <a:p>
            <a:pPr>
              <a:lnSpc>
                <a:spcPct val="115000"/>
              </a:lnSpc>
              <a:spcAft>
                <a:spcPts val="1000"/>
              </a:spcAft>
            </a:pPr>
            <a:r>
              <a:rPr lang="en-US" dirty="0">
                <a:latin typeface=""/>
                <a:ea typeface="Times New Roman"/>
                <a:cs typeface="Times New Roman"/>
              </a:rPr>
              <a:t>•   Explain the critical role of data preprocessing in the machine learning pipeline.</a:t>
            </a:r>
          </a:p>
          <a:p>
            <a:pPr>
              <a:lnSpc>
                <a:spcPct val="115000"/>
              </a:lnSpc>
              <a:spcAft>
                <a:spcPts val="1000"/>
              </a:spcAft>
            </a:pPr>
            <a:r>
              <a:rPr lang="en-US" dirty="0">
                <a:latin typeface=""/>
                <a:ea typeface="Times New Roman"/>
                <a:cs typeface="Times New Roman"/>
              </a:rPr>
              <a:t>•   Identify and apply various data cleaning techniques, including handling missing data and outliers.</a:t>
            </a:r>
          </a:p>
          <a:p>
            <a:pPr>
              <a:lnSpc>
                <a:spcPct val="115000"/>
              </a:lnSpc>
              <a:spcAft>
                <a:spcPts val="1000"/>
              </a:spcAft>
            </a:pPr>
            <a:r>
              <a:rPr lang="en-US" dirty="0">
                <a:latin typeface=""/>
                <a:ea typeface="Times New Roman"/>
                <a:cs typeface="Times New Roman"/>
              </a:rPr>
              <a:t>•   Understand different data transformation methods, such as scaling, normalization, and encoding categorical variables.</a:t>
            </a:r>
          </a:p>
          <a:p>
            <a:pPr>
              <a:lnSpc>
                <a:spcPct val="115000"/>
              </a:lnSpc>
              <a:spcAft>
                <a:spcPts val="1000"/>
              </a:spcAft>
            </a:pPr>
            <a:r>
              <a:rPr lang="en-US" dirty="0">
                <a:latin typeface=""/>
                <a:ea typeface="Times New Roman"/>
                <a:cs typeface="Times New Roman"/>
              </a:rPr>
              <a:t>•   Implement feature engineering strategies to enhance model performance and interpretability.</a:t>
            </a:r>
          </a:p>
          <a:p>
            <a:pPr>
              <a:lnSpc>
                <a:spcPct val="115000"/>
              </a:lnSpc>
              <a:spcAft>
                <a:spcPts val="1000"/>
              </a:spcAft>
            </a:pPr>
            <a:r>
              <a:rPr lang="en-US" dirty="0">
                <a:latin typeface=""/>
                <a:ea typeface="Times New Roman"/>
                <a:cs typeface="Times New Roman"/>
              </a:rPr>
              <a:t>•   Recognize the importance of dimensionality reduction and strategies for addressing imbalanced datasets.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243</TotalTime>
  <Words>3832</Words>
  <Application>Microsoft Office PowerPoint</Application>
  <PresentationFormat>Widescreen</PresentationFormat>
  <Paragraphs>325</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Arial</vt:lpstr>
      <vt:lpstr>Avenir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idol</dc:creator>
  <cp:lastModifiedBy>Mohamed Ali</cp:lastModifiedBy>
  <cp:revision>41</cp:revision>
  <dcterms:created xsi:type="dcterms:W3CDTF">2025-07-09T10:39:06Z</dcterms:created>
  <dcterms:modified xsi:type="dcterms:W3CDTF">2026-10-28T05:24:18Z</dcterms:modified>
</cp:coreProperties>
</file>