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2"/>
    <p:sldId id="259" r:id="rId3"/>
    <p:sldId id="263" r:id="rId4"/>
    <p:sldId id="278" r:id="rId5"/>
    <p:sldId id="279" r:id="rId6"/>
    <p:sldId id="280" r:id="rId7"/>
    <p:sldId id="281" r:id="rId8"/>
    <p:sldId id="282" r:id="rId9"/>
    <p:sldId id="283" r:id="rId10"/>
    <p:sldId id="284" r:id="rId11"/>
    <p:sldId id="285" r:id="rId12"/>
    <p:sldId id="286" r:id="rId13"/>
    <p:sldId id="287" r:id="rId14"/>
    <p:sldId id="288" r:id="rId15"/>
    <p:sldId id="260" r:id="rId16"/>
    <p:sldId id="277" r:id="rId17"/>
    <p:sldId id="276" r:id="rId18"/>
    <p:sldId id="275" r:id="rId19"/>
    <p:sldId id="274" r:id="rId20"/>
    <p:sldId id="273" r:id="rId21"/>
    <p:sldId id="272" r:id="rId22"/>
    <p:sldId id="271" r:id="rId23"/>
    <p:sldId id="270" r:id="rId24"/>
    <p:sldId id="269" r:id="rId25"/>
    <p:sldId id="268" r:id="rId26"/>
    <p:sldId id="267" r:id="rId27"/>
    <p:sldId id="266" r:id="rId28"/>
    <p:sldId id="265" r:id="rId29"/>
    <p:sldId id="261" r:id="rId30"/>
    <p:sldId id="264" r:id="rId31"/>
    <p:sldId id="26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6" userDrawn="1">
          <p15:clr>
            <a:srgbClr val="A4A3A4"/>
          </p15:clr>
        </p15:guide>
        <p15:guide id="4" pos="75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94660"/>
  </p:normalViewPr>
  <p:slideViewPr>
    <p:cSldViewPr snapToGrid="0" showGuides="1">
      <p:cViewPr varScale="1">
        <p:scale>
          <a:sx n="92" d="100"/>
          <a:sy n="92" d="100"/>
        </p:scale>
        <p:origin x="420" y="36"/>
      </p:cViewPr>
      <p:guideLst>
        <p:guide orient="horz" pos="2160"/>
        <p:guide pos="3840"/>
        <p:guide pos="166"/>
        <p:guide pos="75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8CAB6-0A18-B12A-06A5-CFD0B0666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51E932-87D4-E4A3-5EC5-FD37D2ADB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361194-F8BE-C949-EFCA-00EE7F86791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FF334BE2-760E-FA63-F53E-6EC6D65C14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019652-B072-95C3-666A-824B223F073C}"/>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20810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6250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55807-6537-7A6D-A641-B2A17376E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5B0403-42FF-1C59-1D5B-32C3D76224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186C83-3353-0411-EE9B-3502DB3E4588}"/>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470F388B-76FB-C020-4F27-4E8F47369B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013B55-0C9D-95FE-DE57-76D9CAC53846}"/>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0718621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0200A-4353-C353-E184-88D52DADCD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E2DB6-9BB8-38D4-16CA-0544ED95B0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E55387-24D0-58FA-83A3-7DE9457A8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6792733-6AE7-EB0F-FA3B-AF5CDFCC84A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051F2C6F-7464-367E-E3F8-97DC8C8F38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816EA2-7E56-7BA3-2439-E543C4160FC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2368239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A9EF-5440-6E76-FF73-0CF065E3FE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746708-25E5-77F6-A964-227D0EE4C5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C22E3-5FB3-FA79-ED62-21819A6A00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96025A-E802-D170-D6B8-690A286BCE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B7203-20FE-415A-F923-11A30CAAC6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7DA1C9-7D6A-71D0-70D9-9B0828718429}"/>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8" name="Footer Placeholder 7">
            <a:extLst>
              <a:ext uri="{FF2B5EF4-FFF2-40B4-BE49-F238E27FC236}">
                <a16:creationId xmlns:a16="http://schemas.microsoft.com/office/drawing/2014/main" id="{C5FE8C4F-142A-8803-C2AD-C6393A49A3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83C7CE-86E2-2A63-0ECE-6F7089A68601}"/>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181712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AE12F-6D65-52A0-48AA-B03A63F84E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C2E755-9EA8-6439-9AA9-91FF3D9183D1}"/>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4" name="Footer Placeholder 3">
            <a:extLst>
              <a:ext uri="{FF2B5EF4-FFF2-40B4-BE49-F238E27FC236}">
                <a16:creationId xmlns:a16="http://schemas.microsoft.com/office/drawing/2014/main" id="{3DEB468B-111F-CF06-6C38-3BC8CFF43D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D94801-333D-738E-07D1-D8DAF45C098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65337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345271-495D-152E-CF4A-DF4710D8BEC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3" name="Footer Placeholder 2">
            <a:extLst>
              <a:ext uri="{FF2B5EF4-FFF2-40B4-BE49-F238E27FC236}">
                <a16:creationId xmlns:a16="http://schemas.microsoft.com/office/drawing/2014/main" id="{24F704DD-032D-53A7-BFF6-45E5965DD4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277178-4230-89A4-5872-75B349208232}"/>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53700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A69D6-24F8-42C9-1D77-EC88669074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9D61D7-9867-D57B-393C-47C770AA65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ED94E2-1CFC-4DFF-4491-2085D8036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0CD279-5116-5E15-60C5-9EF79DDB4C64}"/>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69031C19-F77D-04E3-B033-CF6338C139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8963EA-8864-E6BE-24F5-23AFDA15D8B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808667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6FE6-775B-5F83-EEAB-E36547DB1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964366-F9DB-7570-8134-3DDD5A1017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EFF4E6-78FE-6A93-F107-25294F26CE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A6E5D-D1B7-97B4-E5F0-293D2283C25B}"/>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7470F263-4F04-05C5-5AB8-17B4BF4369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8888F2-58F4-670D-C34D-AD8FC7455A6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40883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8A30-B913-89F3-B532-786CB42C2F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D29D4D-DEE7-6A1D-B42E-38574A7273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96FAF5-A696-3446-BF82-38164F6A8A2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24EE94DE-54DD-A6A8-474C-AB93008EA0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98F6DA-A2A6-C945-BF21-6706B5FA6B6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139727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308265-AD14-4580-CC74-9C4CF00E99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F309DA-5772-6FBD-97A3-F137B93F90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C1C790-714C-45F7-D996-F901BECA504F}"/>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7BF76402-000D-C35B-9564-25F55D31AC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067743-5BF8-DFC2-CBDC-EB27E01169C7}"/>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6375857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B05E56-8D2F-5F2F-8551-44A2B095FC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6445D5-7E47-8624-9AC3-BB3BCD2772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9B5D27-2F61-7E25-7C4F-55CEB62622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628E40CC-F5EF-5459-5DE6-51B24194D7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C677AFA-267B-483B-8828-7D5EC7CBFD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0C9D19-9CC2-4BD0-80ED-38FDA6BAD898}" type="slidenum">
              <a:rPr lang="en-IN" smtClean="0"/>
              <a:pPr/>
              <a:t>‹#›</a:t>
            </a:fld>
            <a:endParaRPr lang="en-IN"/>
          </a:p>
        </p:txBody>
      </p:sp>
    </p:spTree>
    <p:extLst>
      <p:ext uri="{BB962C8B-B14F-4D97-AF65-F5344CB8AC3E}">
        <p14:creationId xmlns:p14="http://schemas.microsoft.com/office/powerpoint/2010/main" val="892197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AB705D-FF7F-820B-0A7C-C0218084AA82}"/>
              </a:ext>
            </a:extLst>
          </p:cNvPr>
          <p:cNvSpPr txBox="1"/>
          <p:nvPr/>
        </p:nvSpPr>
        <p:spPr>
          <a:xfrm>
            <a:off x="2299509" y="2591785"/>
            <a:ext cx="6095306" cy="369332"/>
          </a:xfrm>
          <a:prstGeom prst="rect">
            <a:avLst/>
          </a:prstGeom>
          <a:noFill/>
        </p:spPr>
        <p:txBody>
          <a:bodyPr wrap="square">
            <a:spAutoFit/>
          </a:bodyPr>
          <a:lstStyle/>
          <a:p>
            <a:r>
              <a:rPr lang="en-IN" dirty="0">
                <a:solidFill>
                  <a:srgbClr val="FF0000"/>
                </a:solidFill>
              </a:rPr>
              <a:t>Unsupervised Learning and Strategic Approach Selection</a:t>
            </a:r>
          </a:p>
        </p:txBody>
      </p:sp>
    </p:spTree>
    <p:extLst>
      <p:ext uri="{BB962C8B-B14F-4D97-AF65-F5344CB8AC3E}">
        <p14:creationId xmlns:p14="http://schemas.microsoft.com/office/powerpoint/2010/main" val="2338128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856913"/>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core principles and methodologies of unsupervised learning.</a:t>
            </a:r>
          </a:p>
          <a:p>
            <a:pPr>
              <a:lnSpc>
                <a:spcPct val="115000"/>
              </a:lnSpc>
              <a:spcAft>
                <a:spcPts val="1000"/>
              </a:spcAft>
            </a:pPr>
            <a:r>
              <a:rPr lang="en-US" dirty="0">
                <a:latin typeface=""/>
                <a:ea typeface="Times New Roman"/>
                <a:cs typeface="Times New Roman"/>
              </a:rPr>
              <a:t>•   Explore various unsupervised learning algorithms for clustering, dimensionality reduction, and anomaly detection.</a:t>
            </a:r>
          </a:p>
          <a:p>
            <a:pPr>
              <a:lnSpc>
                <a:spcPct val="115000"/>
              </a:lnSpc>
              <a:spcAft>
                <a:spcPts val="1000"/>
              </a:spcAft>
            </a:pPr>
            <a:r>
              <a:rPr lang="en-US" dirty="0">
                <a:latin typeface=""/>
                <a:ea typeface="Times New Roman"/>
                <a:cs typeface="Times New Roman"/>
              </a:rPr>
              <a:t>•   Identify real-world applications of unsupervised learning techniques.</a:t>
            </a:r>
          </a:p>
          <a:p>
            <a:pPr>
              <a:lnSpc>
                <a:spcPct val="115000"/>
              </a:lnSpc>
              <a:spcAft>
                <a:spcPts val="1000"/>
              </a:spcAft>
            </a:pPr>
            <a:r>
              <a:rPr lang="en-US" dirty="0">
                <a:latin typeface=""/>
                <a:ea typeface="Times New Roman"/>
                <a:cs typeface="Times New Roman"/>
              </a:rPr>
              <a:t>•   Learn the critical factors influencing the choice between supervised and unsupervised learning approaches.</a:t>
            </a:r>
          </a:p>
          <a:p>
            <a:pPr>
              <a:lnSpc>
                <a:spcPct val="115000"/>
              </a:lnSpc>
              <a:spcAft>
                <a:spcPts val="1000"/>
              </a:spcAft>
            </a:pPr>
            <a:r>
              <a:rPr lang="en-US" dirty="0">
                <a:latin typeface=""/>
                <a:ea typeface="Times New Roman"/>
                <a:cs typeface="Times New Roman"/>
              </a:rPr>
              <a:t>•   Analyze different scenarios to determine the most suitable machine learning paradigm.</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Unsupervised learning discovers patterns and structures in data without predefined labels or target variables.</a:t>
            </a:r>
          </a:p>
          <a:p>
            <a:endParaRPr lang="en-US" sz="2000"/>
          </a:p>
          <a:p>
            <a:r>
              <a:rPr lang="en-US" sz="2000"/>
              <a:t>•   It explores inherent characteristics within datasets to uncover hidden insights.</a:t>
            </a:r>
          </a:p>
          <a:p>
            <a:endParaRPr lang="en-US" sz="2000"/>
          </a:p>
          <a:p>
            <a:r>
              <a:rPr lang="en-US" sz="2000"/>
              <a:t>•   Key aspects include clustering, dimensionality reduction, and anomaly detection.</a:t>
            </a:r>
          </a:p>
          <a:p>
            <a:endParaRPr lang="en-US" sz="2000"/>
          </a:p>
          <a:p>
            <a:r>
              <a:rPr lang="en-US" sz="2000"/>
              <a:t>•   These techniques are vital for simplifying complex data and identifying unusual patterns.</a:t>
            </a:r>
          </a:p>
          <a:p>
            <a:endParaRPr lang="en-US" sz="2000"/>
          </a:p>
          <a:p>
            <a:r>
              <a:rPr lang="en-US" sz="2000"/>
              <a:t>•   It's a foundational branch of machine learning for exploratory data analysis.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Unsupervised Learning Fundamentals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108065" y="1388684"/>
            <a:ext cx="11837324" cy="3474261"/>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Clustering is the process of grouping similar data points together based on shared characteristics.</a:t>
            </a:r>
          </a:p>
          <a:p>
            <a:endParaRPr lang="en-US" sz="2000" dirty="0"/>
          </a:p>
          <a:p>
            <a:r>
              <a:rPr lang="en-US" sz="2000" dirty="0"/>
              <a:t>•   It helps reveal natural groupings and underlying structures within unlabeled data.</a:t>
            </a:r>
          </a:p>
          <a:p>
            <a:endParaRPr lang="en-US" sz="2000" dirty="0"/>
          </a:p>
          <a:p>
            <a:r>
              <a:rPr lang="en-US" sz="2000" dirty="0"/>
              <a:t>•   This technique is invaluable for data analysis, pattern recognition, and market segmentation.</a:t>
            </a:r>
          </a:p>
          <a:p>
            <a:endParaRPr lang="en-US" sz="2000" dirty="0"/>
          </a:p>
          <a:p>
            <a:r>
              <a:rPr lang="en-US" sz="2000" dirty="0"/>
              <a:t>•   Prominent clustering algorithms include K-Means, DBSCAN, and Hierarchical Clustering.</a:t>
            </a:r>
          </a:p>
          <a:p>
            <a:endParaRPr lang="en-US" sz="2000" dirty="0"/>
          </a:p>
          <a:p>
            <a:r>
              <a:rPr lang="en-US" sz="2000" dirty="0"/>
              <a:t>•   These algorithms differ in their approach to defining and forming clusters.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Clustering: Grouping Similar Data</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K-Means is a popular algorithm that partitions data points into 'K' distinct clusters.</a:t>
            </a:r>
          </a:p>
          <a:p>
            <a:endParaRPr lang="en-US" sz="2000"/>
          </a:p>
          <a:p>
            <a:r>
              <a:rPr lang="en-US" sz="2000"/>
              <a:t>•   'K' is a user-defined parameter representing the desired number of clusters.</a:t>
            </a:r>
          </a:p>
          <a:p>
            <a:endParaRPr lang="en-US" sz="2000"/>
          </a:p>
          <a:p>
            <a:r>
              <a:rPr lang="en-US" sz="2000"/>
              <a:t>•   The algorithm iteratively assigns data points to the nearest cluster center and recalculates centers until convergence.</a:t>
            </a:r>
          </a:p>
          <a:p>
            <a:endParaRPr lang="en-US" sz="2000"/>
          </a:p>
          <a:p>
            <a:r>
              <a:rPr lang="en-US" sz="2000"/>
              <a:t>•   It is particularly suitable for datasets where the number of clusters is known or can be reasonably estimated.</a:t>
            </a:r>
          </a:p>
          <a:p>
            <a:endParaRPr lang="en-US" sz="2000"/>
          </a:p>
          <a:p>
            <a:r>
              <a:rPr lang="en-US" sz="2000"/>
              <a:t>• Real-world Example: Customer segmentation in retail based on purchasing behavior for targeted marketing.</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K-Means Clustering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598325" y="1022924"/>
            <a:ext cx="10427563" cy="4726096"/>
          </a:xfrm>
          <a:prstGeom prst="rect">
            <a:avLst/>
          </a:prstGeom>
          <a:noFill/>
          <a:ln>
            <a:noFill/>
          </a:ln>
        </p:spPr>
        <p:txBody>
          <a:bodyPr spcFirstLastPara="1" wrap="square" lIns="91425" tIns="45700" rIns="91425" bIns="45700" anchor="t" anchorCtr="0">
            <a:noAutofit/>
          </a:bodyPr>
          <a:lstStyle/>
          <a:p>
            <a:endParaRPr lang="en-US" dirty="0"/>
          </a:p>
          <a:p>
            <a:r>
              <a:rPr lang="en-US" dirty="0"/>
              <a:t>• DBSCAN (Density-Based Spatial Clustering of Applications with Noise) identifies clusters based on data point density.</a:t>
            </a:r>
          </a:p>
          <a:p>
            <a:endParaRPr lang="en-US" dirty="0"/>
          </a:p>
          <a:p>
            <a:r>
              <a:rPr lang="en-US" dirty="0"/>
              <a:t>•   It groups densely packed points, separating less dense regions as noise, making it robust to irregularly shaped clusters.</a:t>
            </a:r>
          </a:p>
          <a:p>
            <a:endParaRPr lang="en-US" dirty="0"/>
          </a:p>
          <a:p>
            <a:r>
              <a:rPr lang="en-US" dirty="0"/>
              <a:t>• Real-world Example (DBSCAN): Detecting network intrusions by identifying unusual patterns in network traffic data.</a:t>
            </a:r>
          </a:p>
          <a:p>
            <a:endParaRPr lang="en-US" dirty="0"/>
          </a:p>
          <a:p>
            <a:r>
              <a:rPr lang="en-US" dirty="0"/>
              <a:t>• Hierarchical Clustering builds a tree-like structure (</a:t>
            </a:r>
            <a:r>
              <a:rPr lang="en-US" dirty="0" err="1"/>
              <a:t>dendrogram</a:t>
            </a:r>
            <a:r>
              <a:rPr lang="en-US" dirty="0"/>
              <a:t>) by successively merging or splitting clusters.</a:t>
            </a:r>
          </a:p>
          <a:p>
            <a:endParaRPr lang="en-US" dirty="0"/>
          </a:p>
          <a:p>
            <a:r>
              <a:rPr lang="en-US" dirty="0"/>
              <a:t>•   It allows exploration of different levels of granularity, using either agglomerative (bottom-up) or divisive (top-down) approaches.</a:t>
            </a:r>
          </a:p>
          <a:p>
            <a:endParaRPr lang="en-US" dirty="0"/>
          </a:p>
          <a:p>
            <a:r>
              <a:rPr lang="en-US" dirty="0"/>
              <a:t>• Real-world Example (Hierarchical): Creating biological taxonomies by clustering species based on genetic similarities.</a:t>
            </a:r>
          </a:p>
        </p:txBody>
      </p:sp>
      <p:sp>
        <p:nvSpPr>
          <p:cNvPr id="5" name="Google Shape;110;p5"/>
          <p:cNvSpPr txBox="1">
            <a:spLocks/>
          </p:cNvSpPr>
          <p:nvPr/>
        </p:nvSpPr>
        <p:spPr>
          <a:xfrm>
            <a:off x="456993" y="842772"/>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sym typeface="Avenir"/>
              </a:rPr>
              <a:t>DBSCAN and Hierarchical Clustering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Dimensionality reduction techniques aim to decrease the number of features (dimensions) in a dataset.</a:t>
            </a:r>
          </a:p>
          <a:p>
            <a:endParaRPr lang="en-US" sz="2000"/>
          </a:p>
          <a:p>
            <a:r>
              <a:rPr lang="en-US" sz="2000"/>
              <a:t>•   The primary goal is to preserve essential information while making the data easier to analyze and visualize.</a:t>
            </a:r>
          </a:p>
          <a:p>
            <a:endParaRPr lang="en-US" sz="2000"/>
          </a:p>
          <a:p>
            <a:r>
              <a:rPr lang="en-US" sz="2000"/>
              <a:t>•   High-dimensional data often presents challenges like increased computational cost and difficulty in interpretation.</a:t>
            </a:r>
          </a:p>
          <a:p>
            <a:endParaRPr lang="en-US" sz="2000"/>
          </a:p>
          <a:p>
            <a:r>
              <a:rPr lang="en-US" sz="2000"/>
              <a:t>•   Key methods include Principal Component Analysis (PCA) and t-Distributed Stochastic Neighbor Embedding (t-SNE).</a:t>
            </a:r>
          </a:p>
          <a:p>
            <a:endParaRPr lang="en-US" sz="2000"/>
          </a:p>
          <a:p>
            <a:r>
              <a:rPr lang="en-US" sz="2000"/>
              <a:t>•   These techniques are crucial for data preprocessing and noise reduction in complex datasets.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Dimensionality Reduction: Simplifying Data Complexity</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141796"/>
            <a:ext cx="10427563" cy="4726096"/>
          </a:xfrm>
          <a:prstGeom prst="rect">
            <a:avLst/>
          </a:prstGeom>
          <a:noFill/>
          <a:ln>
            <a:noFill/>
          </a:ln>
        </p:spPr>
        <p:txBody>
          <a:bodyPr spcFirstLastPara="1" wrap="square" lIns="91425" tIns="45700" rIns="91425" bIns="45700" anchor="t" anchorCtr="0">
            <a:noAutofit/>
          </a:bodyPr>
          <a:lstStyle/>
          <a:p>
            <a:endParaRPr lang="en-US" dirty="0"/>
          </a:p>
          <a:p>
            <a:r>
              <a:rPr lang="en-US" dirty="0"/>
              <a:t>• Principal Component Analysis (PCA) is a linear method that identifies orthogonal axes (principal components) of maximum data variance.</a:t>
            </a:r>
          </a:p>
          <a:p>
            <a:endParaRPr lang="en-US" dirty="0"/>
          </a:p>
          <a:p>
            <a:r>
              <a:rPr lang="en-US" dirty="0"/>
              <a:t>•   It projects data onto a lower-dimensional subspace, retaining as much variance as possible.</a:t>
            </a:r>
          </a:p>
          <a:p>
            <a:endParaRPr lang="en-US" dirty="0"/>
          </a:p>
          <a:p>
            <a:r>
              <a:rPr lang="en-US" dirty="0"/>
              <a:t>• Real-world Example (PCA): Image compression by reducing the dimensionality of image data while maintaining visual quality.</a:t>
            </a:r>
          </a:p>
          <a:p>
            <a:endParaRPr lang="en-US" dirty="0"/>
          </a:p>
          <a:p>
            <a:r>
              <a:rPr lang="en-US" dirty="0"/>
              <a:t>• t-Distributed Stochastic Neighbor Embedding (t-SNE) is a non-linear technique effective in preserving local data structure.</a:t>
            </a:r>
          </a:p>
          <a:p>
            <a:endParaRPr lang="en-US" dirty="0"/>
          </a:p>
          <a:p>
            <a:r>
              <a:rPr lang="en-US" dirty="0"/>
              <a:t>•   It excels at visualizing high-dimensional data in 2D or 3D spaces, revealing inherent clusters.</a:t>
            </a:r>
          </a:p>
          <a:p>
            <a:endParaRPr lang="en-US" dirty="0"/>
          </a:p>
          <a:p>
            <a:r>
              <a:rPr lang="en-US" dirty="0"/>
              <a:t>• Real-world Example (t-SNE): Visualizing complex genomic or natural language processing data to reveal relationships between data points.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PCA and t-SNE Techniques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Anomaly detection is the process of identifying data points that significantly deviate from normal behavior.</a:t>
            </a:r>
          </a:p>
          <a:p>
            <a:endParaRPr lang="en-US" sz="2000"/>
          </a:p>
          <a:p>
            <a:r>
              <a:rPr lang="en-US" sz="2000"/>
              <a:t>•   These deviations, or outliers, often indicate critical events, errors, or fraudulent activities.</a:t>
            </a:r>
          </a:p>
          <a:p>
            <a:endParaRPr lang="en-US" sz="2000"/>
          </a:p>
          <a:p>
            <a:r>
              <a:rPr lang="en-US" sz="2000"/>
              <a:t>•   It is widely applied in various domains, including fraud detection, cybersecurity, and quality control.</a:t>
            </a:r>
          </a:p>
          <a:p>
            <a:endParaRPr lang="en-US" sz="2000"/>
          </a:p>
          <a:p>
            <a:r>
              <a:rPr lang="en-US" sz="2000"/>
              <a:t>•   Effective anomaly detection can prevent losses, enhance security, and ensure product integrity.</a:t>
            </a:r>
          </a:p>
          <a:p>
            <a:endParaRPr lang="en-US" sz="2000"/>
          </a:p>
          <a:p>
            <a:r>
              <a:rPr lang="en-US" sz="2000"/>
              <a:t>•   Common algorithms include Isolation Forest and One-Class SVM.</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Anomaly Detection: Identifying Unusual Patterns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dirty="0"/>
          </a:p>
          <a:p>
            <a:r>
              <a:rPr lang="en-US" dirty="0"/>
              <a:t>• Isolation Forest isolates anomalies by recursively partitioning the data space; anomalies require fewer splits to be isolated.</a:t>
            </a:r>
          </a:p>
          <a:p>
            <a:endParaRPr lang="en-US" dirty="0"/>
          </a:p>
          <a:p>
            <a:r>
              <a:rPr lang="en-US" dirty="0"/>
              <a:t>•   It identifies outliers as points that are "far" from the norm and easy to separate.</a:t>
            </a:r>
          </a:p>
          <a:p>
            <a:endParaRPr lang="en-US" dirty="0"/>
          </a:p>
          <a:p>
            <a:r>
              <a:rPr lang="en-US" dirty="0"/>
              <a:t>• Real-world Example (Isolation Forest): Detecting fraudulent credit card transactions by flagging unusual spending patterns.</a:t>
            </a:r>
          </a:p>
          <a:p>
            <a:endParaRPr lang="en-US" dirty="0"/>
          </a:p>
          <a:p>
            <a:r>
              <a:rPr lang="en-US" dirty="0"/>
              <a:t>• One-Class SVM (Support Vector Machine) learns to identify anomalies by fitting a </a:t>
            </a:r>
            <a:r>
              <a:rPr lang="en-US" dirty="0" err="1"/>
              <a:t>hyperplane</a:t>
            </a:r>
            <a:r>
              <a:rPr lang="en-US" dirty="0"/>
              <a:t> around the majority of normal data points.</a:t>
            </a:r>
          </a:p>
          <a:p>
            <a:endParaRPr lang="en-US" dirty="0"/>
          </a:p>
          <a:p>
            <a:r>
              <a:rPr lang="en-US" dirty="0"/>
              <a:t>•   It separates the main dataset from potential outliers, defining a boundary for normal behavior.</a:t>
            </a:r>
          </a:p>
          <a:p>
            <a:endParaRPr lang="en-US" dirty="0"/>
          </a:p>
          <a:p>
            <a:r>
              <a:rPr lang="en-US" dirty="0"/>
              <a:t>• Real-world Example (One-Class SVM): Monitoring industrial equipment sensor data to detect sudden deviations indicating potential malfunctions.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Isolation Forest and One-Class SVM for Anomaly Detection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Selecting between supervised and unsupervised learning is a critical decision in machine learning.</a:t>
            </a:r>
          </a:p>
          <a:p>
            <a:endParaRPr lang="en-US" sz="2000"/>
          </a:p>
          <a:p>
            <a:r>
              <a:rPr lang="en-US" sz="2000"/>
              <a:t>•   The choice depends on several factors, including the nature of the data, desired outcomes, and resource availability.</a:t>
            </a:r>
          </a:p>
          <a:p>
            <a:endParaRPr lang="en-US" sz="2000"/>
          </a:p>
          <a:p>
            <a:r>
              <a:rPr lang="en-US" sz="2000"/>
              <a:t>• Supervised learning trains models on labeled data to make predictions based on known outcomes.</a:t>
            </a:r>
          </a:p>
          <a:p>
            <a:endParaRPr lang="en-US" sz="2000"/>
          </a:p>
          <a:p>
            <a:r>
              <a:rPr lang="en-US" sz="2000"/>
              <a:t>• Unsupervised learning uncovers patterns in unlabeled data without explicit guidance.</a:t>
            </a:r>
          </a:p>
          <a:p>
            <a:endParaRPr lang="en-US" sz="2000"/>
          </a:p>
          <a:p>
            <a:r>
              <a:rPr lang="en-US" sz="2000"/>
              <a:t>•   An informed decision ensures the development of effective and appropriate machine learning solutions.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Choosing the Right Learning Approach</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Availability of Labeled Data: This is often the most critical factor.</a:t>
            </a:r>
          </a:p>
          <a:p>
            <a:endParaRPr lang="en-US" sz="2000"/>
          </a:p>
          <a:p>
            <a:r>
              <a:rPr lang="en-US" sz="2000"/>
              <a:t>•   If substantial labeled data exists, supervised learning is generally preferred for predictive models (e.g., email spam detection).</a:t>
            </a:r>
          </a:p>
          <a:p>
            <a:endParaRPr lang="en-US" sz="2000"/>
          </a:p>
          <a:p>
            <a:r>
              <a:rPr lang="en-US" sz="2000"/>
              <a:t>•   If data is unlabeled, unsupervised learning, particularly clustering, can identify segments (e.g., customer segmentation).</a:t>
            </a:r>
          </a:p>
          <a:p>
            <a:endParaRPr lang="en-US" sz="2000"/>
          </a:p>
          <a:p>
            <a:r>
              <a:rPr lang="en-US" sz="2000"/>
              <a:t>• Task Objectives: The specific goal of the machine learning task guides the choice.</a:t>
            </a:r>
          </a:p>
          <a:p>
            <a:endParaRPr lang="en-US" sz="2000"/>
          </a:p>
          <a:p>
            <a:r>
              <a:rPr lang="en-US" sz="2000"/>
              <a:t>•   For tasks with a clear target variable (e.g., handwritten digit recognition), supervised learning is suitable.</a:t>
            </a:r>
          </a:p>
          <a:p>
            <a:endParaRPr lang="en-US" sz="2000"/>
          </a:p>
          <a:p>
            <a:r>
              <a:rPr lang="en-US" sz="2000"/>
              <a:t>•   For discovering hidden patterns or outliers when labels are absent or rare (e.g., network anomaly detection), unsupervised learning is often employed.</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Decision Criteria: Labeled Data &amp; Task Objectives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dirty="0"/>
          </a:p>
          <a:p>
            <a:r>
              <a:rPr lang="en-US" dirty="0"/>
              <a:t>• Nature of Data: Complex problems might require a combination of approaches.</a:t>
            </a:r>
          </a:p>
          <a:p>
            <a:endParaRPr lang="en-US" dirty="0"/>
          </a:p>
          <a:p>
            <a:r>
              <a:rPr lang="en-US" dirty="0"/>
              <a:t>•   Some tasks benefit from a hybrid of supervised and unsupervised techniques (e.g., image captioning).</a:t>
            </a:r>
          </a:p>
          <a:p>
            <a:endParaRPr lang="en-US" dirty="0"/>
          </a:p>
          <a:p>
            <a:r>
              <a:rPr lang="en-US" dirty="0"/>
              <a:t>• Interpretability: The need to understand model decisions.</a:t>
            </a:r>
          </a:p>
          <a:p>
            <a:endParaRPr lang="en-US" dirty="0"/>
          </a:p>
          <a:p>
            <a:r>
              <a:rPr lang="en-US" dirty="0"/>
              <a:t>•   Supervised models (e.g., logistic regression for credit scoring) are often preferred for their transparency.</a:t>
            </a:r>
          </a:p>
          <a:p>
            <a:endParaRPr lang="en-US" dirty="0"/>
          </a:p>
          <a:p>
            <a:r>
              <a:rPr lang="en-US" dirty="0"/>
              <a:t>•   Unsupervised methods can be useful for discovery when the nature of anomalies is undefined (e.g., manufacturing process deviations).</a:t>
            </a:r>
          </a:p>
          <a:p>
            <a:endParaRPr lang="en-US" dirty="0"/>
          </a:p>
          <a:p>
            <a:r>
              <a:rPr lang="en-US" dirty="0"/>
              <a:t>• Scalability: How well algorithms handle large datasets and available computational resources.</a:t>
            </a:r>
          </a:p>
          <a:p>
            <a:endParaRPr lang="en-US" dirty="0"/>
          </a:p>
          <a:p>
            <a:r>
              <a:rPr lang="en-US" dirty="0"/>
              <a:t>•   Unsupervised techniques (e.g., matrix factorization for social media recommendations) are efficient for vast, unlabeled data.</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it-IT" sz="2800" b="1">
                <a:solidFill>
                  <a:srgbClr val="D9212B"/>
                </a:solidFill>
                <a:latin typeface="Avenir"/>
                <a:sym typeface="Avenir"/>
              </a:rPr>
              <a:t>Decision Criteria: Data Nature, Interpretability &amp; Scalability</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In many real-world scenarios, combining both supervised and unsupervised learning offers the most effective solution.</a:t>
            </a:r>
          </a:p>
          <a:p>
            <a:endParaRPr lang="en-US" sz="2000"/>
          </a:p>
          <a:p>
            <a:r>
              <a:rPr lang="en-US" sz="2000"/>
              <a:t>•   Hybrid approaches leverage the strengths of both paradigms to tackle complex problems more comprehensively.</a:t>
            </a:r>
          </a:p>
          <a:p>
            <a:endParaRPr lang="en-US" sz="2000"/>
          </a:p>
          <a:p>
            <a:r>
              <a:rPr lang="en-US" sz="2000"/>
              <a:t>•   This integration can lead to more robust models, especially when labeled data is scarce or incomplete.</a:t>
            </a:r>
          </a:p>
          <a:p>
            <a:endParaRPr lang="en-US" sz="2000"/>
          </a:p>
          <a:p>
            <a:r>
              <a:rPr lang="en-US" sz="2000"/>
              <a:t>•   Unsupervised learning can discover new patterns, which can then be used to enhance supervised models or guide further analysis.</a:t>
            </a:r>
          </a:p>
          <a:p>
            <a:endParaRPr lang="en-US" sz="2000"/>
          </a:p>
          <a:p>
            <a:r>
              <a:rPr lang="en-US" sz="2000"/>
              <a:t>• Example: In healthcare diagnosis, supervised models diagnose known diseases, while unsupervised learning helps discover new disease subtypes or patterns in patient data previously unknown.</a:t>
            </a:r>
          </a:p>
          <a:p>
            <a:endParaRPr lang="en-US" sz="2000"/>
          </a:p>
          <a:p>
            <a:r>
              <a:rPr lang="en-US" sz="2000"/>
              <a:t>---</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Hybrid Approaches in Machine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a:t>
            </a:r>
          </a:p>
          <a:p>
            <a:r>
              <a:rPr lang="en-US" sz="2000"/>
              <a:t>Which of the following scenarios would most appropriately utilize a DBSCAN algorithm?</a:t>
            </a:r>
          </a:p>
          <a:p>
            <a:r>
              <a:rPr lang="en-US" sz="2000"/>
              <a:t>A) Predicting house prices based on size and location.</a:t>
            </a:r>
          </a:p>
          <a:p>
            <a:r>
              <a:rPr lang="en-US" sz="2000"/>
              <a:t>B) Grouping customers into 3 distinct segments based on purchase frequency.</a:t>
            </a:r>
          </a:p>
          <a:p>
            <a:r>
              <a:rPr lang="en-US" sz="2000"/>
              <a:t>C) Identifying unusually shaped clusters of network traffic that might indicate an intrusion.</a:t>
            </a:r>
          </a:p>
          <a:p>
            <a:r>
              <a:rPr lang="en-US" sz="2000"/>
              <a:t>D) Classifying emails as spam or not spam based on labeled examples.</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1:</a:t>
            </a:r>
          </a:p>
          <a:p>
            <a:r>
              <a:rPr lang="en-US" sz="2000"/>
              <a:t>Which of the following scenarios would most appropriately utilize a DBSCAN algorithm?</a:t>
            </a:r>
          </a:p>
          <a:p>
            <a:r>
              <a:rPr lang="en-US" sz="2000"/>
              <a:t>A) Predicting house prices based on size and location.</a:t>
            </a:r>
          </a:p>
          <a:p>
            <a:r>
              <a:rPr lang="en-US" sz="2000"/>
              <a:t>B) Grouping customers into 3 distinct segments based on purchase frequency.</a:t>
            </a:r>
          </a:p>
          <a:p>
            <a:r>
              <a:rPr lang="en-US" sz="2000"/>
              <a:t>C) Identifying unusually shaped clusters of network traffic that might indicate an intrusion.</a:t>
            </a:r>
          </a:p>
          <a:p>
            <a:r>
              <a:rPr lang="en-US" sz="2000"/>
              <a:t>D) Classifying emails as spam or not spam based on labeled examples.</a:t>
            </a:r>
          </a:p>
          <a:p>
            <a:endParaRPr lang="en-US" sz="2000"/>
          </a:p>
          <a:p>
            <a:endParaRPr lang="en-US" sz="2000"/>
          </a:p>
          <a:p>
            <a:endParaRPr lang="en-US" sz="2000"/>
          </a:p>
          <a:p>
            <a:r>
              <a:rPr lang="en-US" sz="2000" b="1"/>
              <a:t>Correct Answer: C</a:t>
            </a:r>
          </a:p>
          <a:p>
            <a:r>
              <a:rPr lang="en-US" sz="2000" b="1"/>
              <a:t>Explanation: DBSCAN is a density-based clustering algorithm that excels at finding arbitrarily shaped clusters and identifying outliers (noise). This makes it highly suitable for detecting complex, non-linear patterns often associated with network intrusions, where the number of clusters is not known beforehand. Options A, B, and D are better suited for regression, K-Means clustering, and supervised classification, respectively.</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a:t>
            </a:r>
          </a:p>
          <a:p>
            <a:r>
              <a:rPr lang="en-US" sz="2000"/>
              <a:t>A data scientist is working with a large dataset of patient medical records, where a small fraction of records are labeled with a rare disease diagnosis, but most are unlabeled. The goal is to identify potential new subtypes of the disease. Which learning approach would be most effective?</a:t>
            </a:r>
          </a:p>
          <a:p>
            <a:r>
              <a:rPr lang="en-US" sz="2000"/>
              <a:t>A) Pure Supervised Learning (e.g., Logistic Regression)</a:t>
            </a:r>
          </a:p>
          <a:p>
            <a:r>
              <a:rPr lang="en-US" sz="2000"/>
              <a:t>B) Pure Unsupervised Learning (e.g., K-Means Clustering)</a:t>
            </a:r>
          </a:p>
          <a:p>
            <a:r>
              <a:rPr lang="en-US" sz="2000"/>
              <a:t>C) A Hybrid Approach combining Supervised and Unsupervised Learning</a:t>
            </a:r>
          </a:p>
          <a:p>
            <a:r>
              <a:rPr lang="en-US" sz="2000"/>
              <a:t>D) Reinforcement Learning</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2:</a:t>
            </a:r>
          </a:p>
          <a:p>
            <a:r>
              <a:rPr lang="en-US" sz="2000"/>
              <a:t>A data scientist is working with a large dataset of patient medical records, where a small fraction of records are labeled with a rare disease diagnosis, but most are unlabeled. The goal is to identify potential new subtypes of the disease. Which learning approach would be most effective?</a:t>
            </a:r>
          </a:p>
          <a:p>
            <a:r>
              <a:rPr lang="en-US" sz="2000"/>
              <a:t>A) Pure Supervised Learning (e.g., Logistic Regression)</a:t>
            </a:r>
          </a:p>
          <a:p>
            <a:r>
              <a:rPr lang="en-US" sz="2000"/>
              <a:t>B) Pure Unsupervised Learning (e.g., K-Means Clustering)</a:t>
            </a:r>
          </a:p>
          <a:p>
            <a:r>
              <a:rPr lang="en-US" sz="2000"/>
              <a:t>C) A Hybrid Approach combining Supervised and Unsupervised Learning</a:t>
            </a:r>
          </a:p>
          <a:p>
            <a:r>
              <a:rPr lang="en-US" sz="2000"/>
              <a:t>D) Reinforcement Learning</a:t>
            </a:r>
          </a:p>
          <a:p>
            <a:endParaRPr lang="en-US" sz="2000"/>
          </a:p>
          <a:p>
            <a:endParaRPr lang="en-US" sz="2000"/>
          </a:p>
          <a:p>
            <a:endParaRPr lang="en-US" sz="2000"/>
          </a:p>
          <a:p>
            <a:r>
              <a:rPr lang="en-US" sz="2000" b="1"/>
              <a:t>Correct Answer: C</a:t>
            </a:r>
          </a:p>
          <a:p>
            <a:r>
              <a:rPr lang="en-US" sz="2000" b="1"/>
              <a:t>Explanation: The presence of a small amount of labeled data for the rare disease suggests supervised components, but the vast majority of unlabeled data and the goal of discovering "new subtypes" points strongly towards leveraging unsupervised learning. A hybrid approach would use the labeled data to understand known disease characteristics and the unlabeled data to find novel patterns, making it the most effective strategy.</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a:t>
            </a:r>
          </a:p>
          <a:p>
            <a:r>
              <a:rPr lang="en-US" sz="2000"/>
              <a:t>When considering the interpretability of a machine learning model for a critical application like credit scoring, which of the following is generally preferred?</a:t>
            </a:r>
          </a:p>
          <a:p>
            <a:r>
              <a:rPr lang="en-US" sz="2000"/>
              <a:t>A) Deep Neural Networks (often less interpretable) for their high accuracy.</a:t>
            </a:r>
          </a:p>
          <a:p>
            <a:r>
              <a:rPr lang="en-US" sz="2000"/>
              <a:t>B) Isolation Forest for its efficiency in anomaly detection.</a:t>
            </a:r>
          </a:p>
          <a:p>
            <a:r>
              <a:rPr lang="en-US" sz="2000"/>
              <a:t>C) Supervised models like Logistic Regression or Random Forests for their transparency.</a:t>
            </a:r>
          </a:p>
          <a:p>
            <a:r>
              <a:rPr lang="en-US" sz="2000"/>
              <a:t>D) t-SNE for its ability to visualize high-dimensional data.</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3:</a:t>
            </a:r>
          </a:p>
          <a:p>
            <a:r>
              <a:rPr lang="en-US" sz="2000"/>
              <a:t>When considering the interpretability of a machine learning model for a critical application like credit scoring, which of the following is generally preferred?</a:t>
            </a:r>
          </a:p>
          <a:p>
            <a:r>
              <a:rPr lang="en-US" sz="2000"/>
              <a:t>A) Deep Neural Networks (often less interpretable) for their high accuracy.</a:t>
            </a:r>
          </a:p>
          <a:p>
            <a:r>
              <a:rPr lang="en-US" sz="2000"/>
              <a:t>B) Isolation Forest for its efficiency in anomaly detection.</a:t>
            </a:r>
          </a:p>
          <a:p>
            <a:r>
              <a:rPr lang="en-US" sz="2000"/>
              <a:t>C) Supervised models like Logistic Regression or Random Forests for their transparency.</a:t>
            </a:r>
          </a:p>
          <a:p>
            <a:r>
              <a:rPr lang="en-US" sz="2000"/>
              <a:t>D) t-SNE for its ability to visualize high-dimensional data.</a:t>
            </a:r>
          </a:p>
          <a:p>
            <a:endParaRPr lang="en-US" sz="2000"/>
          </a:p>
          <a:p>
            <a:endParaRPr lang="en-US" sz="2000"/>
          </a:p>
          <a:p>
            <a:endParaRPr lang="en-US" sz="2000"/>
          </a:p>
          <a:p>
            <a:r>
              <a:rPr lang="en-US" sz="2000" b="1"/>
              <a:t>Correct Answer: C</a:t>
            </a:r>
          </a:p>
          <a:p>
            <a:r>
              <a:rPr lang="en-US" sz="2000" b="1"/>
              <a:t>Explanation: In applications like credit scoring, where understanding why a decision was made is crucial for regulatory compliance and user trust, interpretability is paramount. Supervised models such as Logistic Regression and even certain tree-based methods like Random Forests (when analyzed for feature importance) offer higher transparency and explainability compared to complex models like deep neural networks or purely exploratory tools like t-SNE. Isolation Forest is for anomaly detection, not primarily for credit scoring decisions requiring interpretability.</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a:t>
            </a:r>
          </a:p>
          <a:p>
            <a:r>
              <a:rPr lang="en-US" sz="2000"/>
              <a:t>Which of the following unsupervised learning techniques would be most appropriate for reducing the computational load and storage requirements of a large image dataset while striving to retain as much variance as possible?</a:t>
            </a:r>
          </a:p>
          <a:p>
            <a:r>
              <a:rPr lang="en-US" sz="2000"/>
              <a:t>A) t-Distributed Stochastic Neighbor Embedding (t-SNE)</a:t>
            </a:r>
          </a:p>
          <a:p>
            <a:r>
              <a:rPr lang="en-US" sz="2000"/>
              <a:t>B) DBSCAN</a:t>
            </a:r>
          </a:p>
          <a:p>
            <a:r>
              <a:rPr lang="en-US" sz="2000"/>
              <a:t>C) Principal Component Analysis (PCA)</a:t>
            </a:r>
          </a:p>
          <a:p>
            <a:r>
              <a:rPr lang="en-US" sz="2000"/>
              <a:t>D) Hierarchical Clustering</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4:</a:t>
            </a:r>
          </a:p>
          <a:p>
            <a:r>
              <a:rPr lang="en-US" sz="2000"/>
              <a:t>Which of the following unsupervised learning techniques would be most appropriate for reducing the computational load and storage requirements of a large image dataset while striving to retain as much variance as possible?</a:t>
            </a:r>
          </a:p>
          <a:p>
            <a:r>
              <a:rPr lang="en-US" sz="2000"/>
              <a:t>A) t-Distributed Stochastic Neighbor Embedding (t-SNE)</a:t>
            </a:r>
          </a:p>
          <a:p>
            <a:r>
              <a:rPr lang="en-US" sz="2000"/>
              <a:t>B) DBSCAN</a:t>
            </a:r>
          </a:p>
          <a:p>
            <a:r>
              <a:rPr lang="en-US" sz="2000"/>
              <a:t>C) Principal Component Analysis (PCA)</a:t>
            </a:r>
          </a:p>
          <a:p>
            <a:r>
              <a:rPr lang="en-US" sz="2000"/>
              <a:t>D) Hierarchical Clustering</a:t>
            </a:r>
          </a:p>
          <a:p>
            <a:endParaRPr lang="en-US" sz="2000"/>
          </a:p>
          <a:p>
            <a:endParaRPr lang="en-US" sz="2000"/>
          </a:p>
          <a:p>
            <a:endParaRPr lang="en-US" sz="2000"/>
          </a:p>
          <a:p>
            <a:r>
              <a:rPr lang="en-US" sz="2000" b="1"/>
              <a:t>Correct Answer: C</a:t>
            </a:r>
          </a:p>
          <a:p>
            <a:r>
              <a:rPr lang="en-US" sz="2000" b="1"/>
              <a:t>Explanation: Principal Component Analysis (PCA) is a linear dimensionality reduction technique specifically designed to reduce the number of features while preserving the maximum amount of variance possible. This makes it ideal for tasks like image compression, where both storage and computational load are concerns. t-SNE is for visualization, DBSCAN and Hierarchical Clustering are for clustering, not dimensionality reduction focused on variance retention for compression.</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a:t>
            </a:r>
          </a:p>
          <a:p>
            <a:r>
              <a:rPr lang="en-US" sz="2000"/>
              <a:t>A retail company has a massive dataset of customer transactions with no predefined labels indicating customer segments. They want to group customers based on their purchasing behavior to tailor marketing strategies. Which of the following decision criteria and corresponding approach is most suitable?</a:t>
            </a:r>
          </a:p>
          <a:p>
            <a:r>
              <a:rPr lang="en-US" sz="2000"/>
              <a:t>A) Availability of Labeled Data: Supervised Learning (e.g., Support Vector Machines)</a:t>
            </a:r>
          </a:p>
          <a:p>
            <a:r>
              <a:rPr lang="en-US" sz="2000"/>
              <a:t>B) Task Objectives: Supervised Learning (e.g., Linear Regression)</a:t>
            </a:r>
          </a:p>
          <a:p>
            <a:r>
              <a:rPr lang="en-US" sz="2000"/>
              <a:t>C) Availability of Labeled Data: Unsupervised Learning (e.g., K-Means Clustering)</a:t>
            </a:r>
          </a:p>
          <a:p>
            <a:r>
              <a:rPr lang="en-US" sz="2000"/>
              <a:t>D) Interpretability: Supervised Learning (e.g., Decision Trees)</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dirty="0"/>
              <a:t>Question 5:</a:t>
            </a:r>
          </a:p>
          <a:p>
            <a:r>
              <a:rPr lang="en-US" sz="2000" dirty="0"/>
              <a:t>A retail company has a massive dataset of customer transactions with no predefined labels indicating customer segments. They want to group customers based on their purchasing behavior to tailor marketing strategies. Which of the following decision criteria and corresponding approach is most suitable?</a:t>
            </a:r>
          </a:p>
          <a:p>
            <a:r>
              <a:rPr lang="en-US" sz="2000" dirty="0"/>
              <a:t>A) Availability of Labeled Data: Supervised Learning (e.g., Support Vector Machines)</a:t>
            </a:r>
          </a:p>
          <a:p>
            <a:r>
              <a:rPr lang="en-US" sz="2000" dirty="0"/>
              <a:t>B) Task Objectives: Supervised Learning (e.g., Linear Regression)</a:t>
            </a:r>
          </a:p>
          <a:p>
            <a:r>
              <a:rPr lang="en-US" sz="2000" dirty="0"/>
              <a:t>C) Availability of Labeled Data: Unsupervised Learning (e.g., K-Means Clustering)</a:t>
            </a:r>
          </a:p>
          <a:p>
            <a:r>
              <a:rPr lang="en-US" sz="2000" dirty="0"/>
              <a:t>D) Interpretability: Supervised Learning (e.g., Decision Trees)</a:t>
            </a:r>
          </a:p>
          <a:p>
            <a:endParaRPr lang="en-US" sz="2000" dirty="0"/>
          </a:p>
          <a:p>
            <a:r>
              <a:rPr lang="en-US" sz="2000" b="1" dirty="0"/>
              <a:t>Correct Answer: C</a:t>
            </a:r>
          </a:p>
          <a:p>
            <a:r>
              <a:rPr lang="en-US" sz="2000" b="1" dirty="0"/>
              <a:t>Explanation: The problem explicitly states "no predefined labels" for customer segments, immediately ruling out pure supervised learning. The objective is to "group customers based on their purchasing behavior," which is a classic clustering task, a subset of unsupervised learning. K-Means Clustering is a common and effective algorithm for such segmentation.</a:t>
            </a:r>
          </a:p>
          <a:p>
            <a:endParaRPr lang="en-US" sz="2000" b="1" dirty="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a:t>
            </a:r>
          </a:p>
          <a:p>
            <a:r>
              <a:rPr lang="en-US" sz="2000"/>
              <a:t>In the context of unsupervised learning, what is the primary advantage of DBSCAN over K-Means when the data might contain noise and clusters of irregular shapes?</a:t>
            </a:r>
          </a:p>
          <a:p>
            <a:r>
              <a:rPr lang="en-US" sz="2000"/>
              <a:t>A) DBSCAN is faster than K-Means for large datasets.</a:t>
            </a:r>
          </a:p>
          <a:p>
            <a:r>
              <a:rPr lang="en-US" sz="2000"/>
              <a:t>B) DBSCAN requires specifying the number of clusters (K) beforehand.</a:t>
            </a:r>
          </a:p>
          <a:p>
            <a:r>
              <a:rPr lang="en-US" sz="2000"/>
              <a:t>C) DBSCAN can automatically discover the number of clusters and is robust to noise and irregular shapes.</a:t>
            </a:r>
          </a:p>
          <a:p>
            <a:r>
              <a:rPr lang="en-US" sz="2000"/>
              <a:t>D) DBSCAN produces a hierarchical structure (dendrogram) that K-Means does not.</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6:</a:t>
            </a:r>
          </a:p>
          <a:p>
            <a:r>
              <a:rPr lang="en-US" sz="2000"/>
              <a:t>In the context of unsupervised learning, what is the primary advantage of DBSCAN over K-Means when the data might contain noise and clusters of irregular shapes?</a:t>
            </a:r>
          </a:p>
          <a:p>
            <a:r>
              <a:rPr lang="en-US" sz="2000"/>
              <a:t>A) DBSCAN is faster than K-Means for large datasets.</a:t>
            </a:r>
          </a:p>
          <a:p>
            <a:r>
              <a:rPr lang="en-US" sz="2000"/>
              <a:t>B) DBSCAN requires specifying the number of clusters (K) beforehand.</a:t>
            </a:r>
          </a:p>
          <a:p>
            <a:r>
              <a:rPr lang="en-US" sz="2000"/>
              <a:t>C) DBSCAN can automatically discover the number of clusters and is robust to noise and irregular shapes.</a:t>
            </a:r>
          </a:p>
          <a:p>
            <a:r>
              <a:rPr lang="en-US" sz="2000"/>
              <a:t>D) DBSCAN produces a hierarchical structure (dendrogram) that K-Means does not.</a:t>
            </a:r>
          </a:p>
          <a:p>
            <a:endParaRPr lang="en-US" sz="2000"/>
          </a:p>
          <a:p>
            <a:endParaRPr lang="en-US" sz="2000"/>
          </a:p>
          <a:p>
            <a:endParaRPr lang="en-US" sz="2000"/>
          </a:p>
          <a:p>
            <a:r>
              <a:rPr lang="en-US" sz="2000" b="1"/>
              <a:t>Correct Answer: C</a:t>
            </a:r>
          </a:p>
          <a:p>
            <a:r>
              <a:rPr lang="en-US" sz="2000" b="1"/>
              <a:t>Explanation: A key advantage of DBSCAN is its ability to find clusters of arbitrary shapes and identify outliers (noise) as points that don't belong to any cluster. Unlike K-Means, DBSCAN does not require the user to pre-specify the number of clusters (K), which can be a significant benefit when the true number of clusters is unknown. DBSCAN's speed depends on implementation and data; it doesn't generally produce dendrograms (that's Hierarchical Clustering).</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a:t>
            </a:r>
          </a:p>
          <a:p>
            <a:r>
              <a:rPr lang="en-US" sz="2000"/>
              <a:t>Which of the following statements accurately describes the role of "exploration vs. exploitation" in the context of choosing between supervised and unsupervised learning?</a:t>
            </a:r>
          </a:p>
          <a:p>
            <a:r>
              <a:rPr lang="en-US" sz="2000"/>
              <a:t>A) It is primarily a dilemma in Reinforcement Learning, not directly applicable to supervised or unsupervised choices.</a:t>
            </a:r>
          </a:p>
          <a:p>
            <a:r>
              <a:rPr lang="en-US" sz="2000"/>
              <a:t>B) Exploration refers to trying supervised models, while exploitation refers to using unsupervised models.</a:t>
            </a:r>
          </a:p>
          <a:p>
            <a:r>
              <a:rPr lang="en-US" sz="2000"/>
              <a:t>C) It refers to the trade-off of collecting more labeled data (exploration) versus using existing unlabeled data (exploitation).</a:t>
            </a:r>
          </a:p>
          <a:p>
            <a:r>
              <a:rPr lang="en-US" sz="2000"/>
              <a:t>D) It describes the balance between exploring new data patterns (unsupervised) and exploiting known relationships (supervised) when limited labeled data is available.</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77500" lnSpcReduction="20000"/>
          </a:bodyPr>
          <a:lstStyle/>
          <a:p>
            <a:r>
              <a:rPr lang="en-US" sz="2000"/>
              <a:t>Question 7:</a:t>
            </a:r>
          </a:p>
          <a:p>
            <a:r>
              <a:rPr lang="en-US" sz="2000"/>
              <a:t>Which of the following statements accurately describes the role of "exploration vs. exploitation" in the context of choosing between supervised and unsupervised learning?</a:t>
            </a:r>
          </a:p>
          <a:p>
            <a:r>
              <a:rPr lang="en-US" sz="2000"/>
              <a:t>A) It is primarily a dilemma in Reinforcement Learning, not directly applicable to supervised or unsupervised choices.</a:t>
            </a:r>
          </a:p>
          <a:p>
            <a:r>
              <a:rPr lang="en-US" sz="2000"/>
              <a:t>B) Exploration refers to trying supervised models, while exploitation refers to using unsupervised models.</a:t>
            </a:r>
          </a:p>
          <a:p>
            <a:r>
              <a:rPr lang="en-US" sz="2000"/>
              <a:t>C) It refers to the trade-off of collecting more labeled data (exploration) versus using existing unlabeled data (exploitation).</a:t>
            </a:r>
          </a:p>
          <a:p>
            <a:r>
              <a:rPr lang="en-US" sz="2000"/>
              <a:t>D) It describes the balance between exploring new data patterns (unsupervised) and exploiting known relationships (supervised) when limited labeled data is available.</a:t>
            </a:r>
          </a:p>
          <a:p>
            <a:endParaRPr lang="en-US" sz="2000"/>
          </a:p>
          <a:p>
            <a:endParaRPr lang="en-US" sz="2000"/>
          </a:p>
          <a:p>
            <a:endParaRPr lang="en-US" sz="2000"/>
          </a:p>
          <a:p>
            <a:r>
              <a:rPr lang="en-US" sz="2000" b="1"/>
              <a:t>Correct Answer: A</a:t>
            </a:r>
          </a:p>
          <a:p>
            <a:r>
              <a:rPr lang="en-US" sz="2000" b="1"/>
              <a:t>Explanation: The concept of "exploration vs. exploitation" is a fundamental dilemma in Reinforcement Learning, where an agent must decide whether to try new actions to discover potentially better rewards (exploration) or stick with actions known to yield good rewards (exploitation). While there are analogous trade-offs in general ML (e.g., exploring new features vs. exploiting existing ones), the specific term "exploration vs. exploitation" is most directly and prominently associated with Reinforcement Learning principles, as stated in the provided text (Section 2.4).</a:t>
            </a:r>
          </a:p>
          <a:p>
            <a:endParaRPr lang="en-US" sz="2000" b="1"/>
          </a:p>
          <a:p>
            <a:r>
              <a:rPr lang="en-US" sz="2000" b="1"/>
              <a:t>---</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pPr algn="just"/>
            <a:endParaRPr lang="en-US" sz="2000" dirty="0"/>
          </a:p>
          <a:p>
            <a:pPr algn="just"/>
            <a:endParaRPr lang="en-US" sz="2000" dirty="0"/>
          </a:p>
          <a:p>
            <a:pPr algn="just"/>
            <a:r>
              <a:rPr lang="en-US" sz="2000" dirty="0"/>
              <a:t>A new social media platform, "</a:t>
            </a:r>
            <a:r>
              <a:rPr lang="en-US" sz="2000" dirty="0" err="1"/>
              <a:t>ConnectSphere</a:t>
            </a:r>
            <a:r>
              <a:rPr lang="en-US" sz="2000" dirty="0"/>
              <a:t>," is rapidly growing and generates vast amounts of user interaction data daily (likes, shares, comments, follows). </a:t>
            </a:r>
            <a:r>
              <a:rPr lang="en-US" sz="2000" dirty="0" err="1"/>
              <a:t>ConnectSphere</a:t>
            </a:r>
            <a:r>
              <a:rPr lang="en-US" sz="2000" dirty="0"/>
              <a:t> wants to implement a personalized content recommendation system for its users. They have a massive database of user activity but very little explicitly labeled data regarding "user preferences" for specific content types. The platform's goal is to provide highly relevant content suggestions efficiently to millions of users, thereby increasing engagement and user retention.</a:t>
            </a:r>
          </a:p>
          <a:p>
            <a:pPr algn="just"/>
            <a:endParaRPr lang="en-US" sz="2000" dirty="0"/>
          </a:p>
          <a:p>
            <a:pPr algn="just"/>
            <a:r>
              <a:rPr lang="en-US" sz="2000" dirty="0"/>
              <a:t>Challenge:</a:t>
            </a:r>
          </a:p>
          <a:p>
            <a:pPr algn="just"/>
            <a:r>
              <a:rPr lang="en-US" sz="2000" dirty="0"/>
              <a:t>Recommend the most appropriate machine learning approach(</a:t>
            </a:r>
            <a:r>
              <a:rPr lang="en-US" sz="2000" dirty="0" err="1"/>
              <a:t>es</a:t>
            </a:r>
            <a:r>
              <a:rPr lang="en-US" sz="2000" dirty="0"/>
              <a:t>) for </a:t>
            </a:r>
            <a:r>
              <a:rPr lang="en-US" sz="2000" dirty="0" err="1"/>
              <a:t>ConnectSphere's</a:t>
            </a:r>
            <a:r>
              <a:rPr lang="en-US" sz="2000" dirty="0"/>
              <a:t> content recommendation system. Justify your choice by referencing the decision-making criteria discussed in the presentation. Consider the challenges of data scale and the lack of labeled preference data.</a:t>
            </a:r>
          </a:p>
          <a:p>
            <a:pPr algn="just"/>
            <a:endParaRPr lang="en-US" sz="2000" dirty="0"/>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55000" lnSpcReduction="20000"/>
          </a:bodyPr>
          <a:lstStyle/>
          <a:p>
            <a:r>
              <a:rPr lang="en-US" sz="2000"/>
              <a:t>Solution:</a:t>
            </a:r>
          </a:p>
          <a:p>
            <a:endParaRPr lang="en-US" sz="2000"/>
          </a:p>
          <a:p>
            <a:endParaRPr lang="en-US" sz="2000"/>
          </a:p>
          <a:p>
            <a:r>
              <a:rPr lang="en-US" sz="2000"/>
              <a:t>ConnectSphere should primarily utilize Unsupervised Learning techniques, likely combined with Hybrid Approaches for its personalized content recommendation system.</a:t>
            </a:r>
          </a:p>
          <a:p>
            <a:endParaRPr lang="en-US" sz="2000"/>
          </a:p>
          <a:p>
            <a:r>
              <a:rPr lang="en-US" sz="2000"/>
              <a:t>Justification based on Decision-Making Criteria:</a:t>
            </a:r>
          </a:p>
          <a:p>
            <a:endParaRPr lang="en-US" sz="2000"/>
          </a:p>
          <a:p>
            <a:r>
              <a:rPr lang="en-US" sz="2000"/>
              <a:t>1.  Availability of Labeled Data: The case states "very little explicitly labeled data regarding 'user preferences'." This is the most crucial factor, immediately pointing away from a pure supervised learning approach, which requires extensive labeled data for training.</a:t>
            </a:r>
          </a:p>
          <a:p>
            <a:r>
              <a:rPr lang="en-US" sz="2000"/>
              <a:t>2.  Task Objectives: The goal is to provide "personalized content recommendations" and increase "engagement." While engagement could be seen as a target, creating explicit labels for every user's preference across all content types for millions of users is impractical. Unsupervised learning can discover underlying user groups or content similarities without explicit labels.</a:t>
            </a:r>
          </a:p>
          <a:p>
            <a:r>
              <a:rPr lang="en-US" sz="2000"/>
              <a:t>3.  Nature of Data: The platform generates "vast amounts of user interaction data" daily, which is inherently unlabeled regarding direct preferences. This type of high-volume, dynamic data is well-suited for unsupervised methods to find patterns.</a:t>
            </a:r>
          </a:p>
          <a:p>
            <a:r>
              <a:rPr lang="en-US" sz="2000"/>
              <a:t>4.  Scalability: ConnectSphere needs to serve "millions of users efficiently." Unsupervised learning techniques like matrix factorization or collaborative filtering are well-known for their scalability in handling large datasets for recommendation systems. Training supervised models on such a vast, constantly updating, and high-dimensional dataset (if labels could even be generated) would be computationally prohibitive.</a:t>
            </a:r>
          </a:p>
          <a:p>
            <a:r>
              <a:rPr lang="en-US" sz="2000"/>
              <a:t>5.  Interpretability (Secondary): While interpretability can be useful, for a recommendation system, the primary goal is often effectiveness (user engagement) and efficiency. Unsupervised methods, while sometimes less directly interpretable than some supervised models, can still provide actionable insights (e.g., "users who liked X also liked Y").</a:t>
            </a:r>
          </a:p>
          <a:p>
            <a:endParaRPr lang="en-US" sz="2000"/>
          </a:p>
          <a:p>
            <a:r>
              <a:rPr lang="en-US" sz="2000"/>
              <a:t>Specific Unsupervised Techniques:</a:t>
            </a:r>
          </a:p>
          <a:p>
            <a:r>
              <a:rPr lang="en-US" sz="2000"/>
              <a:t>Clustering (e.g., K-Means, Hierarchical): Can group users with similar interaction patterns or content with similar characteristics.</a:t>
            </a:r>
          </a:p>
          <a:p>
            <a:r>
              <a:rPr lang="en-US" sz="2000"/>
              <a:t>Dimensionality Reduction (e.g., PCA, SVD for Matrix Factorization): Can reduce the complexity of user-item interaction matrices, making recommendations more efficient.</a:t>
            </a:r>
          </a:p>
          <a:p>
            <a:r>
              <a:rPr lang="en-US" sz="2000"/>
              <a:t>Collaborative Filtering: Although sometimes seen as a distinct paradigm, it heavily relies on finding patterns in user-item interactions (unlabeled preferences) to make recommendations, which aligns with unsupervised principles.</a:t>
            </a:r>
          </a:p>
          <a:p>
            <a:endParaRPr lang="en-US" sz="2000"/>
          </a:p>
          <a:p>
            <a:r>
              <a:rPr lang="en-US" sz="2000"/>
              <a:t>Hybrid Approach Consideration:</a:t>
            </a:r>
          </a:p>
          <a:p>
            <a:r>
              <a:rPr lang="en-US" sz="2000"/>
              <a:t>While primarily unsupervised, ConnectSphere might benefit from a hybrid approach. For example, once initial clusters or latent factors are identified via unsupervised learning, a small amount of manually labeled "high-engagement" content could potentially be used in a semi-supervised fashion to fine-tune recommendation models for specific content categories or user segments, if such labels become available or are worth the effort for critical content. However, for the core system with millions of users and dynamic data, unsupervised methods would form the backbone.</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0659596" cy="3856913"/>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core principles and methodologies of unsupervised learning.</a:t>
            </a:r>
          </a:p>
          <a:p>
            <a:pPr>
              <a:lnSpc>
                <a:spcPct val="115000"/>
              </a:lnSpc>
              <a:spcAft>
                <a:spcPts val="1000"/>
              </a:spcAft>
            </a:pPr>
            <a:r>
              <a:rPr lang="en-US" dirty="0">
                <a:latin typeface=""/>
                <a:ea typeface="Times New Roman"/>
                <a:cs typeface="Times New Roman"/>
              </a:rPr>
              <a:t>•   Explore various unsupervised learning algorithms for clustering, dimensionality reduction, and anomaly detection.</a:t>
            </a:r>
          </a:p>
          <a:p>
            <a:pPr>
              <a:lnSpc>
                <a:spcPct val="115000"/>
              </a:lnSpc>
              <a:spcAft>
                <a:spcPts val="1000"/>
              </a:spcAft>
            </a:pPr>
            <a:r>
              <a:rPr lang="en-US" dirty="0">
                <a:latin typeface=""/>
                <a:ea typeface="Times New Roman"/>
                <a:cs typeface="Times New Roman"/>
              </a:rPr>
              <a:t>•   Identify real-world applications of unsupervised learning techniques.</a:t>
            </a:r>
          </a:p>
          <a:p>
            <a:pPr>
              <a:lnSpc>
                <a:spcPct val="115000"/>
              </a:lnSpc>
              <a:spcAft>
                <a:spcPts val="1000"/>
              </a:spcAft>
            </a:pPr>
            <a:r>
              <a:rPr lang="en-US" dirty="0">
                <a:latin typeface=""/>
                <a:ea typeface="Times New Roman"/>
                <a:cs typeface="Times New Roman"/>
              </a:rPr>
              <a:t>•   Learn the critical factors influencing the choice between supervised and unsupervised learning approaches.</a:t>
            </a:r>
          </a:p>
          <a:p>
            <a:pPr>
              <a:lnSpc>
                <a:spcPct val="115000"/>
              </a:lnSpc>
              <a:spcAft>
                <a:spcPts val="1000"/>
              </a:spcAft>
            </a:pPr>
            <a:r>
              <a:rPr lang="en-US" dirty="0">
                <a:latin typeface=""/>
                <a:ea typeface="Times New Roman"/>
                <a:cs typeface="Times New Roman"/>
              </a:rPr>
              <a:t>•   Analyze different scenarios to determine the most suitable machine learning paradigm.</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3878</Words>
  <Application>Microsoft Office PowerPoint</Application>
  <PresentationFormat>Widescreen</PresentationFormat>
  <Paragraphs>325</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Aptos Display</vt:lpstr>
      <vt:lpstr>Arial</vt:lpstr>
      <vt:lpstr>Avenir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idol</dc:creator>
  <cp:lastModifiedBy>Mohamed Ali</cp:lastModifiedBy>
  <cp:revision>40</cp:revision>
  <dcterms:created xsi:type="dcterms:W3CDTF">2025-07-09T10:39:06Z</dcterms:created>
  <dcterms:modified xsi:type="dcterms:W3CDTF">2026-10-28T04:12:42Z</dcterms:modified>
</cp:coreProperties>
</file>