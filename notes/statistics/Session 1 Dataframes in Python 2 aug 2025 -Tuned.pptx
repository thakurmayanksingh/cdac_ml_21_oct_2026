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1" r:id="rId4"/>
    <p:sldId id="284" r:id="rId5"/>
    <p:sldId id="285" r:id="rId6"/>
    <p:sldId id="286" r:id="rId7"/>
    <p:sldId id="281" r:id="rId8"/>
    <p:sldId id="287" r:id="rId9"/>
    <p:sldId id="282" r:id="rId10"/>
    <p:sldId id="288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420" y="36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344529"/>
            <a:ext cx="9801726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Introduction to data tables and data frames using Python (Pandas)</a:t>
            </a: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1647CC-E1B6-83E6-E7FA-87E55166D62A}"/>
              </a:ext>
            </a:extLst>
          </p:cNvPr>
          <p:cNvSpPr txBox="1">
            <a:spLocks/>
          </p:cNvSpPr>
          <p:nvPr/>
        </p:nvSpPr>
        <p:spPr>
          <a:xfrm>
            <a:off x="930147" y="1666072"/>
            <a:ext cx="80749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9D3B53-BCE2-0ACE-05C7-22F67D782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147" y="2389222"/>
            <a:ext cx="895809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Tables and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Python.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how to create, manipulate, and analyze data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key operations like indexing, filtering, aggregation, and merging.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9F5CC-7C78-2830-995A-7425706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10DE64A-3215-B876-9125-110A31DE2265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Different Data Types: Quick Reference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315469-0496-396E-7BCF-F3B239871B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662488"/>
              </p:ext>
            </p:extLst>
          </p:nvPr>
        </p:nvGraphicFramePr>
        <p:xfrm>
          <a:off x="791027" y="1068008"/>
          <a:ext cx="10515600" cy="5256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659">
                  <a:extLst>
                    <a:ext uri="{9D8B030D-6E8A-4147-A177-3AD203B41FA5}">
                      <a16:colId xmlns:a16="http://schemas.microsoft.com/office/drawing/2014/main" val="2728918111"/>
                    </a:ext>
                  </a:extLst>
                </a:gridCol>
                <a:gridCol w="8704941">
                  <a:extLst>
                    <a:ext uri="{9D8B030D-6E8A-4147-A177-3AD203B41FA5}">
                      <a16:colId xmlns:a16="http://schemas.microsoft.com/office/drawing/2014/main" val="980663480"/>
                    </a:ext>
                  </a:extLst>
                </a:gridCol>
              </a:tblGrid>
              <a:tr h="750913">
                <a:tc>
                  <a:txBody>
                    <a:bodyPr/>
                    <a:lstStyle/>
                    <a:p>
                      <a:r>
                        <a:rPr lang="en-US" sz="2000" dirty="0"/>
                        <a:t>Data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399089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r>
                        <a:rPr lang="en-US" sz="2000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 </a:t>
                      </a:r>
                      <a:r>
                        <a:rPr lang="en-US" sz="2000" b="1" dirty="0"/>
                        <a:t>ordered, mutable collection</a:t>
                      </a:r>
                      <a:r>
                        <a:rPr lang="en-US" sz="2000" dirty="0"/>
                        <a:t> of elements that allows duplicates. </a:t>
                      </a:r>
                    </a:p>
                    <a:p>
                      <a:r>
                        <a:rPr lang="en-US" sz="2000" dirty="0"/>
                        <a:t>Defined using [ ].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980150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r>
                        <a:rPr lang="en-US" sz="2000" dirty="0"/>
                        <a:t>Tuple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 </a:t>
                      </a:r>
                      <a:r>
                        <a:rPr lang="en-US" sz="2000" b="1" dirty="0"/>
                        <a:t>ordered, immutable collection</a:t>
                      </a:r>
                      <a:r>
                        <a:rPr lang="en-US" sz="2000" dirty="0"/>
                        <a:t> of elements. </a:t>
                      </a:r>
                    </a:p>
                    <a:p>
                      <a:r>
                        <a:rPr lang="en-US" sz="2000" dirty="0"/>
                        <a:t>Defined using ( 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716576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r>
                        <a:rPr lang="en-US" sz="2000" dirty="0"/>
                        <a:t>Dictionary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</a:t>
                      </a:r>
                      <a:r>
                        <a:rPr lang="en-US" sz="2000" b="1" dirty="0"/>
                        <a:t>key-value pair collection</a:t>
                      </a:r>
                      <a:r>
                        <a:rPr lang="en-US" sz="2000" dirty="0"/>
                        <a:t> that is unordered and mutable. </a:t>
                      </a:r>
                    </a:p>
                    <a:p>
                      <a:r>
                        <a:rPr lang="en-US" sz="2000" dirty="0"/>
                        <a:t>Defined using { }.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165872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r>
                        <a:rPr lang="en-US" sz="2000" dirty="0"/>
                        <a:t>Array (NumPy)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</a:t>
                      </a:r>
                      <a:r>
                        <a:rPr lang="en-US" sz="2000" b="1" dirty="0"/>
                        <a:t>fixed-type collection of elements</a:t>
                      </a:r>
                      <a:r>
                        <a:rPr lang="en-US" sz="2000" dirty="0"/>
                        <a:t> optimized for numerical computations. Requires NumPy.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412678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r>
                        <a:rPr lang="en-US" sz="2000" dirty="0"/>
                        <a:t>Series (Pandas)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</a:t>
                      </a:r>
                      <a:r>
                        <a:rPr lang="en-US" sz="2000" b="1" dirty="0"/>
                        <a:t>one-dimensional labeled array</a:t>
                      </a:r>
                      <a:r>
                        <a:rPr lang="en-US" sz="2000" dirty="0"/>
                        <a:t> where each element has an index. Used in Pandas for data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829921"/>
                  </a:ext>
                </a:extLst>
              </a:tr>
              <a:tr h="750913">
                <a:tc>
                  <a:txBody>
                    <a:bodyPr/>
                    <a:lstStyle/>
                    <a:p>
                      <a:r>
                        <a:rPr lang="en-US" sz="2000" dirty="0" err="1"/>
                        <a:t>DataFrame</a:t>
                      </a:r>
                      <a:r>
                        <a:rPr lang="en-US" sz="2000" dirty="0"/>
                        <a:t> (Pandas)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</a:t>
                      </a:r>
                      <a:r>
                        <a:rPr lang="en-US" sz="2000" b="1" dirty="0"/>
                        <a:t>two-dimensional table-like data structure</a:t>
                      </a:r>
                      <a:r>
                        <a:rPr lang="en-US" sz="2000" dirty="0"/>
                        <a:t> with labeled rows and columns. Used for structured data manipulation.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999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507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74FA-259D-AE93-651F-B8A502C1E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4602-E786-3C54-EB39-BAAD18161999}"/>
              </a:ext>
            </a:extLst>
          </p:cNvPr>
          <p:cNvSpPr txBox="1">
            <a:spLocks/>
          </p:cNvSpPr>
          <p:nvPr/>
        </p:nvSpPr>
        <p:spPr>
          <a:xfrm>
            <a:off x="3530248" y="228183"/>
            <a:ext cx="6930923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Data Table?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1ED18-EA40-8871-F802-BA7DDE938FBC}"/>
              </a:ext>
            </a:extLst>
          </p:cNvPr>
          <p:cNvSpPr txBox="1">
            <a:spLocks/>
          </p:cNvSpPr>
          <p:nvPr/>
        </p:nvSpPr>
        <p:spPr>
          <a:xfrm>
            <a:off x="909221" y="1319597"/>
            <a:ext cx="10427563" cy="28169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latin typeface="Avenir Next LT Pro" panose="020B0504020202020204" pitchFamily="34" charset="0"/>
                <a:cs typeface="Arial" panose="020B0604020202020204" pitchFamily="34" charset="0"/>
              </a:rPr>
              <a:t>A Data Table is a structured way to store and organize data in a tabular format with rows and columns.</a:t>
            </a:r>
          </a:p>
          <a:p>
            <a:r>
              <a:rPr lang="en-US" sz="2000">
                <a:latin typeface="Avenir Next LT Pro" panose="020B0504020202020204" pitchFamily="34" charset="0"/>
                <a:cs typeface="Arial" panose="020B0604020202020204" pitchFamily="34" charset="0"/>
              </a:rPr>
              <a:t>It allows for easy access, manipulation, and analysis of data.</a:t>
            </a:r>
          </a:p>
          <a:p>
            <a:r>
              <a:rPr lang="en-US" sz="2000">
                <a:latin typeface="Avenir Next LT Pro" panose="020B0504020202020204" pitchFamily="34" charset="0"/>
                <a:cs typeface="Arial" panose="020B0604020202020204" pitchFamily="34" charset="0"/>
              </a:rPr>
              <a:t>Commonly used in databases (SQL), spreadsheets (Excel), and programming languages (Python Pandas, R, etc.).</a:t>
            </a:r>
          </a:p>
          <a:p>
            <a:r>
              <a:rPr lang="en-US" sz="2000" b="1">
                <a:latin typeface="Avenir Next LT Pro" panose="020B0504020202020204" pitchFamily="34" charset="0"/>
                <a:cs typeface="Arial" panose="020B0604020202020204" pitchFamily="34" charset="0"/>
              </a:rPr>
              <a:t>Used in Python through Pandas DataFrames.</a:t>
            </a:r>
            <a:endParaRPr lang="en-US" sz="2000" b="1" dirty="0"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AAF47-B459-0D19-AB90-060F01E99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79" y="3643458"/>
            <a:ext cx="8745291" cy="251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79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0B2-E345-9525-7ED1-63CC28B0D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953220-14DE-1DCC-7F97-5A5224B80FDE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</a:t>
            </a:r>
            <a:r>
              <a:rPr lang="en-US" sz="2800" b="1" dirty="0" err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DataFrame</a:t>
            </a:r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0EF6D1-9F10-B6A8-1C5D-6677EABD691B}"/>
              </a:ext>
            </a:extLst>
          </p:cNvPr>
          <p:cNvSpPr txBox="1">
            <a:spLocks/>
          </p:cNvSpPr>
          <p:nvPr/>
        </p:nvSpPr>
        <p:spPr>
          <a:xfrm>
            <a:off x="909221" y="1319597"/>
            <a:ext cx="10427563" cy="16195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two-dimensional labeled data structure in Pandas.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Columns can have different data types (e.g., int, float, string).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It’s similar to a SQL table or a spreadsheet in Excel.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91A88-2C91-1DF1-24AB-FC90E9F6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22" y="3352745"/>
            <a:ext cx="8480979" cy="286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022A7-CBD3-9F27-E4E6-11D40EC2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3EA18A-7683-7A4A-C778-AD08D3BF0F3C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 err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DataFrames</a:t>
            </a:r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 in Python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AD4704D-35A8-56FA-421A-B5D16FFB01EB}"/>
              </a:ext>
            </a:extLst>
          </p:cNvPr>
          <p:cNvSpPr txBox="1">
            <a:spLocks/>
          </p:cNvSpPr>
          <p:nvPr/>
        </p:nvSpPr>
        <p:spPr>
          <a:xfrm>
            <a:off x="909221" y="1319597"/>
            <a:ext cx="10427563" cy="4885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Creating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 in Python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 Operations on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Modifying Data in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Aggregations and Summary Statistics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Merging and Joining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Handling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205628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952C-0B2F-5AF8-0F2E-1FE6D2152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96E9F9-33F2-646A-5288-09C695A11664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633BC-8799-1133-DCD9-395238ACBE0F}"/>
              </a:ext>
            </a:extLst>
          </p:cNvPr>
          <p:cNvSpPr txBox="1"/>
          <p:nvPr/>
        </p:nvSpPr>
        <p:spPr>
          <a:xfrm>
            <a:off x="642257" y="1572121"/>
            <a:ext cx="111905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Q1:</a:t>
            </a:r>
            <a:r>
              <a:rPr lang="en-US" sz="2400" dirty="0"/>
              <a:t> What is the primary difference between a Python list and a Pandas </a:t>
            </a:r>
            <a:r>
              <a:rPr lang="en-US" sz="2400" dirty="0" err="1"/>
              <a:t>DataFrame</a:t>
            </a:r>
            <a:r>
              <a:rPr lang="en-US" sz="2400" dirty="0"/>
              <a:t>?</a:t>
            </a:r>
          </a:p>
          <a:p>
            <a:br>
              <a:rPr lang="en-US" sz="2400" dirty="0"/>
            </a:br>
            <a:r>
              <a:rPr lang="en-US" sz="2400" b="1" dirty="0"/>
              <a:t>A.</a:t>
            </a:r>
            <a:r>
              <a:rPr lang="en-US" sz="2400" dirty="0"/>
              <a:t> Lists store only numbers, </a:t>
            </a:r>
            <a:r>
              <a:rPr lang="en-US" sz="2400" dirty="0" err="1"/>
              <a:t>DataFrames</a:t>
            </a:r>
            <a:r>
              <a:rPr lang="en-US" sz="2400" dirty="0"/>
              <a:t> store only text.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B.</a:t>
            </a:r>
            <a:r>
              <a:rPr lang="en-US" sz="2400" dirty="0"/>
              <a:t> Lists are 1D, </a:t>
            </a:r>
            <a:r>
              <a:rPr lang="en-US" sz="2400" dirty="0" err="1"/>
              <a:t>DataFrames</a:t>
            </a:r>
            <a:r>
              <a:rPr lang="en-US" sz="2400" dirty="0"/>
              <a:t> are 2D. 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C.</a:t>
            </a:r>
            <a:r>
              <a:rPr lang="en-US" sz="2400" dirty="0"/>
              <a:t> Lists are used only in machine learning.</a:t>
            </a:r>
            <a:br>
              <a:rPr lang="en-US" sz="2400" dirty="0"/>
            </a:br>
            <a:endParaRPr lang="en-US" sz="2400" dirty="0"/>
          </a:p>
          <a:p>
            <a:r>
              <a:rPr lang="en-US" sz="2400" b="1" dirty="0"/>
              <a:t>D.</a:t>
            </a:r>
            <a:r>
              <a:rPr lang="en-US" sz="2400" dirty="0"/>
              <a:t> </a:t>
            </a:r>
            <a:r>
              <a:rPr lang="en-US" sz="2400" dirty="0" err="1"/>
              <a:t>DataFrames</a:t>
            </a:r>
            <a:r>
              <a:rPr lang="en-US" sz="2400" dirty="0"/>
              <a:t> cannot store numerical data.</a:t>
            </a:r>
          </a:p>
        </p:txBody>
      </p:sp>
    </p:spTree>
    <p:extLst>
      <p:ext uri="{BB962C8B-B14F-4D97-AF65-F5344CB8AC3E}">
        <p14:creationId xmlns:p14="http://schemas.microsoft.com/office/powerpoint/2010/main" val="3976288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5858-2F64-E3D9-4C14-8F4ED0A93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A0835AB-6708-E26F-350A-FDF3939E4968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Multiple Choice Questions (MCQs)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0011C-7DDC-29A4-EBF5-F04EEA6C2FF1}"/>
              </a:ext>
            </a:extLst>
          </p:cNvPr>
          <p:cNvSpPr txBox="1"/>
          <p:nvPr/>
        </p:nvSpPr>
        <p:spPr>
          <a:xfrm>
            <a:off x="642257" y="1572121"/>
            <a:ext cx="1119051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Q1: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What is the primary difference between a Python list and a Pandas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DataFrame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Lists store only numbers,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DataFrames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store only text.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B.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Lists are 1D,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DataFrames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are 2D.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Lists are used only in machine learning.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DataFrames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cannot store numerical data.</a:t>
            </a:r>
          </a:p>
        </p:txBody>
      </p:sp>
    </p:spTree>
    <p:extLst>
      <p:ext uri="{BB962C8B-B14F-4D97-AF65-F5344CB8AC3E}">
        <p14:creationId xmlns:p14="http://schemas.microsoft.com/office/powerpoint/2010/main" val="1680763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809C-9761-6A1E-B6AA-24619AB8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8A628DD-4B68-7F3D-1D36-D669E8F0D2D9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Fill in the Blanks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A2354B-F78F-0959-B494-E187E5FBB37C}"/>
              </a:ext>
            </a:extLst>
          </p:cNvPr>
          <p:cNvSpPr txBox="1">
            <a:spLocks/>
          </p:cNvSpPr>
          <p:nvPr/>
        </p:nvSpPr>
        <p:spPr>
          <a:xfrm>
            <a:off x="909220" y="1319597"/>
            <a:ext cx="10673179" cy="4798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 is a ______ data structure used for data manipulation in Python.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In a Data Table, the horizontal sections are called ______, and the vertical sections are called ______.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dictionary in Python stores data as ______ pairs.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tuple is similar to a list, but it is ______, meaning its values cannot be changed.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The process of summarizing and organizing data to extract useful insights is called ______.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The vertical sections in a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, each representing a specific attribute or feature, are called ______.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structured collection of data that is stored electronically and can be queried is known as a ______.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The function used to remove missing values from a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 is ______.</a:t>
            </a:r>
          </a:p>
        </p:txBody>
      </p:sp>
    </p:spTree>
    <p:extLst>
      <p:ext uri="{BB962C8B-B14F-4D97-AF65-F5344CB8AC3E}">
        <p14:creationId xmlns:p14="http://schemas.microsoft.com/office/powerpoint/2010/main" val="2247333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F3000-91C4-5E07-1766-DF7B28C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4E3F30B-21EE-CD0C-FB4D-C224B0D4100F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Fill in the Blanks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143AB-3C99-5EB7-9AAA-CD2911E209D2}"/>
              </a:ext>
            </a:extLst>
          </p:cNvPr>
          <p:cNvSpPr txBox="1">
            <a:spLocks/>
          </p:cNvSpPr>
          <p:nvPr/>
        </p:nvSpPr>
        <p:spPr>
          <a:xfrm>
            <a:off x="623338" y="1156310"/>
            <a:ext cx="10945323" cy="50920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 is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two-dimensional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 structure used for data manipulation in Python.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In a Data Table, the horizontal sections are called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rows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, and the vertical sections are called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columns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dictionary in Python stores data as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key-value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 pairs.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tuple is similar to a list, but it is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immutable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, meaning its values cannot be changed.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The process of summarizing and organizing data to extract useful insights is called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 analysis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The vertical sections in a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, each representing a specific attribute or feature, are called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columns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A structured collection of data that is stored electronically and can be queried is known as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database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2000" dirty="0">
              <a:solidFill>
                <a:prstClr val="black"/>
              </a:solidFill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The function used to remove missing values from a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DataFrame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 is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dropna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()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9602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C95F-F687-E528-4FE2-32BEB63F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706169-94E9-40AC-3595-818C8D9B8E07}"/>
              </a:ext>
            </a:extLst>
          </p:cNvPr>
          <p:cNvSpPr txBox="1">
            <a:spLocks/>
          </p:cNvSpPr>
          <p:nvPr/>
        </p:nvSpPr>
        <p:spPr>
          <a:xfrm>
            <a:off x="2768248" y="189252"/>
            <a:ext cx="78997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Session Summary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4B191-7428-6B05-4B12-60A4CE71FBA4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venir Next LT Pro" panose="020B0504020202020204" pitchFamily="34" charset="0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C3C52-5539-23E6-4360-EBF4D3D53BC9}"/>
              </a:ext>
            </a:extLst>
          </p:cNvPr>
          <p:cNvSpPr txBox="1"/>
          <p:nvPr/>
        </p:nvSpPr>
        <p:spPr>
          <a:xfrm>
            <a:off x="1218460" y="2674852"/>
            <a:ext cx="99938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 err="1"/>
              <a:t>DataFrames</a:t>
            </a:r>
            <a:r>
              <a:rPr lang="en-US" sz="2400" dirty="0"/>
              <a:t> are essential for structured data manipulation.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2400" dirty="0"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Use Pandas for efficient handling of datasets.</a:t>
            </a:r>
            <a:r>
              <a:rPr lang="en-IN" sz="2400" dirty="0">
                <a:latin typeface="Avenir Next LT Pro" panose="020B0504020202020204" pitchFamily="34" charset="0"/>
                <a:cs typeface="Arial" panose="020B0604020202020204" pitchFamily="34" charset="0"/>
              </a:rPr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IN" sz="2400" dirty="0">
              <a:latin typeface="Avenir Next LT Pro" panose="020B0504020202020204" pitchFamily="34" charset="0"/>
              <a:cs typeface="Arial" panose="020B0604020202020204" pitchFamily="34" charset="0"/>
            </a:endParaRP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dirty="0"/>
              <a:t>Practice coding problems to master </a:t>
            </a:r>
            <a:r>
              <a:rPr lang="en-US" sz="2400" dirty="0" err="1"/>
              <a:t>DataFrame</a:t>
            </a:r>
            <a:r>
              <a:rPr lang="en-US" sz="2400" dirty="0"/>
              <a:t> operations.</a:t>
            </a:r>
            <a:endParaRPr lang="en-IN" sz="2400" dirty="0">
              <a:latin typeface="Avenir Next LT Pro" panose="020B05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1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743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Avenir Next LT Pro</vt:lpstr>
      <vt:lpstr>Calibri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Mohamed Ali</cp:lastModifiedBy>
  <cp:revision>12</cp:revision>
  <dcterms:created xsi:type="dcterms:W3CDTF">2025-07-09T10:39:06Z</dcterms:created>
  <dcterms:modified xsi:type="dcterms:W3CDTF">2026-10-28T11:55:48Z</dcterms:modified>
</cp:coreProperties>
</file>