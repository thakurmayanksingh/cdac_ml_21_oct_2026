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84" r:id="rId3"/>
    <p:sldId id="258" r:id="rId4"/>
    <p:sldId id="290" r:id="rId5"/>
    <p:sldId id="271" r:id="rId6"/>
    <p:sldId id="298" r:id="rId7"/>
    <p:sldId id="301" r:id="rId8"/>
    <p:sldId id="300" r:id="rId9"/>
    <p:sldId id="285" r:id="rId10"/>
    <p:sldId id="286" r:id="rId11"/>
    <p:sldId id="299" r:id="rId12"/>
    <p:sldId id="302" r:id="rId13"/>
    <p:sldId id="281" r:id="rId14"/>
    <p:sldId id="287" r:id="rId15"/>
    <p:sldId id="303" r:id="rId16"/>
    <p:sldId id="282" r:id="rId17"/>
    <p:sldId id="288" r:id="rId18"/>
    <p:sldId id="291" r:id="rId19"/>
    <p:sldId id="293" r:id="rId20"/>
    <p:sldId id="294" r:id="rId21"/>
    <p:sldId id="297" r:id="rId22"/>
    <p:sldId id="296" r:id="rId23"/>
    <p:sldId id="304" r:id="rId24"/>
    <p:sldId id="305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13" r:id="rId33"/>
    <p:sldId id="314" r:id="rId34"/>
    <p:sldId id="295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66" userDrawn="1">
          <p15:clr>
            <a:srgbClr val="A4A3A4"/>
          </p15:clr>
        </p15:guide>
        <p15:guide id="4" pos="75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 autoAdjust="0"/>
    <p:restoredTop sz="94660"/>
  </p:normalViewPr>
  <p:slideViewPr>
    <p:cSldViewPr snapToGrid="0" showGuides="1">
      <p:cViewPr varScale="1">
        <p:scale>
          <a:sx n="92" d="100"/>
          <a:sy n="92" d="100"/>
        </p:scale>
        <p:origin x="420" y="36"/>
      </p:cViewPr>
      <p:guideLst>
        <p:guide orient="horz" pos="2160"/>
        <p:guide pos="3840"/>
        <p:guide pos="166"/>
        <p:guide pos="75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DED82F-410B-43F8-9B2E-572C57CCF2A7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FBCEC90-31CA-41C3-BFB6-841788277163}">
      <dgm:prSet/>
      <dgm:spPr/>
      <dgm:t>
        <a:bodyPr/>
        <a:lstStyle/>
        <a:p>
          <a:r>
            <a:rPr lang="en-US"/>
            <a:t>1. Categorical Features: Represent labels or categories (e.g., gender, country).</a:t>
          </a:r>
        </a:p>
      </dgm:t>
    </dgm:pt>
    <dgm:pt modelId="{A159F5EE-6E71-4A01-B44A-8E248A2434C1}" type="parTrans" cxnId="{D754ECFC-D3B7-46A4-BE7B-B60F548778E8}">
      <dgm:prSet/>
      <dgm:spPr/>
      <dgm:t>
        <a:bodyPr/>
        <a:lstStyle/>
        <a:p>
          <a:endParaRPr lang="en-US"/>
        </a:p>
      </dgm:t>
    </dgm:pt>
    <dgm:pt modelId="{661B15A7-16C2-4B92-A6B1-3BB5B8DCDC39}" type="sibTrans" cxnId="{D754ECFC-D3B7-46A4-BE7B-B60F548778E8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055B117-FC4B-42B4-9C5A-19DA1012B46A}">
      <dgm:prSet/>
      <dgm:spPr/>
      <dgm:t>
        <a:bodyPr/>
        <a:lstStyle/>
        <a:p>
          <a:r>
            <a:rPr lang="en-US"/>
            <a:t>2. Discrete Features: Represent countable values (e.g., number of children).</a:t>
          </a:r>
        </a:p>
      </dgm:t>
    </dgm:pt>
    <dgm:pt modelId="{ECC08E71-8AB2-432C-9EF1-7F476AB2AFC4}" type="parTrans" cxnId="{6810DE9A-C234-4BC4-89CF-5DA99146684E}">
      <dgm:prSet/>
      <dgm:spPr/>
      <dgm:t>
        <a:bodyPr/>
        <a:lstStyle/>
        <a:p>
          <a:endParaRPr lang="en-US"/>
        </a:p>
      </dgm:t>
    </dgm:pt>
    <dgm:pt modelId="{63DE9235-A006-4473-82F6-72C56020A52F}" type="sibTrans" cxnId="{6810DE9A-C234-4BC4-89CF-5DA99146684E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FB7C8018-C9A3-499D-B3E1-9286E74527BD}">
      <dgm:prSet/>
      <dgm:spPr/>
      <dgm:t>
        <a:bodyPr/>
        <a:lstStyle/>
        <a:p>
          <a:r>
            <a:rPr lang="en-US"/>
            <a:t>3. Continuous Features: Represent measurable values (e.g., height, salary).</a:t>
          </a:r>
        </a:p>
      </dgm:t>
    </dgm:pt>
    <dgm:pt modelId="{DA053EE9-3EBC-4E51-AA96-34328163D558}" type="parTrans" cxnId="{C258DBC5-2DCC-4BF1-A06C-51A25DE50A46}">
      <dgm:prSet/>
      <dgm:spPr/>
      <dgm:t>
        <a:bodyPr/>
        <a:lstStyle/>
        <a:p>
          <a:endParaRPr lang="en-US"/>
        </a:p>
      </dgm:t>
    </dgm:pt>
    <dgm:pt modelId="{8D7C3F48-8268-473E-829E-7EE2692D07A2}" type="sibTrans" cxnId="{C258DBC5-2DCC-4BF1-A06C-51A25DE50A4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367EF417-B4E0-4227-9EF3-83355B94C0F7}" type="pres">
      <dgm:prSet presAssocID="{B1DED82F-410B-43F8-9B2E-572C57CCF2A7}" presName="Name0" presStyleCnt="0">
        <dgm:presLayoutVars>
          <dgm:animLvl val="lvl"/>
          <dgm:resizeHandles val="exact"/>
        </dgm:presLayoutVars>
      </dgm:prSet>
      <dgm:spPr/>
    </dgm:pt>
    <dgm:pt modelId="{D8C8FA1F-B351-4FD6-B18B-D357ADE43F8E}" type="pres">
      <dgm:prSet presAssocID="{5FBCEC90-31CA-41C3-BFB6-841788277163}" presName="compositeNode" presStyleCnt="0">
        <dgm:presLayoutVars>
          <dgm:bulletEnabled val="1"/>
        </dgm:presLayoutVars>
      </dgm:prSet>
      <dgm:spPr/>
    </dgm:pt>
    <dgm:pt modelId="{9F0E91E5-1523-4C2C-BFE3-3639E9F472B0}" type="pres">
      <dgm:prSet presAssocID="{5FBCEC90-31CA-41C3-BFB6-841788277163}" presName="bgRect" presStyleLbl="bgAccFollowNode1" presStyleIdx="0" presStyleCnt="3"/>
      <dgm:spPr/>
    </dgm:pt>
    <dgm:pt modelId="{5BC74F0C-51E1-47D2-AA4C-E63BD8BC3B38}" type="pres">
      <dgm:prSet presAssocID="{661B15A7-16C2-4B92-A6B1-3BB5B8DCDC39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545072AD-4B10-4ADD-A7E8-ECA0FA8B9840}" type="pres">
      <dgm:prSet presAssocID="{5FBCEC90-31CA-41C3-BFB6-841788277163}" presName="bottomLine" presStyleLbl="alignNode1" presStyleIdx="1" presStyleCnt="6">
        <dgm:presLayoutVars/>
      </dgm:prSet>
      <dgm:spPr/>
    </dgm:pt>
    <dgm:pt modelId="{84C1F131-2D40-461B-AB13-F7BCD87221E6}" type="pres">
      <dgm:prSet presAssocID="{5FBCEC90-31CA-41C3-BFB6-841788277163}" presName="nodeText" presStyleLbl="bgAccFollowNode1" presStyleIdx="0" presStyleCnt="3">
        <dgm:presLayoutVars>
          <dgm:bulletEnabled val="1"/>
        </dgm:presLayoutVars>
      </dgm:prSet>
      <dgm:spPr/>
    </dgm:pt>
    <dgm:pt modelId="{F49DBF26-2DE3-4648-B420-88EF759B1CB6}" type="pres">
      <dgm:prSet presAssocID="{661B15A7-16C2-4B92-A6B1-3BB5B8DCDC39}" presName="sibTrans" presStyleCnt="0"/>
      <dgm:spPr/>
    </dgm:pt>
    <dgm:pt modelId="{2B5841B2-D286-4932-8DA6-91E28752E15A}" type="pres">
      <dgm:prSet presAssocID="{7055B117-FC4B-42B4-9C5A-19DA1012B46A}" presName="compositeNode" presStyleCnt="0">
        <dgm:presLayoutVars>
          <dgm:bulletEnabled val="1"/>
        </dgm:presLayoutVars>
      </dgm:prSet>
      <dgm:spPr/>
    </dgm:pt>
    <dgm:pt modelId="{884655C2-5ECE-4B73-847A-BDF383452345}" type="pres">
      <dgm:prSet presAssocID="{7055B117-FC4B-42B4-9C5A-19DA1012B46A}" presName="bgRect" presStyleLbl="bgAccFollowNode1" presStyleIdx="1" presStyleCnt="3"/>
      <dgm:spPr/>
    </dgm:pt>
    <dgm:pt modelId="{58A291C0-9E32-45F0-BAAE-8C5D52C56A81}" type="pres">
      <dgm:prSet presAssocID="{63DE9235-A006-4473-82F6-72C56020A52F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37F0DF91-A411-4D4B-9342-B7805C24F296}" type="pres">
      <dgm:prSet presAssocID="{7055B117-FC4B-42B4-9C5A-19DA1012B46A}" presName="bottomLine" presStyleLbl="alignNode1" presStyleIdx="3" presStyleCnt="6">
        <dgm:presLayoutVars/>
      </dgm:prSet>
      <dgm:spPr/>
    </dgm:pt>
    <dgm:pt modelId="{0EA53E36-92ED-444E-B9D5-46650B2CBB58}" type="pres">
      <dgm:prSet presAssocID="{7055B117-FC4B-42B4-9C5A-19DA1012B46A}" presName="nodeText" presStyleLbl="bgAccFollowNode1" presStyleIdx="1" presStyleCnt="3">
        <dgm:presLayoutVars>
          <dgm:bulletEnabled val="1"/>
        </dgm:presLayoutVars>
      </dgm:prSet>
      <dgm:spPr/>
    </dgm:pt>
    <dgm:pt modelId="{4A27C7C7-64AB-4B1F-A8FD-F7540E090548}" type="pres">
      <dgm:prSet presAssocID="{63DE9235-A006-4473-82F6-72C56020A52F}" presName="sibTrans" presStyleCnt="0"/>
      <dgm:spPr/>
    </dgm:pt>
    <dgm:pt modelId="{4313E188-AB4C-4354-B735-2230851FD40D}" type="pres">
      <dgm:prSet presAssocID="{FB7C8018-C9A3-499D-B3E1-9286E74527BD}" presName="compositeNode" presStyleCnt="0">
        <dgm:presLayoutVars>
          <dgm:bulletEnabled val="1"/>
        </dgm:presLayoutVars>
      </dgm:prSet>
      <dgm:spPr/>
    </dgm:pt>
    <dgm:pt modelId="{C976DCC1-ADCF-4B8B-8E70-8BD0D057D83E}" type="pres">
      <dgm:prSet presAssocID="{FB7C8018-C9A3-499D-B3E1-9286E74527BD}" presName="bgRect" presStyleLbl="bgAccFollowNode1" presStyleIdx="2" presStyleCnt="3"/>
      <dgm:spPr/>
    </dgm:pt>
    <dgm:pt modelId="{307BDB0A-94B4-485B-8F59-855F4605CB64}" type="pres">
      <dgm:prSet presAssocID="{8D7C3F48-8268-473E-829E-7EE2692D07A2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E71AB483-19A7-4C52-89B2-5CB40C713AB2}" type="pres">
      <dgm:prSet presAssocID="{FB7C8018-C9A3-499D-B3E1-9286E74527BD}" presName="bottomLine" presStyleLbl="alignNode1" presStyleIdx="5" presStyleCnt="6">
        <dgm:presLayoutVars/>
      </dgm:prSet>
      <dgm:spPr/>
    </dgm:pt>
    <dgm:pt modelId="{AE3C2370-E6D1-45C8-B28F-9F43FBB16069}" type="pres">
      <dgm:prSet presAssocID="{FB7C8018-C9A3-499D-B3E1-9286E74527BD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6F8EBD38-31AB-406F-BF0C-CCE0373673ED}" type="presOf" srcId="{63DE9235-A006-4473-82F6-72C56020A52F}" destId="{58A291C0-9E32-45F0-BAAE-8C5D52C56A81}" srcOrd="0" destOrd="0" presId="urn:microsoft.com/office/officeart/2016/7/layout/BasicLinearProcessNumbered"/>
    <dgm:cxn modelId="{CBB4A13E-23FF-48FB-8328-6DDDD6EF1825}" type="presOf" srcId="{FB7C8018-C9A3-499D-B3E1-9286E74527BD}" destId="{AE3C2370-E6D1-45C8-B28F-9F43FBB16069}" srcOrd="1" destOrd="0" presId="urn:microsoft.com/office/officeart/2016/7/layout/BasicLinearProcessNumbered"/>
    <dgm:cxn modelId="{9AEC135E-85C5-4E16-A93B-9801552C2786}" type="presOf" srcId="{B1DED82F-410B-43F8-9B2E-572C57CCF2A7}" destId="{367EF417-B4E0-4227-9EF3-83355B94C0F7}" srcOrd="0" destOrd="0" presId="urn:microsoft.com/office/officeart/2016/7/layout/BasicLinearProcessNumbered"/>
    <dgm:cxn modelId="{30D68863-626C-480C-8651-ABE7EB5E54A8}" type="presOf" srcId="{FB7C8018-C9A3-499D-B3E1-9286E74527BD}" destId="{C976DCC1-ADCF-4B8B-8E70-8BD0D057D83E}" srcOrd="0" destOrd="0" presId="urn:microsoft.com/office/officeart/2016/7/layout/BasicLinearProcessNumbered"/>
    <dgm:cxn modelId="{36709E53-5C8C-4A44-8DF7-0824EE02D25B}" type="presOf" srcId="{5FBCEC90-31CA-41C3-BFB6-841788277163}" destId="{9F0E91E5-1523-4C2C-BFE3-3639E9F472B0}" srcOrd="0" destOrd="0" presId="urn:microsoft.com/office/officeart/2016/7/layout/BasicLinearProcessNumbered"/>
    <dgm:cxn modelId="{FDEFB77A-8C10-4FA1-8785-2D8705D2F441}" type="presOf" srcId="{8D7C3F48-8268-473E-829E-7EE2692D07A2}" destId="{307BDB0A-94B4-485B-8F59-855F4605CB64}" srcOrd="0" destOrd="0" presId="urn:microsoft.com/office/officeart/2016/7/layout/BasicLinearProcessNumbered"/>
    <dgm:cxn modelId="{4D33F25A-562D-40C8-826A-822102248194}" type="presOf" srcId="{661B15A7-16C2-4B92-A6B1-3BB5B8DCDC39}" destId="{5BC74F0C-51E1-47D2-AA4C-E63BD8BC3B38}" srcOrd="0" destOrd="0" presId="urn:microsoft.com/office/officeart/2016/7/layout/BasicLinearProcessNumbered"/>
    <dgm:cxn modelId="{6810DE9A-C234-4BC4-89CF-5DA99146684E}" srcId="{B1DED82F-410B-43F8-9B2E-572C57CCF2A7}" destId="{7055B117-FC4B-42B4-9C5A-19DA1012B46A}" srcOrd="1" destOrd="0" parTransId="{ECC08E71-8AB2-432C-9EF1-7F476AB2AFC4}" sibTransId="{63DE9235-A006-4473-82F6-72C56020A52F}"/>
    <dgm:cxn modelId="{C258DBC5-2DCC-4BF1-A06C-51A25DE50A46}" srcId="{B1DED82F-410B-43F8-9B2E-572C57CCF2A7}" destId="{FB7C8018-C9A3-499D-B3E1-9286E74527BD}" srcOrd="2" destOrd="0" parTransId="{DA053EE9-3EBC-4E51-AA96-34328163D558}" sibTransId="{8D7C3F48-8268-473E-829E-7EE2692D07A2}"/>
    <dgm:cxn modelId="{3DE07FC6-560E-4FE2-9A52-7CEF6A19C5B6}" type="presOf" srcId="{5FBCEC90-31CA-41C3-BFB6-841788277163}" destId="{84C1F131-2D40-461B-AB13-F7BCD87221E6}" srcOrd="1" destOrd="0" presId="urn:microsoft.com/office/officeart/2016/7/layout/BasicLinearProcessNumbered"/>
    <dgm:cxn modelId="{E8549AEE-3CCE-48E8-86D4-9800CF7422DC}" type="presOf" srcId="{7055B117-FC4B-42B4-9C5A-19DA1012B46A}" destId="{0EA53E36-92ED-444E-B9D5-46650B2CBB58}" srcOrd="1" destOrd="0" presId="urn:microsoft.com/office/officeart/2016/7/layout/BasicLinearProcessNumbered"/>
    <dgm:cxn modelId="{0829CCFB-6B98-4C81-944B-581C31929272}" type="presOf" srcId="{7055B117-FC4B-42B4-9C5A-19DA1012B46A}" destId="{884655C2-5ECE-4B73-847A-BDF383452345}" srcOrd="0" destOrd="0" presId="urn:microsoft.com/office/officeart/2016/7/layout/BasicLinearProcessNumbered"/>
    <dgm:cxn modelId="{D754ECFC-D3B7-46A4-BE7B-B60F548778E8}" srcId="{B1DED82F-410B-43F8-9B2E-572C57CCF2A7}" destId="{5FBCEC90-31CA-41C3-BFB6-841788277163}" srcOrd="0" destOrd="0" parTransId="{A159F5EE-6E71-4A01-B44A-8E248A2434C1}" sibTransId="{661B15A7-16C2-4B92-A6B1-3BB5B8DCDC39}"/>
    <dgm:cxn modelId="{6B797BE5-BA4C-4E42-B318-4B067D4A4BB1}" type="presParOf" srcId="{367EF417-B4E0-4227-9EF3-83355B94C0F7}" destId="{D8C8FA1F-B351-4FD6-B18B-D357ADE43F8E}" srcOrd="0" destOrd="0" presId="urn:microsoft.com/office/officeart/2016/7/layout/BasicLinearProcessNumbered"/>
    <dgm:cxn modelId="{7CFE4D34-05DD-4F11-96F6-A4B1A3CB1C59}" type="presParOf" srcId="{D8C8FA1F-B351-4FD6-B18B-D357ADE43F8E}" destId="{9F0E91E5-1523-4C2C-BFE3-3639E9F472B0}" srcOrd="0" destOrd="0" presId="urn:microsoft.com/office/officeart/2016/7/layout/BasicLinearProcessNumbered"/>
    <dgm:cxn modelId="{6A261B0D-D834-4B84-AD7C-AE3A9EB451A1}" type="presParOf" srcId="{D8C8FA1F-B351-4FD6-B18B-D357ADE43F8E}" destId="{5BC74F0C-51E1-47D2-AA4C-E63BD8BC3B38}" srcOrd="1" destOrd="0" presId="urn:microsoft.com/office/officeart/2016/7/layout/BasicLinearProcessNumbered"/>
    <dgm:cxn modelId="{624EBCA6-51E7-45C7-A585-11C8CB3D5AD5}" type="presParOf" srcId="{D8C8FA1F-B351-4FD6-B18B-D357ADE43F8E}" destId="{545072AD-4B10-4ADD-A7E8-ECA0FA8B9840}" srcOrd="2" destOrd="0" presId="urn:microsoft.com/office/officeart/2016/7/layout/BasicLinearProcessNumbered"/>
    <dgm:cxn modelId="{1F6AEF59-3710-4E14-9CB0-CBFBDA07770B}" type="presParOf" srcId="{D8C8FA1F-B351-4FD6-B18B-D357ADE43F8E}" destId="{84C1F131-2D40-461B-AB13-F7BCD87221E6}" srcOrd="3" destOrd="0" presId="urn:microsoft.com/office/officeart/2016/7/layout/BasicLinearProcessNumbered"/>
    <dgm:cxn modelId="{8CB5DCCC-938C-4120-A920-71655B045135}" type="presParOf" srcId="{367EF417-B4E0-4227-9EF3-83355B94C0F7}" destId="{F49DBF26-2DE3-4648-B420-88EF759B1CB6}" srcOrd="1" destOrd="0" presId="urn:microsoft.com/office/officeart/2016/7/layout/BasicLinearProcessNumbered"/>
    <dgm:cxn modelId="{959D97FF-E1E1-40CD-A2C0-D093BB01E4BE}" type="presParOf" srcId="{367EF417-B4E0-4227-9EF3-83355B94C0F7}" destId="{2B5841B2-D286-4932-8DA6-91E28752E15A}" srcOrd="2" destOrd="0" presId="urn:microsoft.com/office/officeart/2016/7/layout/BasicLinearProcessNumbered"/>
    <dgm:cxn modelId="{F9AF4913-E55A-4DA4-B50F-EFCECA5F6EC6}" type="presParOf" srcId="{2B5841B2-D286-4932-8DA6-91E28752E15A}" destId="{884655C2-5ECE-4B73-847A-BDF383452345}" srcOrd="0" destOrd="0" presId="urn:microsoft.com/office/officeart/2016/7/layout/BasicLinearProcessNumbered"/>
    <dgm:cxn modelId="{0BF39242-B67C-4262-A4BD-A7215B04DCA4}" type="presParOf" srcId="{2B5841B2-D286-4932-8DA6-91E28752E15A}" destId="{58A291C0-9E32-45F0-BAAE-8C5D52C56A81}" srcOrd="1" destOrd="0" presId="urn:microsoft.com/office/officeart/2016/7/layout/BasicLinearProcessNumbered"/>
    <dgm:cxn modelId="{5015C8C3-5199-4703-A1F6-CE2433E9A4C5}" type="presParOf" srcId="{2B5841B2-D286-4932-8DA6-91E28752E15A}" destId="{37F0DF91-A411-4D4B-9342-B7805C24F296}" srcOrd="2" destOrd="0" presId="urn:microsoft.com/office/officeart/2016/7/layout/BasicLinearProcessNumbered"/>
    <dgm:cxn modelId="{0E4E2C28-258A-4AE0-8FFD-57E4A89F07F3}" type="presParOf" srcId="{2B5841B2-D286-4932-8DA6-91E28752E15A}" destId="{0EA53E36-92ED-444E-B9D5-46650B2CBB58}" srcOrd="3" destOrd="0" presId="urn:microsoft.com/office/officeart/2016/7/layout/BasicLinearProcessNumbered"/>
    <dgm:cxn modelId="{5F1BB838-F897-4097-BE1D-7D452AC8BF44}" type="presParOf" srcId="{367EF417-B4E0-4227-9EF3-83355B94C0F7}" destId="{4A27C7C7-64AB-4B1F-A8FD-F7540E090548}" srcOrd="3" destOrd="0" presId="urn:microsoft.com/office/officeart/2016/7/layout/BasicLinearProcessNumbered"/>
    <dgm:cxn modelId="{91A14797-6B89-4BE9-BA75-EBB3DCAA9793}" type="presParOf" srcId="{367EF417-B4E0-4227-9EF3-83355B94C0F7}" destId="{4313E188-AB4C-4354-B735-2230851FD40D}" srcOrd="4" destOrd="0" presId="urn:microsoft.com/office/officeart/2016/7/layout/BasicLinearProcessNumbered"/>
    <dgm:cxn modelId="{87825A50-7C1D-4CC4-9C04-DD5AC6297DAE}" type="presParOf" srcId="{4313E188-AB4C-4354-B735-2230851FD40D}" destId="{C976DCC1-ADCF-4B8B-8E70-8BD0D057D83E}" srcOrd="0" destOrd="0" presId="urn:microsoft.com/office/officeart/2016/7/layout/BasicLinearProcessNumbered"/>
    <dgm:cxn modelId="{B93E2ACE-2C95-4908-A957-E1A46D33BB1E}" type="presParOf" srcId="{4313E188-AB4C-4354-B735-2230851FD40D}" destId="{307BDB0A-94B4-485B-8F59-855F4605CB64}" srcOrd="1" destOrd="0" presId="urn:microsoft.com/office/officeart/2016/7/layout/BasicLinearProcessNumbered"/>
    <dgm:cxn modelId="{B0D62FDD-9FC3-4EBA-BF8D-8ECDD3D8E19C}" type="presParOf" srcId="{4313E188-AB4C-4354-B735-2230851FD40D}" destId="{E71AB483-19A7-4C52-89B2-5CB40C713AB2}" srcOrd="2" destOrd="0" presId="urn:microsoft.com/office/officeart/2016/7/layout/BasicLinearProcessNumbered"/>
    <dgm:cxn modelId="{BB50E807-2409-4078-9F58-626D2769BB52}" type="presParOf" srcId="{4313E188-AB4C-4354-B735-2230851FD40D}" destId="{AE3C2370-E6D1-45C8-B28F-9F43FBB16069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C596C3-EA88-44FD-BD23-AC84F4A6442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113C77E-2C64-4217-B416-41FD085604FE}">
      <dgm:prSet/>
      <dgm:spPr/>
      <dgm:t>
        <a:bodyPr/>
        <a:lstStyle/>
        <a:p>
          <a:r>
            <a:rPr lang="en-US"/>
            <a:t>1. Nominal: No specific order (e.g., colors: Red, Blue, Green).</a:t>
          </a:r>
        </a:p>
      </dgm:t>
    </dgm:pt>
    <dgm:pt modelId="{5F188BA9-83F7-41AC-B576-7332D934B284}" type="parTrans" cxnId="{0415C2E8-7AED-49E3-ACC9-806CB8A71968}">
      <dgm:prSet/>
      <dgm:spPr/>
      <dgm:t>
        <a:bodyPr/>
        <a:lstStyle/>
        <a:p>
          <a:endParaRPr lang="en-US"/>
        </a:p>
      </dgm:t>
    </dgm:pt>
    <dgm:pt modelId="{BB2CAD65-D916-40A5-800C-739364B0B60F}" type="sibTrans" cxnId="{0415C2E8-7AED-49E3-ACC9-806CB8A71968}">
      <dgm:prSet/>
      <dgm:spPr/>
      <dgm:t>
        <a:bodyPr/>
        <a:lstStyle/>
        <a:p>
          <a:endParaRPr lang="en-US"/>
        </a:p>
      </dgm:t>
    </dgm:pt>
    <dgm:pt modelId="{59D22D7E-E883-4400-9AB0-85057A5413B7}">
      <dgm:prSet/>
      <dgm:spPr/>
      <dgm:t>
        <a:bodyPr/>
        <a:lstStyle/>
        <a:p>
          <a:r>
            <a:rPr lang="en-US" dirty="0"/>
            <a:t>2. Ordinal: Has an inherent order (e.g., education levels: High School, Bachelor’s, Master’s).</a:t>
          </a:r>
        </a:p>
      </dgm:t>
    </dgm:pt>
    <dgm:pt modelId="{47F920AF-A42A-4607-8991-5B5F5BF17D2F}" type="parTrans" cxnId="{184B1614-6B03-447F-9332-429258F5526A}">
      <dgm:prSet/>
      <dgm:spPr/>
      <dgm:t>
        <a:bodyPr/>
        <a:lstStyle/>
        <a:p>
          <a:endParaRPr lang="en-US"/>
        </a:p>
      </dgm:t>
    </dgm:pt>
    <dgm:pt modelId="{76667694-E3C4-4FE2-8301-508894A531DB}" type="sibTrans" cxnId="{184B1614-6B03-447F-9332-429258F5526A}">
      <dgm:prSet/>
      <dgm:spPr/>
      <dgm:t>
        <a:bodyPr/>
        <a:lstStyle/>
        <a:p>
          <a:endParaRPr lang="en-US"/>
        </a:p>
      </dgm:t>
    </dgm:pt>
    <dgm:pt modelId="{874F83D8-6ABC-4C5A-970D-18593BF3972A}" type="pres">
      <dgm:prSet presAssocID="{B4C596C3-EA88-44FD-BD23-AC84F4A6442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4F8D94F-85BC-4B9F-9EA4-25E8F8D6663F}" type="pres">
      <dgm:prSet presAssocID="{B113C77E-2C64-4217-B416-41FD085604FE}" presName="hierRoot1" presStyleCnt="0"/>
      <dgm:spPr/>
    </dgm:pt>
    <dgm:pt modelId="{F9DBAAB7-A23D-4128-9939-AC60EE1D5D7C}" type="pres">
      <dgm:prSet presAssocID="{B113C77E-2C64-4217-B416-41FD085604FE}" presName="composite" presStyleCnt="0"/>
      <dgm:spPr/>
    </dgm:pt>
    <dgm:pt modelId="{075657AC-7CBF-4D59-8F13-8C5A0A8A1C94}" type="pres">
      <dgm:prSet presAssocID="{B113C77E-2C64-4217-B416-41FD085604FE}" presName="background" presStyleLbl="node0" presStyleIdx="0" presStyleCnt="2"/>
      <dgm:spPr/>
    </dgm:pt>
    <dgm:pt modelId="{588332D7-7114-490F-8B8C-93F11C74A79E}" type="pres">
      <dgm:prSet presAssocID="{B113C77E-2C64-4217-B416-41FD085604FE}" presName="text" presStyleLbl="fgAcc0" presStyleIdx="0" presStyleCnt="2">
        <dgm:presLayoutVars>
          <dgm:chPref val="3"/>
        </dgm:presLayoutVars>
      </dgm:prSet>
      <dgm:spPr/>
    </dgm:pt>
    <dgm:pt modelId="{5C0A21CD-BFAA-403B-86A3-FC0791486F88}" type="pres">
      <dgm:prSet presAssocID="{B113C77E-2C64-4217-B416-41FD085604FE}" presName="hierChild2" presStyleCnt="0"/>
      <dgm:spPr/>
    </dgm:pt>
    <dgm:pt modelId="{BF74AF33-41E4-4780-86F5-3C28FA3D18F1}" type="pres">
      <dgm:prSet presAssocID="{59D22D7E-E883-4400-9AB0-85057A5413B7}" presName="hierRoot1" presStyleCnt="0"/>
      <dgm:spPr/>
    </dgm:pt>
    <dgm:pt modelId="{84BE4B6F-31C9-437E-8D8B-9F4E937E2FA2}" type="pres">
      <dgm:prSet presAssocID="{59D22D7E-E883-4400-9AB0-85057A5413B7}" presName="composite" presStyleCnt="0"/>
      <dgm:spPr/>
    </dgm:pt>
    <dgm:pt modelId="{1AE242C0-1636-49DF-977A-C2AD4EB5592A}" type="pres">
      <dgm:prSet presAssocID="{59D22D7E-E883-4400-9AB0-85057A5413B7}" presName="background" presStyleLbl="node0" presStyleIdx="1" presStyleCnt="2"/>
      <dgm:spPr/>
    </dgm:pt>
    <dgm:pt modelId="{98A275A7-B258-4761-9D5B-A87EBD3778EA}" type="pres">
      <dgm:prSet presAssocID="{59D22D7E-E883-4400-9AB0-85057A5413B7}" presName="text" presStyleLbl="fgAcc0" presStyleIdx="1" presStyleCnt="2">
        <dgm:presLayoutVars>
          <dgm:chPref val="3"/>
        </dgm:presLayoutVars>
      </dgm:prSet>
      <dgm:spPr/>
    </dgm:pt>
    <dgm:pt modelId="{931B433C-26ED-4759-8EA6-C50FE16CB775}" type="pres">
      <dgm:prSet presAssocID="{59D22D7E-E883-4400-9AB0-85057A5413B7}" presName="hierChild2" presStyleCnt="0"/>
      <dgm:spPr/>
    </dgm:pt>
  </dgm:ptLst>
  <dgm:cxnLst>
    <dgm:cxn modelId="{184B1614-6B03-447F-9332-429258F5526A}" srcId="{B4C596C3-EA88-44FD-BD23-AC84F4A64424}" destId="{59D22D7E-E883-4400-9AB0-85057A5413B7}" srcOrd="1" destOrd="0" parTransId="{47F920AF-A42A-4607-8991-5B5F5BF17D2F}" sibTransId="{76667694-E3C4-4FE2-8301-508894A531DB}"/>
    <dgm:cxn modelId="{0BE04369-F3ED-48A6-9473-F965E1924B22}" type="presOf" srcId="{B4C596C3-EA88-44FD-BD23-AC84F4A64424}" destId="{874F83D8-6ABC-4C5A-970D-18593BF3972A}" srcOrd="0" destOrd="0" presId="urn:microsoft.com/office/officeart/2005/8/layout/hierarchy1"/>
    <dgm:cxn modelId="{65BD1676-921E-47A5-BC0F-A72517F27FA9}" type="presOf" srcId="{59D22D7E-E883-4400-9AB0-85057A5413B7}" destId="{98A275A7-B258-4761-9D5B-A87EBD3778EA}" srcOrd="0" destOrd="0" presId="urn:microsoft.com/office/officeart/2005/8/layout/hierarchy1"/>
    <dgm:cxn modelId="{FB99DC56-A646-4596-A7DB-15C0282EAB35}" type="presOf" srcId="{B113C77E-2C64-4217-B416-41FD085604FE}" destId="{588332D7-7114-490F-8B8C-93F11C74A79E}" srcOrd="0" destOrd="0" presId="urn:microsoft.com/office/officeart/2005/8/layout/hierarchy1"/>
    <dgm:cxn modelId="{0415C2E8-7AED-49E3-ACC9-806CB8A71968}" srcId="{B4C596C3-EA88-44FD-BD23-AC84F4A64424}" destId="{B113C77E-2C64-4217-B416-41FD085604FE}" srcOrd="0" destOrd="0" parTransId="{5F188BA9-83F7-41AC-B576-7332D934B284}" sibTransId="{BB2CAD65-D916-40A5-800C-739364B0B60F}"/>
    <dgm:cxn modelId="{A7A66ECA-88E4-43F1-B0DB-9FFBE473FA5D}" type="presParOf" srcId="{874F83D8-6ABC-4C5A-970D-18593BF3972A}" destId="{C4F8D94F-85BC-4B9F-9EA4-25E8F8D6663F}" srcOrd="0" destOrd="0" presId="urn:microsoft.com/office/officeart/2005/8/layout/hierarchy1"/>
    <dgm:cxn modelId="{633DEFBE-55DB-4018-9B58-761C873BD597}" type="presParOf" srcId="{C4F8D94F-85BC-4B9F-9EA4-25E8F8D6663F}" destId="{F9DBAAB7-A23D-4128-9939-AC60EE1D5D7C}" srcOrd="0" destOrd="0" presId="urn:microsoft.com/office/officeart/2005/8/layout/hierarchy1"/>
    <dgm:cxn modelId="{F95832A8-AFDB-4CC2-896A-D8E20A2DA9D5}" type="presParOf" srcId="{F9DBAAB7-A23D-4128-9939-AC60EE1D5D7C}" destId="{075657AC-7CBF-4D59-8F13-8C5A0A8A1C94}" srcOrd="0" destOrd="0" presId="urn:microsoft.com/office/officeart/2005/8/layout/hierarchy1"/>
    <dgm:cxn modelId="{DAEA7026-65A8-43F4-8A70-00E785EFCA86}" type="presParOf" srcId="{F9DBAAB7-A23D-4128-9939-AC60EE1D5D7C}" destId="{588332D7-7114-490F-8B8C-93F11C74A79E}" srcOrd="1" destOrd="0" presId="urn:microsoft.com/office/officeart/2005/8/layout/hierarchy1"/>
    <dgm:cxn modelId="{00D8CBC0-D47D-40C0-8DFC-A88BABB05D65}" type="presParOf" srcId="{C4F8D94F-85BC-4B9F-9EA4-25E8F8D6663F}" destId="{5C0A21CD-BFAA-403B-86A3-FC0791486F88}" srcOrd="1" destOrd="0" presId="urn:microsoft.com/office/officeart/2005/8/layout/hierarchy1"/>
    <dgm:cxn modelId="{0ED43504-13F4-4C2A-A73E-11458B61CB6E}" type="presParOf" srcId="{874F83D8-6ABC-4C5A-970D-18593BF3972A}" destId="{BF74AF33-41E4-4780-86F5-3C28FA3D18F1}" srcOrd="1" destOrd="0" presId="urn:microsoft.com/office/officeart/2005/8/layout/hierarchy1"/>
    <dgm:cxn modelId="{62B016DA-7E55-4820-96AF-499914743D11}" type="presParOf" srcId="{BF74AF33-41E4-4780-86F5-3C28FA3D18F1}" destId="{84BE4B6F-31C9-437E-8D8B-9F4E937E2FA2}" srcOrd="0" destOrd="0" presId="urn:microsoft.com/office/officeart/2005/8/layout/hierarchy1"/>
    <dgm:cxn modelId="{95E1AA24-2D29-42A0-8102-DBD928ACF47A}" type="presParOf" srcId="{84BE4B6F-31C9-437E-8D8B-9F4E937E2FA2}" destId="{1AE242C0-1636-49DF-977A-C2AD4EB5592A}" srcOrd="0" destOrd="0" presId="urn:microsoft.com/office/officeart/2005/8/layout/hierarchy1"/>
    <dgm:cxn modelId="{A97EBE57-D485-4A0D-B9B4-6DB1E22643C7}" type="presParOf" srcId="{84BE4B6F-31C9-437E-8D8B-9F4E937E2FA2}" destId="{98A275A7-B258-4761-9D5B-A87EBD3778EA}" srcOrd="1" destOrd="0" presId="urn:microsoft.com/office/officeart/2005/8/layout/hierarchy1"/>
    <dgm:cxn modelId="{0A5B9679-665F-4030-B818-6D2E8333B826}" type="presParOf" srcId="{BF74AF33-41E4-4780-86F5-3C28FA3D18F1}" destId="{931B433C-26ED-4759-8EA6-C50FE16CB77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52F0E44-BA0B-43D7-B37F-026A56E0FA2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059CC7F-416E-4576-A35C-8B4ACD74A74F}">
      <dgm:prSet/>
      <dgm:spPr/>
      <dgm:t>
        <a:bodyPr/>
        <a:lstStyle/>
        <a:p>
          <a:r>
            <a:rPr lang="en-US"/>
            <a:t>Countable values with no intermediate values.</a:t>
          </a:r>
        </a:p>
      </dgm:t>
    </dgm:pt>
    <dgm:pt modelId="{5819A2D7-33DF-491F-88F4-7A922F22A3D8}" type="parTrans" cxnId="{0F9297C0-8DDE-400D-8D11-E0E4D51C8AA2}">
      <dgm:prSet/>
      <dgm:spPr/>
      <dgm:t>
        <a:bodyPr/>
        <a:lstStyle/>
        <a:p>
          <a:endParaRPr lang="en-US"/>
        </a:p>
      </dgm:t>
    </dgm:pt>
    <dgm:pt modelId="{49E79342-46CB-4E66-B3D4-7CE762B66D8B}" type="sibTrans" cxnId="{0F9297C0-8DDE-400D-8D11-E0E4D51C8AA2}">
      <dgm:prSet/>
      <dgm:spPr/>
      <dgm:t>
        <a:bodyPr/>
        <a:lstStyle/>
        <a:p>
          <a:endParaRPr lang="en-US"/>
        </a:p>
      </dgm:t>
    </dgm:pt>
    <dgm:pt modelId="{B1104009-047C-420B-9C66-C51286644985}">
      <dgm:prSet/>
      <dgm:spPr/>
      <dgm:t>
        <a:bodyPr/>
        <a:lstStyle/>
        <a:p>
          <a:r>
            <a:rPr lang="en-US"/>
            <a:t>Follows probability mass functions (PMF).</a:t>
          </a:r>
        </a:p>
      </dgm:t>
    </dgm:pt>
    <dgm:pt modelId="{C151C55A-C326-4E7D-A1C3-86B2BC9A9058}" type="parTrans" cxnId="{57C621C2-5998-4D29-8CA0-CAB5295C264B}">
      <dgm:prSet/>
      <dgm:spPr/>
      <dgm:t>
        <a:bodyPr/>
        <a:lstStyle/>
        <a:p>
          <a:endParaRPr lang="en-US"/>
        </a:p>
      </dgm:t>
    </dgm:pt>
    <dgm:pt modelId="{30281093-B32A-44CB-AD2D-E6AF964AED65}" type="sibTrans" cxnId="{57C621C2-5998-4D29-8CA0-CAB5295C264B}">
      <dgm:prSet/>
      <dgm:spPr/>
      <dgm:t>
        <a:bodyPr/>
        <a:lstStyle/>
        <a:p>
          <a:endParaRPr lang="en-US"/>
        </a:p>
      </dgm:t>
    </dgm:pt>
    <dgm:pt modelId="{1718D91C-6B0B-4356-A262-FA1969878EBA}">
      <dgm:prSet/>
      <dgm:spPr/>
      <dgm:t>
        <a:bodyPr/>
        <a:lstStyle/>
        <a:p>
          <a:r>
            <a:rPr lang="en-US"/>
            <a:t>Example: Number of calls received per day:</a:t>
          </a:r>
        </a:p>
      </dgm:t>
    </dgm:pt>
    <dgm:pt modelId="{EECD56B1-5DF0-4DFF-8578-4EF5A9AB55CA}" type="parTrans" cxnId="{9DD6B38C-3A37-4B81-AB4C-6DF7B019624B}">
      <dgm:prSet/>
      <dgm:spPr/>
      <dgm:t>
        <a:bodyPr/>
        <a:lstStyle/>
        <a:p>
          <a:endParaRPr lang="en-US"/>
        </a:p>
      </dgm:t>
    </dgm:pt>
    <dgm:pt modelId="{D5E0C080-8BA3-4597-8658-56C0B501ACF9}" type="sibTrans" cxnId="{9DD6B38C-3A37-4B81-AB4C-6DF7B019624B}">
      <dgm:prSet/>
      <dgm:spPr/>
      <dgm:t>
        <a:bodyPr/>
        <a:lstStyle/>
        <a:p>
          <a:endParaRPr lang="en-US"/>
        </a:p>
      </dgm:t>
    </dgm:pt>
    <dgm:pt modelId="{D82204DD-1204-46A3-8C39-9F08A83911DE}" type="pres">
      <dgm:prSet presAssocID="{752F0E44-BA0B-43D7-B37F-026A56E0FA20}" presName="linear" presStyleCnt="0">
        <dgm:presLayoutVars>
          <dgm:animLvl val="lvl"/>
          <dgm:resizeHandles val="exact"/>
        </dgm:presLayoutVars>
      </dgm:prSet>
      <dgm:spPr/>
    </dgm:pt>
    <dgm:pt modelId="{10AEC3D0-5C41-4D19-809D-D1CDD6DBD4E1}" type="pres">
      <dgm:prSet presAssocID="{A059CC7F-416E-4576-A35C-8B4ACD74A74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EA5D056-A2FF-4EBE-A99D-DF755EC0CFE4}" type="pres">
      <dgm:prSet presAssocID="{49E79342-46CB-4E66-B3D4-7CE762B66D8B}" presName="spacer" presStyleCnt="0"/>
      <dgm:spPr/>
    </dgm:pt>
    <dgm:pt modelId="{8C837DB7-3E98-4521-9F42-1DEDD14CC9C2}" type="pres">
      <dgm:prSet presAssocID="{B1104009-047C-420B-9C66-C5128664498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AD7C8B8-F86D-4159-9F5F-7A229F253AA0}" type="pres">
      <dgm:prSet presAssocID="{30281093-B32A-44CB-AD2D-E6AF964AED65}" presName="spacer" presStyleCnt="0"/>
      <dgm:spPr/>
    </dgm:pt>
    <dgm:pt modelId="{71F23A96-6278-42D5-8443-0E7F0D4FD085}" type="pres">
      <dgm:prSet presAssocID="{1718D91C-6B0B-4356-A262-FA1969878EB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4E1E316-96F1-43D1-9949-03EE2AC74D27}" type="presOf" srcId="{1718D91C-6B0B-4356-A262-FA1969878EBA}" destId="{71F23A96-6278-42D5-8443-0E7F0D4FD085}" srcOrd="0" destOrd="0" presId="urn:microsoft.com/office/officeart/2005/8/layout/vList2"/>
    <dgm:cxn modelId="{A5235624-1B3C-4160-99FC-1F2DBFE5E11B}" type="presOf" srcId="{B1104009-047C-420B-9C66-C51286644985}" destId="{8C837DB7-3E98-4521-9F42-1DEDD14CC9C2}" srcOrd="0" destOrd="0" presId="urn:microsoft.com/office/officeart/2005/8/layout/vList2"/>
    <dgm:cxn modelId="{51767574-01A0-41D7-8382-746B5A6E46D7}" type="presOf" srcId="{752F0E44-BA0B-43D7-B37F-026A56E0FA20}" destId="{D82204DD-1204-46A3-8C39-9F08A83911DE}" srcOrd="0" destOrd="0" presId="urn:microsoft.com/office/officeart/2005/8/layout/vList2"/>
    <dgm:cxn modelId="{1935DA81-1D3B-4315-8556-DA58D6971BCE}" type="presOf" srcId="{A059CC7F-416E-4576-A35C-8B4ACD74A74F}" destId="{10AEC3D0-5C41-4D19-809D-D1CDD6DBD4E1}" srcOrd="0" destOrd="0" presId="urn:microsoft.com/office/officeart/2005/8/layout/vList2"/>
    <dgm:cxn modelId="{9DD6B38C-3A37-4B81-AB4C-6DF7B019624B}" srcId="{752F0E44-BA0B-43D7-B37F-026A56E0FA20}" destId="{1718D91C-6B0B-4356-A262-FA1969878EBA}" srcOrd="2" destOrd="0" parTransId="{EECD56B1-5DF0-4DFF-8578-4EF5A9AB55CA}" sibTransId="{D5E0C080-8BA3-4597-8658-56C0B501ACF9}"/>
    <dgm:cxn modelId="{0F9297C0-8DDE-400D-8D11-E0E4D51C8AA2}" srcId="{752F0E44-BA0B-43D7-B37F-026A56E0FA20}" destId="{A059CC7F-416E-4576-A35C-8B4ACD74A74F}" srcOrd="0" destOrd="0" parTransId="{5819A2D7-33DF-491F-88F4-7A922F22A3D8}" sibTransId="{49E79342-46CB-4E66-B3D4-7CE762B66D8B}"/>
    <dgm:cxn modelId="{57C621C2-5998-4D29-8CA0-CAB5295C264B}" srcId="{752F0E44-BA0B-43D7-B37F-026A56E0FA20}" destId="{B1104009-047C-420B-9C66-C51286644985}" srcOrd="1" destOrd="0" parTransId="{C151C55A-C326-4E7D-A1C3-86B2BC9A9058}" sibTransId="{30281093-B32A-44CB-AD2D-E6AF964AED65}"/>
    <dgm:cxn modelId="{F2CFDFD1-3266-4A1D-9C0C-471FA538E5F8}" type="presParOf" srcId="{D82204DD-1204-46A3-8C39-9F08A83911DE}" destId="{10AEC3D0-5C41-4D19-809D-D1CDD6DBD4E1}" srcOrd="0" destOrd="0" presId="urn:microsoft.com/office/officeart/2005/8/layout/vList2"/>
    <dgm:cxn modelId="{CDB96659-DC4D-487B-91F5-80800778FB0C}" type="presParOf" srcId="{D82204DD-1204-46A3-8C39-9F08A83911DE}" destId="{6EA5D056-A2FF-4EBE-A99D-DF755EC0CFE4}" srcOrd="1" destOrd="0" presId="urn:microsoft.com/office/officeart/2005/8/layout/vList2"/>
    <dgm:cxn modelId="{6CB7FD39-973B-494C-8B3A-1D7177C339AE}" type="presParOf" srcId="{D82204DD-1204-46A3-8C39-9F08A83911DE}" destId="{8C837DB7-3E98-4521-9F42-1DEDD14CC9C2}" srcOrd="2" destOrd="0" presId="urn:microsoft.com/office/officeart/2005/8/layout/vList2"/>
    <dgm:cxn modelId="{0D073149-76EE-4D7E-9E5A-9F544A001D07}" type="presParOf" srcId="{D82204DD-1204-46A3-8C39-9F08A83911DE}" destId="{9AD7C8B8-F86D-4159-9F5F-7A229F253AA0}" srcOrd="3" destOrd="0" presId="urn:microsoft.com/office/officeart/2005/8/layout/vList2"/>
    <dgm:cxn modelId="{B5765903-4AF1-40D4-BBFC-014A1368A0F8}" type="presParOf" srcId="{D82204DD-1204-46A3-8C39-9F08A83911DE}" destId="{71F23A96-6278-42D5-8443-0E7F0D4FD08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9C4878C-9806-4ABC-B9C6-5E141A5A601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E8ED45B-6B47-4962-B511-6C86F0B85FAD}">
      <dgm:prSet/>
      <dgm:spPr/>
      <dgm:t>
        <a:bodyPr/>
        <a:lstStyle/>
        <a:p>
          <a:r>
            <a:rPr lang="en-US"/>
            <a:t>Can take infinite values within a range.</a:t>
          </a:r>
        </a:p>
      </dgm:t>
    </dgm:pt>
    <dgm:pt modelId="{8E41A0C5-A98A-4AC8-9DEC-F051825DCF66}" type="parTrans" cxnId="{8829019D-8B7E-45F8-8804-AEBBF220D811}">
      <dgm:prSet/>
      <dgm:spPr/>
      <dgm:t>
        <a:bodyPr/>
        <a:lstStyle/>
        <a:p>
          <a:endParaRPr lang="en-US"/>
        </a:p>
      </dgm:t>
    </dgm:pt>
    <dgm:pt modelId="{A47813EC-5077-4B19-8F68-E747E4D35B98}" type="sibTrans" cxnId="{8829019D-8B7E-45F8-8804-AEBBF220D811}">
      <dgm:prSet/>
      <dgm:spPr/>
      <dgm:t>
        <a:bodyPr/>
        <a:lstStyle/>
        <a:p>
          <a:endParaRPr lang="en-US"/>
        </a:p>
      </dgm:t>
    </dgm:pt>
    <dgm:pt modelId="{B2015CF6-CC04-4A6D-B388-C9AEF4B89DEA}">
      <dgm:prSet/>
      <dgm:spPr/>
      <dgm:t>
        <a:bodyPr/>
        <a:lstStyle/>
        <a:p>
          <a:r>
            <a:rPr lang="en-US"/>
            <a:t>Follows probability density functions (PDF).</a:t>
          </a:r>
        </a:p>
      </dgm:t>
    </dgm:pt>
    <dgm:pt modelId="{4C842DC7-8827-4A7B-AFF0-6BB6C5F3612B}" type="parTrans" cxnId="{5AB1D76B-1B95-4E2E-8F61-B7368F602151}">
      <dgm:prSet/>
      <dgm:spPr/>
      <dgm:t>
        <a:bodyPr/>
        <a:lstStyle/>
        <a:p>
          <a:endParaRPr lang="en-US"/>
        </a:p>
      </dgm:t>
    </dgm:pt>
    <dgm:pt modelId="{27E12A29-A167-4D6F-96B7-178C130EEEAC}" type="sibTrans" cxnId="{5AB1D76B-1B95-4E2E-8F61-B7368F602151}">
      <dgm:prSet/>
      <dgm:spPr/>
      <dgm:t>
        <a:bodyPr/>
        <a:lstStyle/>
        <a:p>
          <a:endParaRPr lang="en-US"/>
        </a:p>
      </dgm:t>
    </dgm:pt>
    <dgm:pt modelId="{1F3C46BD-1833-4ABD-A202-A51C73A10E19}">
      <dgm:prSet/>
      <dgm:spPr/>
      <dgm:t>
        <a:bodyPr/>
        <a:lstStyle/>
        <a:p>
          <a:r>
            <a:rPr lang="en-US"/>
            <a:t>Example: Height of individuals:</a:t>
          </a:r>
        </a:p>
      </dgm:t>
    </dgm:pt>
    <dgm:pt modelId="{2D2E63FD-A0CD-4A21-8E84-6237715337D1}" type="parTrans" cxnId="{61B08560-0B67-434A-9D4C-F286D89BC2C1}">
      <dgm:prSet/>
      <dgm:spPr/>
      <dgm:t>
        <a:bodyPr/>
        <a:lstStyle/>
        <a:p>
          <a:endParaRPr lang="en-US"/>
        </a:p>
      </dgm:t>
    </dgm:pt>
    <dgm:pt modelId="{5CBDE919-C7B0-42CB-B287-15CFF06BDB57}" type="sibTrans" cxnId="{61B08560-0B67-434A-9D4C-F286D89BC2C1}">
      <dgm:prSet/>
      <dgm:spPr/>
      <dgm:t>
        <a:bodyPr/>
        <a:lstStyle/>
        <a:p>
          <a:endParaRPr lang="en-US"/>
        </a:p>
      </dgm:t>
    </dgm:pt>
    <dgm:pt modelId="{09A4B12A-1697-435C-AEF0-5E8C32F2AE71}" type="pres">
      <dgm:prSet presAssocID="{A9C4878C-9806-4ABC-B9C6-5E141A5A601D}" presName="linear" presStyleCnt="0">
        <dgm:presLayoutVars>
          <dgm:animLvl val="lvl"/>
          <dgm:resizeHandles val="exact"/>
        </dgm:presLayoutVars>
      </dgm:prSet>
      <dgm:spPr/>
    </dgm:pt>
    <dgm:pt modelId="{F9EC075F-4562-43C4-B432-54BD063C47BD}" type="pres">
      <dgm:prSet presAssocID="{0E8ED45B-6B47-4962-B511-6C86F0B85FA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381C7BF-1E0D-48AB-B1AA-C8EA8B6A8304}" type="pres">
      <dgm:prSet presAssocID="{A47813EC-5077-4B19-8F68-E747E4D35B98}" presName="spacer" presStyleCnt="0"/>
      <dgm:spPr/>
    </dgm:pt>
    <dgm:pt modelId="{7E061D09-3BCE-40B6-A1DE-AC806E473903}" type="pres">
      <dgm:prSet presAssocID="{B2015CF6-CC04-4A6D-B388-C9AEF4B89DE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99B0A5B-C69F-4FE4-8606-34F2EE0ABCC7}" type="pres">
      <dgm:prSet presAssocID="{27E12A29-A167-4D6F-96B7-178C130EEEAC}" presName="spacer" presStyleCnt="0"/>
      <dgm:spPr/>
    </dgm:pt>
    <dgm:pt modelId="{8C1A880C-4668-4E07-BAF7-7B348CC905E4}" type="pres">
      <dgm:prSet presAssocID="{1F3C46BD-1833-4ABD-A202-A51C73A10E1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C550E1E-6CE9-4F14-A88C-4BE52E8BEB73}" type="presOf" srcId="{A9C4878C-9806-4ABC-B9C6-5E141A5A601D}" destId="{09A4B12A-1697-435C-AEF0-5E8C32F2AE71}" srcOrd="0" destOrd="0" presId="urn:microsoft.com/office/officeart/2005/8/layout/vList2"/>
    <dgm:cxn modelId="{61B08560-0B67-434A-9D4C-F286D89BC2C1}" srcId="{A9C4878C-9806-4ABC-B9C6-5E141A5A601D}" destId="{1F3C46BD-1833-4ABD-A202-A51C73A10E19}" srcOrd="2" destOrd="0" parTransId="{2D2E63FD-A0CD-4A21-8E84-6237715337D1}" sibTransId="{5CBDE919-C7B0-42CB-B287-15CFF06BDB57}"/>
    <dgm:cxn modelId="{4EBE6F6A-67D2-44F4-94E4-D29A65059ECF}" type="presOf" srcId="{B2015CF6-CC04-4A6D-B388-C9AEF4B89DEA}" destId="{7E061D09-3BCE-40B6-A1DE-AC806E473903}" srcOrd="0" destOrd="0" presId="urn:microsoft.com/office/officeart/2005/8/layout/vList2"/>
    <dgm:cxn modelId="{5AB1D76B-1B95-4E2E-8F61-B7368F602151}" srcId="{A9C4878C-9806-4ABC-B9C6-5E141A5A601D}" destId="{B2015CF6-CC04-4A6D-B388-C9AEF4B89DEA}" srcOrd="1" destOrd="0" parTransId="{4C842DC7-8827-4A7B-AFF0-6BB6C5F3612B}" sibTransId="{27E12A29-A167-4D6F-96B7-178C130EEEAC}"/>
    <dgm:cxn modelId="{2FAA2483-2321-4E3D-90B5-DD2E886D681B}" type="presOf" srcId="{1F3C46BD-1833-4ABD-A202-A51C73A10E19}" destId="{8C1A880C-4668-4E07-BAF7-7B348CC905E4}" srcOrd="0" destOrd="0" presId="urn:microsoft.com/office/officeart/2005/8/layout/vList2"/>
    <dgm:cxn modelId="{8829019D-8B7E-45F8-8804-AEBBF220D811}" srcId="{A9C4878C-9806-4ABC-B9C6-5E141A5A601D}" destId="{0E8ED45B-6B47-4962-B511-6C86F0B85FAD}" srcOrd="0" destOrd="0" parTransId="{8E41A0C5-A98A-4AC8-9DEC-F051825DCF66}" sibTransId="{A47813EC-5077-4B19-8F68-E747E4D35B98}"/>
    <dgm:cxn modelId="{03EE21DE-E67E-4ADE-9145-74F8E1A22AA0}" type="presOf" srcId="{0E8ED45B-6B47-4962-B511-6C86F0B85FAD}" destId="{F9EC075F-4562-43C4-B432-54BD063C47BD}" srcOrd="0" destOrd="0" presId="urn:microsoft.com/office/officeart/2005/8/layout/vList2"/>
    <dgm:cxn modelId="{1834B675-A808-4F08-92D4-92F2FB8E0A60}" type="presParOf" srcId="{09A4B12A-1697-435C-AEF0-5E8C32F2AE71}" destId="{F9EC075F-4562-43C4-B432-54BD063C47BD}" srcOrd="0" destOrd="0" presId="urn:microsoft.com/office/officeart/2005/8/layout/vList2"/>
    <dgm:cxn modelId="{E71E87DD-87F4-44CB-B687-406F08AFE324}" type="presParOf" srcId="{09A4B12A-1697-435C-AEF0-5E8C32F2AE71}" destId="{9381C7BF-1E0D-48AB-B1AA-C8EA8B6A8304}" srcOrd="1" destOrd="0" presId="urn:microsoft.com/office/officeart/2005/8/layout/vList2"/>
    <dgm:cxn modelId="{DA53AF02-23CA-4353-A766-6D5E5C3B34A8}" type="presParOf" srcId="{09A4B12A-1697-435C-AEF0-5E8C32F2AE71}" destId="{7E061D09-3BCE-40B6-A1DE-AC806E473903}" srcOrd="2" destOrd="0" presId="urn:microsoft.com/office/officeart/2005/8/layout/vList2"/>
    <dgm:cxn modelId="{747C47F2-8CDC-4DFE-98EB-F2ADDC513237}" type="presParOf" srcId="{09A4B12A-1697-435C-AEF0-5E8C32F2AE71}" destId="{699B0A5B-C69F-4FE4-8606-34F2EE0ABCC7}" srcOrd="3" destOrd="0" presId="urn:microsoft.com/office/officeart/2005/8/layout/vList2"/>
    <dgm:cxn modelId="{55CD2FBD-0D27-4DF5-9210-ADD9ACC2A930}" type="presParOf" srcId="{09A4B12A-1697-435C-AEF0-5E8C32F2AE71}" destId="{8C1A880C-4668-4E07-BAF7-7B348CC905E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0E91E5-1523-4C2C-BFE3-3639E9F472B0}">
      <dsp:nvSpPr>
        <dsp:cNvPr id="0" name=""/>
        <dsp:cNvSpPr/>
      </dsp:nvSpPr>
      <dsp:spPr>
        <a:xfrm>
          <a:off x="0" y="0"/>
          <a:ext cx="3410967" cy="458764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932" tIns="330200" rIns="26593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1. Categorical Features: Represent labels or categories (e.g., gender, country).</a:t>
          </a:r>
        </a:p>
      </dsp:txBody>
      <dsp:txXfrm>
        <a:off x="0" y="1743306"/>
        <a:ext cx="3410967" cy="2752589"/>
      </dsp:txXfrm>
    </dsp:sp>
    <dsp:sp modelId="{5BC74F0C-51E1-47D2-AA4C-E63BD8BC3B38}">
      <dsp:nvSpPr>
        <dsp:cNvPr id="0" name=""/>
        <dsp:cNvSpPr/>
      </dsp:nvSpPr>
      <dsp:spPr>
        <a:xfrm>
          <a:off x="1017336" y="458764"/>
          <a:ext cx="1376294" cy="137629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301" tIns="12700" rIns="10730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218890" y="660318"/>
        <a:ext cx="973186" cy="973186"/>
      </dsp:txXfrm>
    </dsp:sp>
    <dsp:sp modelId="{545072AD-4B10-4ADD-A7E8-ECA0FA8B9840}">
      <dsp:nvSpPr>
        <dsp:cNvPr id="0" name=""/>
        <dsp:cNvSpPr/>
      </dsp:nvSpPr>
      <dsp:spPr>
        <a:xfrm>
          <a:off x="0" y="4587577"/>
          <a:ext cx="3410967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4655C2-5ECE-4B73-847A-BDF383452345}">
      <dsp:nvSpPr>
        <dsp:cNvPr id="0" name=""/>
        <dsp:cNvSpPr/>
      </dsp:nvSpPr>
      <dsp:spPr>
        <a:xfrm>
          <a:off x="3752063" y="0"/>
          <a:ext cx="3410967" cy="458764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932" tIns="330200" rIns="26593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2. Discrete Features: Represent countable values (e.g., number of children).</a:t>
          </a:r>
        </a:p>
      </dsp:txBody>
      <dsp:txXfrm>
        <a:off x="3752063" y="1743306"/>
        <a:ext cx="3410967" cy="2752589"/>
      </dsp:txXfrm>
    </dsp:sp>
    <dsp:sp modelId="{58A291C0-9E32-45F0-BAAE-8C5D52C56A81}">
      <dsp:nvSpPr>
        <dsp:cNvPr id="0" name=""/>
        <dsp:cNvSpPr/>
      </dsp:nvSpPr>
      <dsp:spPr>
        <a:xfrm>
          <a:off x="4769400" y="458764"/>
          <a:ext cx="1376294" cy="137629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301" tIns="12700" rIns="10730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970954" y="660318"/>
        <a:ext cx="973186" cy="973186"/>
      </dsp:txXfrm>
    </dsp:sp>
    <dsp:sp modelId="{37F0DF91-A411-4D4B-9342-B7805C24F296}">
      <dsp:nvSpPr>
        <dsp:cNvPr id="0" name=""/>
        <dsp:cNvSpPr/>
      </dsp:nvSpPr>
      <dsp:spPr>
        <a:xfrm>
          <a:off x="3752063" y="4587577"/>
          <a:ext cx="3410967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6DCC1-ADCF-4B8B-8E70-8BD0D057D83E}">
      <dsp:nvSpPr>
        <dsp:cNvPr id="0" name=""/>
        <dsp:cNvSpPr/>
      </dsp:nvSpPr>
      <dsp:spPr>
        <a:xfrm>
          <a:off x="7504127" y="0"/>
          <a:ext cx="3410967" cy="458764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932" tIns="330200" rIns="26593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3. Continuous Features: Represent measurable values (e.g., height, salary).</a:t>
          </a:r>
        </a:p>
      </dsp:txBody>
      <dsp:txXfrm>
        <a:off x="7504127" y="1743306"/>
        <a:ext cx="3410967" cy="2752589"/>
      </dsp:txXfrm>
    </dsp:sp>
    <dsp:sp modelId="{307BDB0A-94B4-485B-8F59-855F4605CB64}">
      <dsp:nvSpPr>
        <dsp:cNvPr id="0" name=""/>
        <dsp:cNvSpPr/>
      </dsp:nvSpPr>
      <dsp:spPr>
        <a:xfrm>
          <a:off x="8521464" y="458764"/>
          <a:ext cx="1376294" cy="137629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301" tIns="12700" rIns="10730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723018" y="660318"/>
        <a:ext cx="973186" cy="973186"/>
      </dsp:txXfrm>
    </dsp:sp>
    <dsp:sp modelId="{E71AB483-19A7-4C52-89B2-5CB40C713AB2}">
      <dsp:nvSpPr>
        <dsp:cNvPr id="0" name=""/>
        <dsp:cNvSpPr/>
      </dsp:nvSpPr>
      <dsp:spPr>
        <a:xfrm>
          <a:off x="7504127" y="4587577"/>
          <a:ext cx="3410967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5657AC-7CBF-4D59-8F13-8C5A0A8A1C94}">
      <dsp:nvSpPr>
        <dsp:cNvPr id="0" name=""/>
        <dsp:cNvSpPr/>
      </dsp:nvSpPr>
      <dsp:spPr>
        <a:xfrm>
          <a:off x="1283" y="224708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332D7-7114-490F-8B8C-93F11C74A79E}">
      <dsp:nvSpPr>
        <dsp:cNvPr id="0" name=""/>
        <dsp:cNvSpPr/>
      </dsp:nvSpPr>
      <dsp:spPr>
        <a:xfrm>
          <a:off x="501904" y="700298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1. Nominal: No specific order (e.g., colors: Red, Blue, Green).</a:t>
          </a:r>
        </a:p>
      </dsp:txBody>
      <dsp:txXfrm>
        <a:off x="585701" y="784095"/>
        <a:ext cx="4337991" cy="2693452"/>
      </dsp:txXfrm>
    </dsp:sp>
    <dsp:sp modelId="{1AE242C0-1636-49DF-977A-C2AD4EB5592A}">
      <dsp:nvSpPr>
        <dsp:cNvPr id="0" name=""/>
        <dsp:cNvSpPr/>
      </dsp:nvSpPr>
      <dsp:spPr>
        <a:xfrm>
          <a:off x="5508109" y="224708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A275A7-B258-4761-9D5B-A87EBD3778EA}">
      <dsp:nvSpPr>
        <dsp:cNvPr id="0" name=""/>
        <dsp:cNvSpPr/>
      </dsp:nvSpPr>
      <dsp:spPr>
        <a:xfrm>
          <a:off x="6008730" y="700298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2. Ordinal: Has an inherent order (e.g., education levels: High School, Bachelor’s, Master’s).</a:t>
          </a:r>
        </a:p>
      </dsp:txBody>
      <dsp:txXfrm>
        <a:off x="6092527" y="784095"/>
        <a:ext cx="4337991" cy="26934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AEC3D0-5C41-4D19-809D-D1CDD6DBD4E1}">
      <dsp:nvSpPr>
        <dsp:cNvPr id="0" name=""/>
        <dsp:cNvSpPr/>
      </dsp:nvSpPr>
      <dsp:spPr>
        <a:xfrm>
          <a:off x="0" y="371113"/>
          <a:ext cx="11295836" cy="10319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Countable values with no intermediate values.</a:t>
          </a:r>
        </a:p>
      </dsp:txBody>
      <dsp:txXfrm>
        <a:off x="50375" y="421488"/>
        <a:ext cx="11195086" cy="931190"/>
      </dsp:txXfrm>
    </dsp:sp>
    <dsp:sp modelId="{8C837DB7-3E98-4521-9F42-1DEDD14CC9C2}">
      <dsp:nvSpPr>
        <dsp:cNvPr id="0" name=""/>
        <dsp:cNvSpPr/>
      </dsp:nvSpPr>
      <dsp:spPr>
        <a:xfrm>
          <a:off x="0" y="1524013"/>
          <a:ext cx="11295836" cy="103194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Follows probability mass functions (PMF).</a:t>
          </a:r>
        </a:p>
      </dsp:txBody>
      <dsp:txXfrm>
        <a:off x="50375" y="1574388"/>
        <a:ext cx="11195086" cy="931190"/>
      </dsp:txXfrm>
    </dsp:sp>
    <dsp:sp modelId="{71F23A96-6278-42D5-8443-0E7F0D4FD085}">
      <dsp:nvSpPr>
        <dsp:cNvPr id="0" name=""/>
        <dsp:cNvSpPr/>
      </dsp:nvSpPr>
      <dsp:spPr>
        <a:xfrm>
          <a:off x="0" y="2676913"/>
          <a:ext cx="11295836" cy="103194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Example: Number of calls received per day:</a:t>
          </a:r>
        </a:p>
      </dsp:txBody>
      <dsp:txXfrm>
        <a:off x="50375" y="2727288"/>
        <a:ext cx="11195086" cy="9311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EC075F-4562-43C4-B432-54BD063C47BD}">
      <dsp:nvSpPr>
        <dsp:cNvPr id="0" name=""/>
        <dsp:cNvSpPr/>
      </dsp:nvSpPr>
      <dsp:spPr>
        <a:xfrm>
          <a:off x="0" y="198038"/>
          <a:ext cx="9543235" cy="9336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Can take infinite values within a range.</a:t>
          </a:r>
        </a:p>
      </dsp:txBody>
      <dsp:txXfrm>
        <a:off x="45578" y="243616"/>
        <a:ext cx="9452079" cy="842504"/>
      </dsp:txXfrm>
    </dsp:sp>
    <dsp:sp modelId="{7E061D09-3BCE-40B6-A1DE-AC806E473903}">
      <dsp:nvSpPr>
        <dsp:cNvPr id="0" name=""/>
        <dsp:cNvSpPr/>
      </dsp:nvSpPr>
      <dsp:spPr>
        <a:xfrm>
          <a:off x="0" y="1241138"/>
          <a:ext cx="9543235" cy="93366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Follows probability density functions (PDF).</a:t>
          </a:r>
        </a:p>
      </dsp:txBody>
      <dsp:txXfrm>
        <a:off x="45578" y="1286716"/>
        <a:ext cx="9452079" cy="842504"/>
      </dsp:txXfrm>
    </dsp:sp>
    <dsp:sp modelId="{8C1A880C-4668-4E07-BAF7-7B348CC905E4}">
      <dsp:nvSpPr>
        <dsp:cNvPr id="0" name=""/>
        <dsp:cNvSpPr/>
      </dsp:nvSpPr>
      <dsp:spPr>
        <a:xfrm>
          <a:off x="0" y="2284238"/>
          <a:ext cx="9543235" cy="93366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Example: Height of individuals:</a:t>
          </a:r>
        </a:p>
      </dsp:txBody>
      <dsp:txXfrm>
        <a:off x="45578" y="2329816"/>
        <a:ext cx="9452079" cy="8425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51CAF-1A86-4D32-A0CF-3621D747382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33ADB9-5B88-4180-980A-C98C5F141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008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very popular and beginner-friendly dataset, often used for machine learning and data type identification, is the </a:t>
            </a:r>
            <a:r>
              <a:rPr lang="en-US" b="1" dirty="0"/>
              <a:t>Iris dataset</a:t>
            </a:r>
            <a:r>
              <a:rPr lang="en-US" dirty="0"/>
              <a:t>. It's smaller than the Titanic dataset but contains excellent examples of the feature types you're focusing 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33ADB9-5B88-4180-980A-C98C5F1419D8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089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CAB6-0A18-B12A-06A5-CFD0B0666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1E932-87D4-E4A3-5EC5-FD37D2ADB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61194-F8BE-C949-EFCA-00EE7F86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34BE2-760E-FA63-F53E-6EC6D65C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19652-B072-95C3-666A-824B223F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103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62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5807-6537-7A6D-A641-B2A17376E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B0403-42FF-1C59-1D5B-32C3D7622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86C83-3353-0411-EE9B-3502DB3E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F388B-76FB-C020-4F27-4E8F4736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13B55-0C9D-95FE-DE57-76D9CAC5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862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200A-4353-C353-E184-88D52DAD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E2DB6-9BB8-38D4-16CA-0544ED95B0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55387-24D0-58FA-83A3-7DE9457A8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92733-6AE7-EB0F-FA3B-AF5CDFCC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F2C6F-7464-367E-E3F8-97DC8C8F3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16EA2-7E56-7BA3-2439-E543C416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239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A9EF-5440-6E76-FF73-0CF065E3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46708-25E5-77F6-A964-227D0EE4C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C22E3-5FB3-FA79-ED62-21819A6A0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6025A-E802-D170-D6B8-690A286BC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B7203-20FE-415A-F923-11A30CAAC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7DA1C9-7D6A-71D0-70D9-9B0828718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E8C4F-142A-8803-C2AD-C6393A49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83C7CE-86E2-2A63-0ECE-6F7089A6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71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AE12F-6D65-52A0-48AA-B03A63F84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2E755-9EA8-6439-9AA9-91FF3D91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B468B-111F-CF06-6C38-3BC8CFF4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94801-333D-738E-07D1-D8DAF45C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337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45271-495D-152E-CF4A-DF4710D8B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F704DD-032D-53A7-BFF6-45E5965D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77178-4230-89A4-5872-75B34920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00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A69D6-24F8-42C9-1D77-EC886690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61D7-9867-D57B-393C-47C770AA6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D94E2-1CFC-4DFF-4491-2085D8036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CD279-5116-5E15-60C5-9EF79DDB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31C19-F77D-04E3-B033-CF6338C1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963EA-8864-E6BE-24F5-23AFDA15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667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56FE6-775B-5F83-EEAB-E36547DB1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964366-F9DB-7570-8134-3DDD5A101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FF4E6-78FE-6A93-F107-25294F26C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A6E5D-D1B7-97B4-E5F0-293D2283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0F263-4F04-05C5-5AB8-17B4BF43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888F2-58F4-670D-C34D-AD8FC745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83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8A30-B913-89F3-B532-786CB42C2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29D4D-DEE7-6A1D-B42E-38574A727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6FAF5-A696-3446-BF82-38164F6A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E94DE-54DD-A6A8-474C-AB93008EA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8F6DA-A2A6-C945-BF21-6706B5FA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72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308265-AD14-4580-CC74-9C4CF00E9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309DA-5772-6FBD-97A3-F137B93F9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1C790-714C-45F7-D996-F901BECA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76402-000D-C35B-9564-25F55D31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67743-5BF8-DFC2-CBDC-EB27E011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585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B05E56-8D2F-5F2F-8551-44A2B095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445D5-7E47-8624-9AC3-BB3BCD277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B5D27-2F61-7E25-7C4F-55CEB6262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E40CC-F5EF-5459-5DE6-51B24194D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77AFA-267B-483B-8828-7D5EC7CBF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19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5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vikashsinghy2k/how-to-create-stunning-data-visualizations-in-python-top-10-techniques-to-learn-eca1be10a6f8" TargetMode="External"/><Relationship Id="rId2" Type="http://schemas.openxmlformats.org/officeDocument/2006/relationships/hyperlink" Target="https://github.com/vikashkmd/DSMLNotebooks/blob/main/Exploring%20variables%20in%20dataset.ipynb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@vikashsinghy2k/phases-of-data-science-and-analytics-7bfc524cc23a" TargetMode="External"/><Relationship Id="rId5" Type="http://schemas.openxmlformats.org/officeDocument/2006/relationships/hyperlink" Target="https://medium.com/@vikashsinghy2k/how-much-statistics-do-you-really-need-for-data-science-77dc3a8c4d86" TargetMode="External"/><Relationship Id="rId4" Type="http://schemas.openxmlformats.org/officeDocument/2006/relationships/hyperlink" Target="https://medium.com/@vikashsinghy2k/mastering-credit-risk-analysis-a-step-by-step-guide-to-descriptive-statistics-in-python-bfbdfba627d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8A999DC-A153-1905-C7EE-7C969DA83FFE}"/>
              </a:ext>
            </a:extLst>
          </p:cNvPr>
          <p:cNvSpPr/>
          <p:nvPr/>
        </p:nvSpPr>
        <p:spPr>
          <a:xfrm>
            <a:off x="-419100" y="4152147"/>
            <a:ext cx="12705589" cy="4105276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C59026-22DA-C7EE-E8D5-0A960E14490B}"/>
              </a:ext>
            </a:extLst>
          </p:cNvPr>
          <p:cNvSpPr/>
          <p:nvPr/>
        </p:nvSpPr>
        <p:spPr>
          <a:xfrm>
            <a:off x="0" y="5429251"/>
            <a:ext cx="12192001" cy="865268"/>
          </a:xfrm>
          <a:prstGeom prst="rect">
            <a:avLst/>
          </a:prstGeom>
          <a:solidFill>
            <a:srgbClr val="C00000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AFFA5-8138-FB30-6CEE-C907D53506F8}"/>
              </a:ext>
            </a:extLst>
          </p:cNvPr>
          <p:cNvSpPr txBox="1"/>
          <p:nvPr/>
        </p:nvSpPr>
        <p:spPr>
          <a:xfrm>
            <a:off x="1195137" y="5113697"/>
            <a:ext cx="9801726" cy="14773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  <a:p>
            <a:pPr algn="ctr"/>
            <a:r>
              <a:rPr lang="en-US" sz="3000" dirty="0">
                <a:solidFill>
                  <a:schemeClr val="bg1"/>
                </a:solidFill>
                <a:latin typeface="Montserrat SemiBold" pitchFamily="2" charset="0"/>
              </a:rPr>
              <a:t>Understanding Features</a:t>
            </a:r>
          </a:p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95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F74FA-259D-AE93-651F-B8A502C1E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41252-497D-FF0D-14FB-D1F83D86864A}"/>
              </a:ext>
            </a:extLst>
          </p:cNvPr>
          <p:cNvSpPr txBox="1">
            <a:spLocks/>
          </p:cNvSpPr>
          <p:nvPr/>
        </p:nvSpPr>
        <p:spPr>
          <a:xfrm>
            <a:off x="2481943" y="217297"/>
            <a:ext cx="84723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Data Features…..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E017E6-E93E-5CEA-C56F-FEF96B5596BB}"/>
              </a:ext>
            </a:extLst>
          </p:cNvPr>
          <p:cNvSpPr txBox="1"/>
          <p:nvPr/>
        </p:nvSpPr>
        <p:spPr>
          <a:xfrm>
            <a:off x="657059" y="1588618"/>
            <a:ext cx="1087788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‘titanic’ dataset in seaborn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7F1161B-D65B-6630-4C9B-F255EBA91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58" y="2381249"/>
            <a:ext cx="10975397" cy="2299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3779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E650A68-EA3A-2D91-1B47-FD55243C0DD5}"/>
              </a:ext>
            </a:extLst>
          </p:cNvPr>
          <p:cNvSpPr txBox="1">
            <a:spLocks/>
          </p:cNvSpPr>
          <p:nvPr/>
        </p:nvSpPr>
        <p:spPr>
          <a:xfrm>
            <a:off x="3606449" y="239070"/>
            <a:ext cx="69091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Learning Objectives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DD431F-D61B-40D1-6A24-AC95A22F2994}"/>
              </a:ext>
            </a:extLst>
          </p:cNvPr>
          <p:cNvSpPr txBox="1">
            <a:spLocks/>
          </p:cNvSpPr>
          <p:nvPr/>
        </p:nvSpPr>
        <p:spPr>
          <a:xfrm>
            <a:off x="864833" y="2134159"/>
            <a:ext cx="10249481" cy="571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latin typeface="Avenir Next LT Pro" panose="020B0504020202020204" pitchFamily="34" charset="0"/>
                <a:cs typeface="Arial" pitchFamily="34" charset="0"/>
              </a:rPr>
              <a:t>By the end of this session, you will be able to: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C8A23C-5022-270C-5F03-533BA4EC2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833" y="2705507"/>
            <a:ext cx="1125096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Define categorical, discrete, and continuous features.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Understand the differences and significance of each type.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Explore examples with real-world datasets.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 Python (Pandas, NumPy, Matplotlib, Seaborn) for data exploration.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202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CA3F0-5D74-4967-F591-DED6512EB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4241E-C517-7A34-6691-F299D97BACEF}"/>
              </a:ext>
            </a:extLst>
          </p:cNvPr>
          <p:cNvSpPr txBox="1">
            <a:spLocks/>
          </p:cNvSpPr>
          <p:nvPr/>
        </p:nvSpPr>
        <p:spPr>
          <a:xfrm>
            <a:off x="3581399" y="217297"/>
            <a:ext cx="7372905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Types of Features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7A7D4B17-1384-CF4D-2952-5EE14FD542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1781834"/>
              </p:ext>
            </p:extLst>
          </p:nvPr>
        </p:nvGraphicFramePr>
        <p:xfrm>
          <a:off x="838200" y="1524000"/>
          <a:ext cx="10915095" cy="45876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1482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9F5CC-7C78-2830-995A-742570655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4BFCE-519B-6168-CCA0-E9CD220910FE}"/>
              </a:ext>
            </a:extLst>
          </p:cNvPr>
          <p:cNvSpPr txBox="1">
            <a:spLocks/>
          </p:cNvSpPr>
          <p:nvPr/>
        </p:nvSpPr>
        <p:spPr>
          <a:xfrm>
            <a:off x="3635829" y="217297"/>
            <a:ext cx="73184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Categorical Features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ED823-7E41-0ACC-F0DC-3A15DF547F0F}"/>
              </a:ext>
            </a:extLst>
          </p:cNvPr>
          <p:cNvSpPr txBox="1">
            <a:spLocks/>
          </p:cNvSpPr>
          <p:nvPr/>
        </p:nvSpPr>
        <p:spPr>
          <a:xfrm>
            <a:off x="838200" y="1411968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Definition: Features that represent categories or groups.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Examples: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- Gender: Male, Female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- Car Type: Sedan, SUV, Truck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- Payment Method: Credit Card, Cash, Digital Wallet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07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199DE-72C0-6C3F-C639-925F1DD8F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43AD8-B355-EA34-9682-347C193A4DD8}"/>
              </a:ext>
            </a:extLst>
          </p:cNvPr>
          <p:cNvSpPr txBox="1">
            <a:spLocks/>
          </p:cNvSpPr>
          <p:nvPr/>
        </p:nvSpPr>
        <p:spPr>
          <a:xfrm>
            <a:off x="2481943" y="217297"/>
            <a:ext cx="84723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Data Features…..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301FC4-869A-0E64-9B38-2BE06131F20A}"/>
              </a:ext>
            </a:extLst>
          </p:cNvPr>
          <p:cNvSpPr txBox="1"/>
          <p:nvPr/>
        </p:nvSpPr>
        <p:spPr>
          <a:xfrm>
            <a:off x="657059" y="1588618"/>
            <a:ext cx="1087788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Which of these are Categorical features?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0968A22-5F37-6617-70B3-BABA74550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58" y="2381249"/>
            <a:ext cx="10975397" cy="2299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1053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A3183E-A9CF-38AF-1054-D04383910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480389"/>
              </p:ext>
            </p:extLst>
          </p:nvPr>
        </p:nvGraphicFramePr>
        <p:xfrm>
          <a:off x="170411" y="893618"/>
          <a:ext cx="11841480" cy="5008073"/>
        </p:xfrm>
        <a:graphic>
          <a:graphicData uri="http://schemas.openxmlformats.org/drawingml/2006/table">
            <a:tbl>
              <a:tblPr/>
              <a:tblGrid>
                <a:gridCol w="1739844">
                  <a:extLst>
                    <a:ext uri="{9D8B030D-6E8A-4147-A177-3AD203B41FA5}">
                      <a16:colId xmlns:a16="http://schemas.microsoft.com/office/drawing/2014/main" val="2987796887"/>
                    </a:ext>
                  </a:extLst>
                </a:gridCol>
                <a:gridCol w="1950732">
                  <a:extLst>
                    <a:ext uri="{9D8B030D-6E8A-4147-A177-3AD203B41FA5}">
                      <a16:colId xmlns:a16="http://schemas.microsoft.com/office/drawing/2014/main" val="874585808"/>
                    </a:ext>
                  </a:extLst>
                </a:gridCol>
                <a:gridCol w="2762665">
                  <a:extLst>
                    <a:ext uri="{9D8B030D-6E8A-4147-A177-3AD203B41FA5}">
                      <a16:colId xmlns:a16="http://schemas.microsoft.com/office/drawing/2014/main" val="465978103"/>
                    </a:ext>
                  </a:extLst>
                </a:gridCol>
                <a:gridCol w="5388239">
                  <a:extLst>
                    <a:ext uri="{9D8B030D-6E8A-4147-A177-3AD203B41FA5}">
                      <a16:colId xmlns:a16="http://schemas.microsoft.com/office/drawing/2014/main" val="2978999669"/>
                    </a:ext>
                  </a:extLst>
                </a:gridCol>
              </a:tblGrid>
              <a:tr h="8901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deck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Categorical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Nominal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Represents the deck letter (A, B, C, etc.). While there might be a physical order, the deck itself is often treated as a set of distinct, unordered groups in analysis unless more context is given.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018957"/>
                  </a:ext>
                </a:extLst>
              </a:tr>
              <a:tr h="4875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embark_town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Categorical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Nominal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Full name of the port of embarkation (Southampton, Cherbourg). No inherent order.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450203"/>
                  </a:ext>
                </a:extLst>
              </a:tr>
              <a:tr h="4070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embarked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Categorical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Nominal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Represents the port of embarkation (S, C, Q). The ports have no inherent order.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261452"/>
                  </a:ext>
                </a:extLst>
              </a:tr>
              <a:tr h="32655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sex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Categorical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Nominal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Represents distinct, unordered groups (male, female).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365014"/>
                  </a:ext>
                </a:extLst>
              </a:tr>
              <a:tr h="24603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who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Categorical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Nominal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Represents a category (man, woman, child).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1305"/>
                  </a:ext>
                </a:extLst>
              </a:tr>
              <a:tr h="4070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dirty="0" err="1">
                          <a:effectLst/>
                        </a:rPr>
                        <a:t>adult_male</a:t>
                      </a:r>
                      <a:endParaRPr lang="en-IN" sz="1400" dirty="0">
                        <a:effectLst/>
                      </a:endParaRP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Categorical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Nominal (or Binary/Dichotomous)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A logical category (True/False) indicating if the person is an adult male.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073"/>
                  </a:ext>
                </a:extLst>
              </a:tr>
              <a:tr h="4070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alive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Categorical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Nominal (or Binary/Dichotomous)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A category (yes/no) for survival.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656219"/>
                  </a:ext>
                </a:extLst>
              </a:tr>
              <a:tr h="4070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alone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Categorical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Nominal (or Binary/Dichotomous)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A logical category (True/False) indicating if the person was alone.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8955380"/>
                  </a:ext>
                </a:extLst>
              </a:tr>
              <a:tr h="4875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survived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Categorical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Nominal (or Binary/Dichotomous)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Represents a group (survived/not survived). The numbers (0 and 1) are just labels for the categories.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6816257"/>
                  </a:ext>
                </a:extLst>
              </a:tr>
              <a:tr h="4070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class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Categorical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Ordinal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Text representation of </a:t>
                      </a:r>
                      <a:r>
                        <a:rPr lang="en-US" sz="1400" dirty="0" err="1">
                          <a:effectLst/>
                        </a:rPr>
                        <a:t>pclass</a:t>
                      </a:r>
                      <a:r>
                        <a:rPr lang="en-US" sz="1400" dirty="0">
                          <a:effectLst/>
                        </a:rPr>
                        <a:t> (First, Second, Third), showing a meaningful order.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887293"/>
                  </a:ext>
                </a:extLst>
              </a:tr>
              <a:tr h="4875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pclass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Categorical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Ordinal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Represents the passenger class (1st, 2nd, 3rd). The classes have a meaningful, ordered ranking.</a:t>
                      </a:r>
                    </a:p>
                  </a:txBody>
                  <a:tcPr marL="2943" marR="2943" marT="1962" marB="1962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327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614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DFCB5D-A096-9BDE-46AD-3BD20856A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93" y="1066470"/>
            <a:ext cx="5306165" cy="47250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69555F-6696-41B0-37B1-B82C4B31C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356" y="1313611"/>
            <a:ext cx="5493178" cy="455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284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890B2-E345-9525-7ED1-63CC28B0D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5709D2E-17BE-94FA-64DD-13745E26C454}"/>
              </a:ext>
            </a:extLst>
          </p:cNvPr>
          <p:cNvSpPr txBox="1">
            <a:spLocks/>
          </p:cNvSpPr>
          <p:nvPr/>
        </p:nvSpPr>
        <p:spPr>
          <a:xfrm>
            <a:off x="3428999" y="217297"/>
            <a:ext cx="7525305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Types of Categorical Features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EBEE59-0450-56D7-B817-84DBF4D7C7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5162815"/>
              </p:ext>
            </p:extLst>
          </p:nvPr>
        </p:nvGraphicFramePr>
        <p:xfrm>
          <a:off x="809079" y="1449975"/>
          <a:ext cx="10515599" cy="37860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782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022A7-CBD3-9F27-E4E6-11D40EC2B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51DF7-94A0-536A-25A2-8D8895A6A076}"/>
              </a:ext>
            </a:extLst>
          </p:cNvPr>
          <p:cNvSpPr txBox="1">
            <a:spLocks/>
          </p:cNvSpPr>
          <p:nvPr/>
        </p:nvSpPr>
        <p:spPr>
          <a:xfrm>
            <a:off x="4593771" y="217297"/>
            <a:ext cx="6360534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Discrete Features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8F1E2-2949-9C43-CE5F-1DD789588F48}"/>
              </a:ext>
            </a:extLst>
          </p:cNvPr>
          <p:cNvSpPr txBox="1">
            <a:spLocks/>
          </p:cNvSpPr>
          <p:nvPr/>
        </p:nvSpPr>
        <p:spPr>
          <a:xfrm>
            <a:off x="438705" y="1253331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Definition: Numerical features that take countable, finite values.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Examples: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- Number of children in a family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- Number of products purchased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- Number of login attempts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88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9D81C-B3EA-AD23-1C80-FA7F3682C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4077B-EC88-0803-3BDF-45E5916D7BFD}"/>
              </a:ext>
            </a:extLst>
          </p:cNvPr>
          <p:cNvSpPr txBox="1">
            <a:spLocks/>
          </p:cNvSpPr>
          <p:nvPr/>
        </p:nvSpPr>
        <p:spPr>
          <a:xfrm>
            <a:off x="2481943" y="217297"/>
            <a:ext cx="84723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Data Features…..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F3B388-FD2C-8811-D850-343F9B934F7F}"/>
              </a:ext>
            </a:extLst>
          </p:cNvPr>
          <p:cNvSpPr txBox="1"/>
          <p:nvPr/>
        </p:nvSpPr>
        <p:spPr>
          <a:xfrm>
            <a:off x="657059" y="1588618"/>
            <a:ext cx="1087788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Which of these are Discrete features?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44E9168-910E-B4EC-8340-EBF447479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58" y="2381249"/>
            <a:ext cx="10975397" cy="2299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3318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C6967A-BCAF-6D05-2162-66E2465C1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232025"/>
              </p:ext>
            </p:extLst>
          </p:nvPr>
        </p:nvGraphicFramePr>
        <p:xfrm>
          <a:off x="735676" y="2340134"/>
          <a:ext cx="9962804" cy="1127760"/>
        </p:xfrm>
        <a:graphic>
          <a:graphicData uri="http://schemas.openxmlformats.org/drawingml/2006/table">
            <a:tbl>
              <a:tblPr/>
              <a:tblGrid>
                <a:gridCol w="1463814">
                  <a:extLst>
                    <a:ext uri="{9D8B030D-6E8A-4147-A177-3AD203B41FA5}">
                      <a16:colId xmlns:a16="http://schemas.microsoft.com/office/drawing/2014/main" val="2080589257"/>
                    </a:ext>
                  </a:extLst>
                </a:gridCol>
                <a:gridCol w="1641245">
                  <a:extLst>
                    <a:ext uri="{9D8B030D-6E8A-4147-A177-3AD203B41FA5}">
                      <a16:colId xmlns:a16="http://schemas.microsoft.com/office/drawing/2014/main" val="240858556"/>
                    </a:ext>
                  </a:extLst>
                </a:gridCol>
                <a:gridCol w="2324359">
                  <a:extLst>
                    <a:ext uri="{9D8B030D-6E8A-4147-A177-3AD203B41FA5}">
                      <a16:colId xmlns:a16="http://schemas.microsoft.com/office/drawing/2014/main" val="3164033777"/>
                    </a:ext>
                  </a:extLst>
                </a:gridCol>
                <a:gridCol w="4533386">
                  <a:extLst>
                    <a:ext uri="{9D8B030D-6E8A-4147-A177-3AD203B41FA5}">
                      <a16:colId xmlns:a16="http://schemas.microsoft.com/office/drawing/2014/main" val="455759277"/>
                    </a:ext>
                  </a:extLst>
                </a:gridCol>
              </a:tblGrid>
              <a:tr h="800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>
                          <a:effectLst/>
                        </a:rPr>
                        <a:t>parch</a:t>
                      </a:r>
                    </a:p>
                  </a:txBody>
                  <a:tcPr marL="11430" marR="11430" marT="7620" marB="7620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>
                          <a:effectLst/>
                        </a:rPr>
                        <a:t>Discrete</a:t>
                      </a:r>
                    </a:p>
                  </a:txBody>
                  <a:tcPr marL="11430" marR="11430" marT="7620" marB="7620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>
                          <a:effectLst/>
                        </a:rPr>
                        <a:t>Ratio</a:t>
                      </a:r>
                    </a:p>
                  </a:txBody>
                  <a:tcPr marL="11430" marR="11430" marT="7620" marB="7620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Count of parents/children aboard. It must be an integer and the value of 0 is a true zero.</a:t>
                      </a:r>
                    </a:p>
                  </a:txBody>
                  <a:tcPr marL="11430" marR="11430" marT="7620" marB="7620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2317511"/>
                  </a:ext>
                </a:extLst>
              </a:tr>
              <a:tr h="800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>
                          <a:effectLst/>
                        </a:rPr>
                        <a:t>sibsp</a:t>
                      </a:r>
                    </a:p>
                  </a:txBody>
                  <a:tcPr marL="11430" marR="11430" marT="7620" marB="7620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>
                          <a:effectLst/>
                        </a:rPr>
                        <a:t>Discrete</a:t>
                      </a:r>
                    </a:p>
                  </a:txBody>
                  <a:tcPr marL="11430" marR="11430" marT="7620" marB="7620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>
                          <a:effectLst/>
                        </a:rPr>
                        <a:t>Ratio</a:t>
                      </a:r>
                    </a:p>
                  </a:txBody>
                  <a:tcPr marL="11430" marR="11430" marT="7620" marB="7620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dirty="0">
                          <a:effectLst/>
                        </a:rPr>
                        <a:t>Count of siblings/spouses aboard. It must be an integer and the value of 0 is a true zero.</a:t>
                      </a:r>
                    </a:p>
                  </a:txBody>
                  <a:tcPr marL="11430" marR="11430" marT="7620" marB="7620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542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7002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F952C-0B2F-5AF8-0F2E-1FE6D2152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E32CB26-9112-3C67-9179-0E87BFB200B6}"/>
              </a:ext>
            </a:extLst>
          </p:cNvPr>
          <p:cNvSpPr txBox="1">
            <a:spLocks/>
          </p:cNvSpPr>
          <p:nvPr/>
        </p:nvSpPr>
        <p:spPr>
          <a:xfrm>
            <a:off x="2558143" y="217297"/>
            <a:ext cx="83961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Mathematical Properties of Discrete Features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260622-217F-531A-225F-19547E4DCF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1815338"/>
              </p:ext>
            </p:extLst>
          </p:nvPr>
        </p:nvGraphicFramePr>
        <p:xfrm>
          <a:off x="526050" y="905995"/>
          <a:ext cx="11295836" cy="4079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66D01EB-4F09-1682-3274-820A9E6523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9352" y="4891831"/>
            <a:ext cx="7640531" cy="118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288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B5858-2F64-E3D9-4C14-8F4ED0A93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4AAF7-69BB-A514-72DE-BFA4193658E9}"/>
              </a:ext>
            </a:extLst>
          </p:cNvPr>
          <p:cNvSpPr txBox="1">
            <a:spLocks/>
          </p:cNvSpPr>
          <p:nvPr/>
        </p:nvSpPr>
        <p:spPr>
          <a:xfrm>
            <a:off x="3570513" y="217297"/>
            <a:ext cx="73837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 Continuous Features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AEB08F1-8BFB-DEFC-B3BA-D37B4752E621}"/>
              </a:ext>
            </a:extLst>
          </p:cNvPr>
          <p:cNvSpPr txBox="1">
            <a:spLocks/>
          </p:cNvSpPr>
          <p:nvPr/>
        </p:nvSpPr>
        <p:spPr>
          <a:xfrm>
            <a:off x="457199" y="1600200"/>
            <a:ext cx="10646229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Definition: Numerical features that can take any value within a range.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Examples: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- Height and weight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- Temperature and pressure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- Income and expenses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763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28BF87-1B89-D66E-2B6A-D49CECDBD5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234585"/>
              </p:ext>
            </p:extLst>
          </p:nvPr>
        </p:nvGraphicFramePr>
        <p:xfrm>
          <a:off x="257695" y="2024149"/>
          <a:ext cx="11741726" cy="1855226"/>
        </p:xfrm>
        <a:graphic>
          <a:graphicData uri="http://schemas.openxmlformats.org/drawingml/2006/table">
            <a:tbl>
              <a:tblPr/>
              <a:tblGrid>
                <a:gridCol w="1725187">
                  <a:extLst>
                    <a:ext uri="{9D8B030D-6E8A-4147-A177-3AD203B41FA5}">
                      <a16:colId xmlns:a16="http://schemas.microsoft.com/office/drawing/2014/main" val="1778128814"/>
                    </a:ext>
                  </a:extLst>
                </a:gridCol>
                <a:gridCol w="1934299">
                  <a:extLst>
                    <a:ext uri="{9D8B030D-6E8A-4147-A177-3AD203B41FA5}">
                      <a16:colId xmlns:a16="http://schemas.microsoft.com/office/drawing/2014/main" val="492019962"/>
                    </a:ext>
                  </a:extLst>
                </a:gridCol>
                <a:gridCol w="2739388">
                  <a:extLst>
                    <a:ext uri="{9D8B030D-6E8A-4147-A177-3AD203B41FA5}">
                      <a16:colId xmlns:a16="http://schemas.microsoft.com/office/drawing/2014/main" val="454529185"/>
                    </a:ext>
                  </a:extLst>
                </a:gridCol>
                <a:gridCol w="5342852">
                  <a:extLst>
                    <a:ext uri="{9D8B030D-6E8A-4147-A177-3AD203B41FA5}">
                      <a16:colId xmlns:a16="http://schemas.microsoft.com/office/drawing/2014/main" val="868408278"/>
                    </a:ext>
                  </a:extLst>
                </a:gridCol>
              </a:tblGrid>
              <a:tr h="92761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>
                          <a:effectLst/>
                        </a:rPr>
                        <a:t>age</a:t>
                      </a:r>
                    </a:p>
                  </a:txBody>
                  <a:tcPr marL="11430" marR="11430" marT="7620" marB="7620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>
                          <a:effectLst/>
                        </a:rPr>
                        <a:t>Continuous</a:t>
                      </a:r>
                    </a:p>
                  </a:txBody>
                  <a:tcPr marL="11430" marR="11430" marT="7620" marB="7620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>
                          <a:effectLst/>
                        </a:rPr>
                        <a:t>Ratio</a:t>
                      </a:r>
                    </a:p>
                  </a:txBody>
                  <a:tcPr marL="11430" marR="11430" marT="7620" marB="7620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Can take any value within a given range (e.g., 22.0, 38.0). Zero is an absolute minimum.</a:t>
                      </a:r>
                    </a:p>
                  </a:txBody>
                  <a:tcPr marL="11430" marR="11430" marT="7620" marB="7620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656868"/>
                  </a:ext>
                </a:extLst>
              </a:tr>
              <a:tr h="92761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>
                          <a:effectLst/>
                        </a:rPr>
                        <a:t>fare</a:t>
                      </a:r>
                    </a:p>
                  </a:txBody>
                  <a:tcPr marL="11430" marR="11430" marT="7620" marB="7620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>
                          <a:effectLst/>
                        </a:rPr>
                        <a:t>Continuous</a:t>
                      </a:r>
                    </a:p>
                  </a:txBody>
                  <a:tcPr marL="11430" marR="11430" marT="7620" marB="7620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>
                          <a:effectLst/>
                        </a:rPr>
                        <a:t>Ratio</a:t>
                      </a:r>
                    </a:p>
                  </a:txBody>
                  <a:tcPr marL="11430" marR="11430" marT="7620" marB="7620" anchor="ctr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dirty="0">
                          <a:effectLst/>
                        </a:rPr>
                        <a:t>Can take any value within a given range, representing cost.</a:t>
                      </a:r>
                    </a:p>
                  </a:txBody>
                  <a:tcPr marL="11430" marR="11430" marT="7620" marB="7620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64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9999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3809C-9761-6A1E-B6AA-24619AB85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2DA5451-1444-488B-4797-40CBF8E902AB}"/>
              </a:ext>
            </a:extLst>
          </p:cNvPr>
          <p:cNvSpPr txBox="1">
            <a:spLocks/>
          </p:cNvSpPr>
          <p:nvPr/>
        </p:nvSpPr>
        <p:spPr>
          <a:xfrm>
            <a:off x="2229345" y="217297"/>
            <a:ext cx="86161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Mathematical Properties of Continuous Features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66F2FF-CD1A-DBC5-F172-2609FA0715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4609399"/>
              </p:ext>
            </p:extLst>
          </p:nvPr>
        </p:nvGraphicFramePr>
        <p:xfrm>
          <a:off x="776421" y="1254033"/>
          <a:ext cx="9543235" cy="34159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CD34108-3BEA-06C8-05CF-1C5B600DF1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8767" y="4717759"/>
            <a:ext cx="5110376" cy="1385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5D9F04-B8BB-E606-B20E-26D2D2D02F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9147" y="4739531"/>
            <a:ext cx="4279472" cy="127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333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F3000-91C4-5E07-1766-DF7B28CF9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C8D1C-6E79-A326-B0D5-5054ECD9B959}"/>
              </a:ext>
            </a:extLst>
          </p:cNvPr>
          <p:cNvSpPr txBox="1">
            <a:spLocks/>
          </p:cNvSpPr>
          <p:nvPr/>
        </p:nvSpPr>
        <p:spPr>
          <a:xfrm>
            <a:off x="3091543" y="217297"/>
            <a:ext cx="78627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Python Implementation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45118E-5DEA-D69F-3576-99815B0AF6A1}"/>
              </a:ext>
            </a:extLst>
          </p:cNvPr>
          <p:cNvSpPr txBox="1"/>
          <p:nvPr/>
        </p:nvSpPr>
        <p:spPr>
          <a:xfrm>
            <a:off x="657059" y="1588618"/>
            <a:ext cx="1087788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‘titanic’ dataset in seaborn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B3DFFF8-A50E-37F7-2E23-14DCEA3ED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58" y="2381249"/>
            <a:ext cx="10975397" cy="2299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9602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F1030-9CD0-1240-3950-D8F56A05B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951A195-4346-45AB-3A24-8512E8CA2F6C}"/>
              </a:ext>
            </a:extLst>
          </p:cNvPr>
          <p:cNvSpPr txBox="1">
            <a:spLocks/>
          </p:cNvSpPr>
          <p:nvPr/>
        </p:nvSpPr>
        <p:spPr>
          <a:xfrm>
            <a:off x="2623457" y="217297"/>
            <a:ext cx="83308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Multiple Choice Questions (MCQs)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4CABE9B-0935-9A49-5B83-AB1B56B4DBC6}"/>
              </a:ext>
            </a:extLst>
          </p:cNvPr>
          <p:cNvSpPr txBox="1">
            <a:spLocks/>
          </p:cNvSpPr>
          <p:nvPr/>
        </p:nvSpPr>
        <p:spPr>
          <a:xfrm>
            <a:off x="348342" y="1368424"/>
            <a:ext cx="11615058" cy="496706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Q1: Which feature type is used to represent customer feedback: “Satisfied,” “Neutral,” “Dissatisfied”?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A) Categorical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B) Discrete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C) Continuous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D) Ordinal</a:t>
            </a:r>
          </a:p>
          <a:p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Q2: The number of books a person owns is an example of which feature type?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A) Categorical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B) Discrete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C) Continuous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D) Ordinal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88610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BD7B1-DE66-2A70-9441-A4D9EA811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CD102-CBE3-629B-0142-74A52F6CFAF2}"/>
              </a:ext>
            </a:extLst>
          </p:cNvPr>
          <p:cNvSpPr txBox="1">
            <a:spLocks/>
          </p:cNvSpPr>
          <p:nvPr/>
        </p:nvSpPr>
        <p:spPr>
          <a:xfrm>
            <a:off x="2623457" y="217297"/>
            <a:ext cx="83308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Multiple Choice Questions (MCQs)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8086E-647D-C5BA-3DDD-80C720FF8FA9}"/>
              </a:ext>
            </a:extLst>
          </p:cNvPr>
          <p:cNvSpPr txBox="1">
            <a:spLocks/>
          </p:cNvSpPr>
          <p:nvPr/>
        </p:nvSpPr>
        <p:spPr>
          <a:xfrm>
            <a:off x="348342" y="1368424"/>
            <a:ext cx="11615058" cy="496706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Q1: Which feature type is used to represent customer feedback: “Satisfied,” “Neutral,” “Dissatisfied”?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A) Categorical ✅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B) Discrete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C) Continuous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D) Ordinal</a:t>
            </a:r>
          </a:p>
          <a:p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Q2: The number of books a person owns is an example of which feature type?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A) Categorical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B) Discrete ✅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C) Continuous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D) Ordinal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88500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DF0B0-7767-AA56-DFF6-C3A4D65FD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3A2E85B-1385-C44B-BD1D-35204EB970D3}"/>
              </a:ext>
            </a:extLst>
          </p:cNvPr>
          <p:cNvSpPr txBox="1">
            <a:spLocks/>
          </p:cNvSpPr>
          <p:nvPr/>
        </p:nvSpPr>
        <p:spPr>
          <a:xfrm>
            <a:off x="2841171" y="217297"/>
            <a:ext cx="8113134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Fill in the blanks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4CB8D61-47E0-CAD5-0D96-6054B29820A7}"/>
              </a:ext>
            </a:extLst>
          </p:cNvPr>
          <p:cNvSpPr txBox="1">
            <a:spLocks/>
          </p:cNvSpPr>
          <p:nvPr/>
        </p:nvSpPr>
        <p:spPr>
          <a:xfrm>
            <a:off x="438705" y="13684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1. ______ features represent categories or groups.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2. A ______ feature can take any value within a range.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3. The count of items purchased is an example of a ______ feature.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85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926B2-E02B-7B57-2FB9-DD7FBDF14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20ABF14-55E6-560D-E9CE-6D38C4E65F93}"/>
              </a:ext>
            </a:extLst>
          </p:cNvPr>
          <p:cNvSpPr txBox="1">
            <a:spLocks/>
          </p:cNvSpPr>
          <p:nvPr/>
        </p:nvSpPr>
        <p:spPr>
          <a:xfrm>
            <a:off x="2841171" y="217297"/>
            <a:ext cx="8113134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D9212B"/>
                </a:solidFill>
                <a:effectLst/>
                <a:uLnTx/>
                <a:uFillTx/>
                <a:latin typeface="Avenir Next LT Pro" panose="020B0504020202020204" pitchFamily="34" charset="0"/>
                <a:ea typeface="+mj-ea"/>
                <a:cs typeface="Arial" pitchFamily="34" charset="0"/>
              </a:rPr>
              <a:t>Fill in the blanks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D9212B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B015A81-3D09-D9A6-3252-ED1F26E571DA}"/>
              </a:ext>
            </a:extLst>
          </p:cNvPr>
          <p:cNvSpPr txBox="1">
            <a:spLocks/>
          </p:cNvSpPr>
          <p:nvPr/>
        </p:nvSpPr>
        <p:spPr>
          <a:xfrm>
            <a:off x="438705" y="13684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1. ______ features represent categories or groups. (Answer: Categorical)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2. A ______ feature can take any value within a range. (Answer: Continuous)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3. The count of items purchased is an example of a ______ feature. (Answer: Discrete)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1576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58974-99FB-3720-754B-A84E5788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41BF9BA-6723-0FB9-52FA-08701D972DCC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9212B"/>
                </a:solidFill>
                <a:effectLst/>
                <a:uLnTx/>
                <a:uFillTx/>
                <a:latin typeface="Avenir Next LT Pro" panose="020B0504020202020204" pitchFamily="34" charset="0"/>
                <a:ea typeface="+mj-ea"/>
                <a:cs typeface="Arial" pitchFamily="34" charset="0"/>
              </a:rPr>
              <a:t>Session Summary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D9212B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BE93AF-E7B5-D045-8429-AD60E786E755}"/>
              </a:ext>
            </a:extLst>
          </p:cNvPr>
          <p:cNvSpPr txBox="1"/>
          <p:nvPr/>
        </p:nvSpPr>
        <p:spPr>
          <a:xfrm>
            <a:off x="1218460" y="2305520"/>
            <a:ext cx="6147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itchFamily="34" charset="0"/>
              </a:rPr>
              <a:t>In this session, we have discussed about: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51B0E1-DD7C-AB51-B460-EC8132B48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833" y="2705507"/>
            <a:ext cx="1125096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Define categorical, discrete, and continuous features.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Understand the differences and significance of each type.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Explore examples with real-world datasets.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 Python (Pandas, NumPy, Matplotlib, Seaborn) for data exploration.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3594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0EBE59-A62C-648E-00CB-B3A7CB23D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845829"/>
              </p:ext>
            </p:extLst>
          </p:nvPr>
        </p:nvGraphicFramePr>
        <p:xfrm>
          <a:off x="410095" y="1188822"/>
          <a:ext cx="10515600" cy="3962400"/>
        </p:xfrm>
        <a:graphic>
          <a:graphicData uri="http://schemas.openxmlformats.org/drawingml/2006/table">
            <a:tbl>
              <a:tblPr/>
              <a:tblGrid>
                <a:gridCol w="1314450">
                  <a:extLst>
                    <a:ext uri="{9D8B030D-6E8A-4147-A177-3AD203B41FA5}">
                      <a16:colId xmlns:a16="http://schemas.microsoft.com/office/drawing/2014/main" val="59168772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39801858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43944960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40251449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3475825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47847333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11482612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5285318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Order_ID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Product_Category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Review_Score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Quantity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Price_Per_Unit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Delivery_Region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Discount_Applied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Customer_Age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8754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1001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Electronics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499.99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North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True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064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1002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Clothing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45.50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South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False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22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5746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1003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Books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12.99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West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False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098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1004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Home Goods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89.00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East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True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41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611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1005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Electronics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129.99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West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False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29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535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1006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Clothing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25.00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North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True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67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174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1007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Books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8.50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South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False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60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1008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Home Goods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350.75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East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False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747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1009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Clothing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65.99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North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False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2791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1010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Electronics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199.99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West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True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45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38378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6C867A9-6901-9E65-7E12-94B746DE8858}"/>
              </a:ext>
            </a:extLst>
          </p:cNvPr>
          <p:cNvSpPr txBox="1"/>
          <p:nvPr/>
        </p:nvSpPr>
        <p:spPr>
          <a:xfrm>
            <a:off x="410095" y="819490"/>
            <a:ext cx="6253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Sample E-commerce Order Dataset</a:t>
            </a:r>
          </a:p>
        </p:txBody>
      </p:sp>
    </p:spTree>
    <p:extLst>
      <p:ext uri="{BB962C8B-B14F-4D97-AF65-F5344CB8AC3E}">
        <p14:creationId xmlns:p14="http://schemas.microsoft.com/office/powerpoint/2010/main" val="6324679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593699-E1F4-EB10-DBF5-34D20E4A7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870623"/>
              </p:ext>
            </p:extLst>
          </p:nvPr>
        </p:nvGraphicFramePr>
        <p:xfrm>
          <a:off x="527857" y="1506797"/>
          <a:ext cx="10370128" cy="4351616"/>
        </p:xfrm>
        <a:graphic>
          <a:graphicData uri="http://schemas.openxmlformats.org/drawingml/2006/table">
            <a:tbl>
              <a:tblPr/>
              <a:tblGrid>
                <a:gridCol w="2592532">
                  <a:extLst>
                    <a:ext uri="{9D8B030D-6E8A-4147-A177-3AD203B41FA5}">
                      <a16:colId xmlns:a16="http://schemas.microsoft.com/office/drawing/2014/main" val="333026678"/>
                    </a:ext>
                  </a:extLst>
                </a:gridCol>
                <a:gridCol w="2592532">
                  <a:extLst>
                    <a:ext uri="{9D8B030D-6E8A-4147-A177-3AD203B41FA5}">
                      <a16:colId xmlns:a16="http://schemas.microsoft.com/office/drawing/2014/main" val="691165278"/>
                    </a:ext>
                  </a:extLst>
                </a:gridCol>
                <a:gridCol w="2592532">
                  <a:extLst>
                    <a:ext uri="{9D8B030D-6E8A-4147-A177-3AD203B41FA5}">
                      <a16:colId xmlns:a16="http://schemas.microsoft.com/office/drawing/2014/main" val="404573736"/>
                    </a:ext>
                  </a:extLst>
                </a:gridCol>
                <a:gridCol w="2592532">
                  <a:extLst>
                    <a:ext uri="{9D8B030D-6E8A-4147-A177-3AD203B41FA5}">
                      <a16:colId xmlns:a16="http://schemas.microsoft.com/office/drawing/2014/main" val="2708762514"/>
                    </a:ext>
                  </a:extLst>
                </a:gridCol>
              </a:tblGrid>
              <a:tr h="20455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Column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 Type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Sub-Type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Reasoning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491133"/>
                  </a:ext>
                </a:extLst>
              </a:tr>
              <a:tr h="53926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Order_ID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Categorical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Nominal</a:t>
                      </a: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Unique identifier/label. No inherent order or numerical meaning.</a:t>
                      </a: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25152"/>
                  </a:ext>
                </a:extLst>
              </a:tr>
              <a:tr h="53926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Product_Category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Categorical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Nominal</a:t>
                      </a: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Distinct, unordered groups (Electronics, Clothing, etc.).</a:t>
                      </a: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764466"/>
                  </a:ext>
                </a:extLst>
              </a:tr>
              <a:tr h="53926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Review_Score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Categorical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Ordinal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Scores (1 to 5) have a meaningful, ordered ranking.</a:t>
                      </a: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151054"/>
                  </a:ext>
                </a:extLst>
              </a:tr>
              <a:tr h="37190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Quantity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Discrete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Countable, whole number of items sold.</a:t>
                      </a: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812695"/>
                  </a:ext>
                </a:extLst>
              </a:tr>
              <a:tr h="53926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Price_Per_Unit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Continuous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Can take any value within a range (includes decimals like 499.99).</a:t>
                      </a: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998967"/>
                  </a:ext>
                </a:extLst>
              </a:tr>
              <a:tr h="37190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Delivery_Region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Categorical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Nominal</a:t>
                      </a: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Distinct, unordered geographical labels.</a:t>
                      </a: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061918"/>
                  </a:ext>
                </a:extLst>
              </a:tr>
              <a:tr h="37190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Discount_Applied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Categorical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Nominal (Binary)</a:t>
                      </a: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 yes/no or True/False label.</a:t>
                      </a: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338406"/>
                  </a:ext>
                </a:extLst>
              </a:tr>
              <a:tr h="87398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Customer_Age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Discrete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Countable, whole number of years (often treated as continuous for modeling purposes, but technically a count).</a:t>
                      </a:r>
                    </a:p>
                  </a:txBody>
                  <a:tcPr marL="27893" marR="27893" marT="18595" marB="1859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7983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14986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8936A22-7526-D3F7-BBD1-84D078C6FC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195694"/>
              </p:ext>
            </p:extLst>
          </p:nvPr>
        </p:nvGraphicFramePr>
        <p:xfrm>
          <a:off x="472440" y="2564577"/>
          <a:ext cx="10515600" cy="36880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8650383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0789569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328479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016547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784649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sepal length (cm)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sepal width (cm)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petal length (cm)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petal width (cm)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species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807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5.1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3.5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0.2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setosa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07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4.9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0.2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setosa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28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4.7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3.2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1.3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0.2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setosa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698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4.6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3.1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1.5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0.2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setosa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904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3.6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0.2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setosa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695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5.4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3.9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1.7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setosa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713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4.6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0.3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setosa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0815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1.5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0.2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setosa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307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2.9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0.2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setosa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0012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4.9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3.1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1.5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0.1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setosa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848260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5F54FF5-2AF7-14A1-C702-1359C32FF327}"/>
              </a:ext>
            </a:extLst>
          </p:cNvPr>
          <p:cNvSpPr txBox="1"/>
          <p:nvPr/>
        </p:nvSpPr>
        <p:spPr>
          <a:xfrm>
            <a:off x="443345" y="2230181"/>
            <a:ext cx="6253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Iris dataset</a:t>
            </a:r>
            <a:r>
              <a:rPr lang="en-IN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C7F558-AC4B-DE4C-17F3-A6B8D51FF7FC}"/>
              </a:ext>
            </a:extLst>
          </p:cNvPr>
          <p:cNvSpPr txBox="1"/>
          <p:nvPr/>
        </p:nvSpPr>
        <p:spPr>
          <a:xfrm>
            <a:off x="275360" y="1016662"/>
            <a:ext cx="112710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Iris dataset contains </a:t>
            </a:r>
            <a:r>
              <a:rPr lang="en-US" b="1" dirty="0"/>
              <a:t>150 observations</a:t>
            </a:r>
            <a:r>
              <a:rPr lang="en-US" dirty="0"/>
              <a:t> (rows) of Iris flowers, with </a:t>
            </a:r>
            <a:r>
              <a:rPr lang="en-US" b="1" dirty="0"/>
              <a:t>three species</a:t>
            </a:r>
            <a:r>
              <a:rPr lang="en-US" dirty="0"/>
              <a:t> observed. For each flower, it records four features related to the physical dimensions of its petals and sepals, plus the species itself.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7614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E251978-026D-EA28-95E7-9C1610C304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964049"/>
              </p:ext>
            </p:extLst>
          </p:nvPr>
        </p:nvGraphicFramePr>
        <p:xfrm>
          <a:off x="935529" y="1351800"/>
          <a:ext cx="10851920" cy="4351336"/>
        </p:xfrm>
        <a:graphic>
          <a:graphicData uri="http://schemas.openxmlformats.org/drawingml/2006/table">
            <a:tbl>
              <a:tblPr/>
              <a:tblGrid>
                <a:gridCol w="2170384">
                  <a:extLst>
                    <a:ext uri="{9D8B030D-6E8A-4147-A177-3AD203B41FA5}">
                      <a16:colId xmlns:a16="http://schemas.microsoft.com/office/drawing/2014/main" val="1472724377"/>
                    </a:ext>
                  </a:extLst>
                </a:gridCol>
                <a:gridCol w="2170384">
                  <a:extLst>
                    <a:ext uri="{9D8B030D-6E8A-4147-A177-3AD203B41FA5}">
                      <a16:colId xmlns:a16="http://schemas.microsoft.com/office/drawing/2014/main" val="3067025532"/>
                    </a:ext>
                  </a:extLst>
                </a:gridCol>
                <a:gridCol w="2170384">
                  <a:extLst>
                    <a:ext uri="{9D8B030D-6E8A-4147-A177-3AD203B41FA5}">
                      <a16:colId xmlns:a16="http://schemas.microsoft.com/office/drawing/2014/main" val="1496661944"/>
                    </a:ext>
                  </a:extLst>
                </a:gridCol>
                <a:gridCol w="2170384">
                  <a:extLst>
                    <a:ext uri="{9D8B030D-6E8A-4147-A177-3AD203B41FA5}">
                      <a16:colId xmlns:a16="http://schemas.microsoft.com/office/drawing/2014/main" val="3243193961"/>
                    </a:ext>
                  </a:extLst>
                </a:gridCol>
                <a:gridCol w="2170384">
                  <a:extLst>
                    <a:ext uri="{9D8B030D-6E8A-4147-A177-3AD203B41FA5}">
                      <a16:colId xmlns:a16="http://schemas.microsoft.com/office/drawing/2014/main" val="2375242067"/>
                    </a:ext>
                  </a:extLst>
                </a:gridCol>
              </a:tblGrid>
              <a:tr h="24929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Column</a:t>
                      </a:r>
                      <a:endParaRPr lang="en-IN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Example Values</a:t>
                      </a:r>
                      <a:endParaRPr lang="en-IN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 Type</a:t>
                      </a:r>
                      <a:endParaRPr lang="en-IN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Sub-Type</a:t>
                      </a:r>
                      <a:endParaRPr lang="en-IN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Reasoning</a:t>
                      </a:r>
                      <a:endParaRPr lang="en-IN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301907"/>
                  </a:ext>
                </a:extLst>
              </a:tr>
              <a:tr h="86120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sepal_length</a:t>
                      </a:r>
                      <a:endParaRPr lang="en-IN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5.1, 4.9, 7.0</a:t>
                      </a: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Continuous</a:t>
                      </a:r>
                      <a:endParaRPr lang="en-IN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Can take any value within a range; measured physical dimension.</a:t>
                      </a: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641486"/>
                  </a:ext>
                </a:extLst>
              </a:tr>
              <a:tr h="86120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sepal_width</a:t>
                      </a:r>
                      <a:endParaRPr lang="en-IN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3.5, 3.0, 3.2</a:t>
                      </a: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Continuous</a:t>
                      </a:r>
                      <a:endParaRPr lang="en-IN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Can take any value within a range; measured physical dimension.</a:t>
                      </a: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261163"/>
                  </a:ext>
                </a:extLst>
              </a:tr>
              <a:tr h="86120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petal_length</a:t>
                      </a:r>
                      <a:endParaRPr lang="en-IN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1.4, 1.4, 5.1</a:t>
                      </a: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Continuous</a:t>
                      </a:r>
                      <a:endParaRPr lang="en-IN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Can take any value within a range; measured physical dimension.</a:t>
                      </a: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91749"/>
                  </a:ext>
                </a:extLst>
              </a:tr>
              <a:tr h="86120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petal_width</a:t>
                      </a:r>
                      <a:endParaRPr lang="en-IN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0.2, 0.2, 1.8</a:t>
                      </a: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Continuous</a:t>
                      </a:r>
                      <a:endParaRPr lang="en-IN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Can take any value within a range; measured physical dimension.</a:t>
                      </a: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420691"/>
                  </a:ext>
                </a:extLst>
              </a:tr>
              <a:tr h="65723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species</a:t>
                      </a:r>
                      <a:endParaRPr lang="en-IN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Setosa, Versicolor, Virginica</a:t>
                      </a: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Categorical</a:t>
                      </a:r>
                      <a:endParaRPr lang="en-IN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Nominal</a:t>
                      </a: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Represents distinct, unordered groups of flowers.</a:t>
                      </a:r>
                    </a:p>
                  </a:txBody>
                  <a:tcPr marL="33995" marR="33995" marT="22663" marB="22663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281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8050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59C4AAB-1777-0F52-B3AF-56E0225EA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831070"/>
              </p:ext>
            </p:extLst>
          </p:nvPr>
        </p:nvGraphicFramePr>
        <p:xfrm>
          <a:off x="54032" y="1310640"/>
          <a:ext cx="12137964" cy="4236720"/>
        </p:xfrm>
        <a:graphic>
          <a:graphicData uri="http://schemas.openxmlformats.org/drawingml/2006/table">
            <a:tbl>
              <a:tblPr/>
              <a:tblGrid>
                <a:gridCol w="1011497">
                  <a:extLst>
                    <a:ext uri="{9D8B030D-6E8A-4147-A177-3AD203B41FA5}">
                      <a16:colId xmlns:a16="http://schemas.microsoft.com/office/drawing/2014/main" val="3866473143"/>
                    </a:ext>
                  </a:extLst>
                </a:gridCol>
                <a:gridCol w="1011497">
                  <a:extLst>
                    <a:ext uri="{9D8B030D-6E8A-4147-A177-3AD203B41FA5}">
                      <a16:colId xmlns:a16="http://schemas.microsoft.com/office/drawing/2014/main" val="528105486"/>
                    </a:ext>
                  </a:extLst>
                </a:gridCol>
                <a:gridCol w="1011497">
                  <a:extLst>
                    <a:ext uri="{9D8B030D-6E8A-4147-A177-3AD203B41FA5}">
                      <a16:colId xmlns:a16="http://schemas.microsoft.com/office/drawing/2014/main" val="2392633770"/>
                    </a:ext>
                  </a:extLst>
                </a:gridCol>
                <a:gridCol w="1011497">
                  <a:extLst>
                    <a:ext uri="{9D8B030D-6E8A-4147-A177-3AD203B41FA5}">
                      <a16:colId xmlns:a16="http://schemas.microsoft.com/office/drawing/2014/main" val="1931256936"/>
                    </a:ext>
                  </a:extLst>
                </a:gridCol>
                <a:gridCol w="1011497">
                  <a:extLst>
                    <a:ext uri="{9D8B030D-6E8A-4147-A177-3AD203B41FA5}">
                      <a16:colId xmlns:a16="http://schemas.microsoft.com/office/drawing/2014/main" val="2966348973"/>
                    </a:ext>
                  </a:extLst>
                </a:gridCol>
                <a:gridCol w="1011497">
                  <a:extLst>
                    <a:ext uri="{9D8B030D-6E8A-4147-A177-3AD203B41FA5}">
                      <a16:colId xmlns:a16="http://schemas.microsoft.com/office/drawing/2014/main" val="3090293533"/>
                    </a:ext>
                  </a:extLst>
                </a:gridCol>
                <a:gridCol w="1011497">
                  <a:extLst>
                    <a:ext uri="{9D8B030D-6E8A-4147-A177-3AD203B41FA5}">
                      <a16:colId xmlns:a16="http://schemas.microsoft.com/office/drawing/2014/main" val="1510499128"/>
                    </a:ext>
                  </a:extLst>
                </a:gridCol>
                <a:gridCol w="1011497">
                  <a:extLst>
                    <a:ext uri="{9D8B030D-6E8A-4147-A177-3AD203B41FA5}">
                      <a16:colId xmlns:a16="http://schemas.microsoft.com/office/drawing/2014/main" val="1378116438"/>
                    </a:ext>
                  </a:extLst>
                </a:gridCol>
                <a:gridCol w="1011497">
                  <a:extLst>
                    <a:ext uri="{9D8B030D-6E8A-4147-A177-3AD203B41FA5}">
                      <a16:colId xmlns:a16="http://schemas.microsoft.com/office/drawing/2014/main" val="4291166791"/>
                    </a:ext>
                  </a:extLst>
                </a:gridCol>
                <a:gridCol w="1011497">
                  <a:extLst>
                    <a:ext uri="{9D8B030D-6E8A-4147-A177-3AD203B41FA5}">
                      <a16:colId xmlns:a16="http://schemas.microsoft.com/office/drawing/2014/main" val="4014299474"/>
                    </a:ext>
                  </a:extLst>
                </a:gridCol>
                <a:gridCol w="1011497">
                  <a:extLst>
                    <a:ext uri="{9D8B030D-6E8A-4147-A177-3AD203B41FA5}">
                      <a16:colId xmlns:a16="http://schemas.microsoft.com/office/drawing/2014/main" val="3457307979"/>
                    </a:ext>
                  </a:extLst>
                </a:gridCol>
                <a:gridCol w="1011497">
                  <a:extLst>
                    <a:ext uri="{9D8B030D-6E8A-4147-A177-3AD203B41FA5}">
                      <a16:colId xmlns:a16="http://schemas.microsoft.com/office/drawing/2014/main" val="10036715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fixed_acidity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volatile_acidity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citric_acid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residual_sugar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chlorides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free_sulfur_dioxide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total_sulfur_dioxide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density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sulphates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alcohol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quality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866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7.4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0.70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1.9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0.076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11.0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34.0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0.9978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3.51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0.56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9.4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729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7.8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2.6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0.098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25.0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67.0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0.9968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3.20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0.68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9.8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7.8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0.76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2.3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0.092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15.0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54.0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0.9970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3.26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0.65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9.8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518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11.2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0.28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0.56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1.9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0.075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17.0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60.0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0.9980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3.16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0.58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9.8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282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7.4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0.70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1.9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0.076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11.0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34.0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0.9978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3.51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0.56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9.4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191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7.4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0.66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0.075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40.0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0.9978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3.51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0.56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9.4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4841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7.9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0.60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0.06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1.6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0.069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15.0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59.0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0.9964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3.30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0.46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9.4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11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7.3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0.65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1.2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0.065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15.0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0.9946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3.39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0.47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9364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7.8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0.58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0.02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0.073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18.0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0.9968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3.36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0.57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9.5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334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7.5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0.50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0.36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6.1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0.071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17.0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102.0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0.9978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3.35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10.5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93030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58993C0-2D03-0CEE-B5D5-E0C427C02767}"/>
              </a:ext>
            </a:extLst>
          </p:cNvPr>
          <p:cNvSpPr txBox="1"/>
          <p:nvPr/>
        </p:nvSpPr>
        <p:spPr>
          <a:xfrm>
            <a:off x="0" y="862737"/>
            <a:ext cx="6253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Wine Quality Data</a:t>
            </a:r>
          </a:p>
        </p:txBody>
      </p:sp>
    </p:spTree>
    <p:extLst>
      <p:ext uri="{BB962C8B-B14F-4D97-AF65-F5344CB8AC3E}">
        <p14:creationId xmlns:p14="http://schemas.microsoft.com/office/powerpoint/2010/main" val="34580317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F9CA7DF-7189-F2EE-2D8A-FE26EFBD2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686285"/>
              </p:ext>
            </p:extLst>
          </p:nvPr>
        </p:nvGraphicFramePr>
        <p:xfrm>
          <a:off x="117072" y="668625"/>
          <a:ext cx="11957856" cy="5627118"/>
        </p:xfrm>
        <a:graphic>
          <a:graphicData uri="http://schemas.openxmlformats.org/drawingml/2006/table">
            <a:tbl>
              <a:tblPr/>
              <a:tblGrid>
                <a:gridCol w="1944484">
                  <a:extLst>
                    <a:ext uri="{9D8B030D-6E8A-4147-A177-3AD203B41FA5}">
                      <a16:colId xmlns:a16="http://schemas.microsoft.com/office/drawing/2014/main" val="3930001342"/>
                    </a:ext>
                  </a:extLst>
                </a:gridCol>
                <a:gridCol w="1542011">
                  <a:extLst>
                    <a:ext uri="{9D8B030D-6E8A-4147-A177-3AD203B41FA5}">
                      <a16:colId xmlns:a16="http://schemas.microsoft.com/office/drawing/2014/main" val="3317563035"/>
                    </a:ext>
                  </a:extLst>
                </a:gridCol>
                <a:gridCol w="1184564">
                  <a:extLst>
                    <a:ext uri="{9D8B030D-6E8A-4147-A177-3AD203B41FA5}">
                      <a16:colId xmlns:a16="http://schemas.microsoft.com/office/drawing/2014/main" val="3935697443"/>
                    </a:ext>
                  </a:extLst>
                </a:gridCol>
                <a:gridCol w="7286797">
                  <a:extLst>
                    <a:ext uri="{9D8B030D-6E8A-4147-A177-3AD203B41FA5}">
                      <a16:colId xmlns:a16="http://schemas.microsoft.com/office/drawing/2014/main" val="2311933399"/>
                    </a:ext>
                  </a:extLst>
                </a:gridCol>
              </a:tblGrid>
              <a:tr h="21714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Column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 Type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Sub-Type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Reasoning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675181"/>
                  </a:ext>
                </a:extLst>
              </a:tr>
              <a:tr h="41396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fixed_acidity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Continuous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Represents concentration (g/dm³). It can take any value within a range.</a:t>
                      </a: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756103"/>
                  </a:ext>
                </a:extLst>
              </a:tr>
              <a:tr h="41396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volatile_acidity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Continuous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Represents concentration (g/dm³). It can take any value within a range.</a:t>
                      </a: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998396"/>
                  </a:ext>
                </a:extLst>
              </a:tr>
              <a:tr h="41396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citric_acid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Continuous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Represents concentration (g/dm³). It can take any value within a range.</a:t>
                      </a: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045244"/>
                  </a:ext>
                </a:extLst>
              </a:tr>
              <a:tr h="41396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residual_sugar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Continuous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Represents concentration (g/dm³). It can take any value within a range.</a:t>
                      </a: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7132724"/>
                  </a:ext>
                </a:extLst>
              </a:tr>
              <a:tr h="41396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chlorides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Continuous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Represents concentration (g/dm³). It can take any value within a range.</a:t>
                      </a: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529715"/>
                  </a:ext>
                </a:extLst>
              </a:tr>
              <a:tr h="41396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free_sulfur_dioxide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Continuous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Represents concentration (mg/dm³). It can take any value within a range.</a:t>
                      </a: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024067"/>
                  </a:ext>
                </a:extLst>
              </a:tr>
              <a:tr h="41396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total_sulfur_dioxide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Continuous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Represents concentration (mg/dm³). It can take any value within a range.</a:t>
                      </a: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835826"/>
                  </a:ext>
                </a:extLst>
              </a:tr>
              <a:tr h="41396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density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Continuous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Represents mass per volume (g/cm³). It can take any value within a range.</a:t>
                      </a: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554799"/>
                  </a:ext>
                </a:extLst>
              </a:tr>
              <a:tr h="41396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Continuous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Interval</a:t>
                      </a: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 measure of acidity/basicity. Zero is arbitrary (it doesn't mean zero acidity).</a:t>
                      </a: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3266250"/>
                  </a:ext>
                </a:extLst>
              </a:tr>
              <a:tr h="41396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sulphates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Continuous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Represents concentration (g/dm³). It can take any value within a range.</a:t>
                      </a: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856660"/>
                  </a:ext>
                </a:extLst>
              </a:tr>
              <a:tr h="61078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alcohol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Continuous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Represents percentage of alcohol by volume. It can take any value within a range.</a:t>
                      </a: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101628"/>
                  </a:ext>
                </a:extLst>
              </a:tr>
              <a:tr h="61078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quality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Categorical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Ordinal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Represents a score (typically 0-10) where higher values indicate better quality, establishing a meaningful order.</a:t>
                      </a:r>
                    </a:p>
                  </a:txBody>
                  <a:tcPr marL="16524" marR="16524" marT="11016" marB="11016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746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0574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0A0F5F-DDB5-0A03-EA99-F3CAA036E6D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20094"/>
          <a:ext cx="10515600" cy="39624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185476290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73838096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998544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58567141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48781839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8488679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radius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texture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perimeter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area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smoothness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diagnosis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8680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17.99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10.38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122.80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1001.0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0.11840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malignant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691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20.57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17.77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132.90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1326.0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0.08474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malignant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5368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19.69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21.25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130.00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1203.0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0.10960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malignant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72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11.42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20.38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77.58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386.1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0.14250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malignant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093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20.29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14.34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135.10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1297.0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0.10030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malignant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584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12.45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15.70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82.57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477.1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0.12780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malignant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809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18.25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19.98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119.60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1040.0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0.09463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malignant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932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13.71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20.83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90.20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577.9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0.11890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malignant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97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13.00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21.82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87.50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519.8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0.12730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malignant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95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12.46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24.04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83.97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475.9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0.11860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malignant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35072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CFFC0DB-A217-201E-6FBB-10EFB58D59BC}"/>
              </a:ext>
            </a:extLst>
          </p:cNvPr>
          <p:cNvSpPr txBox="1"/>
          <p:nvPr/>
        </p:nvSpPr>
        <p:spPr>
          <a:xfrm>
            <a:off x="1011036" y="1332406"/>
            <a:ext cx="6253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Breast Cancer Diagnosis Data</a:t>
            </a:r>
          </a:p>
        </p:txBody>
      </p:sp>
    </p:spTree>
    <p:extLst>
      <p:ext uri="{BB962C8B-B14F-4D97-AF65-F5344CB8AC3E}">
        <p14:creationId xmlns:p14="http://schemas.microsoft.com/office/powerpoint/2010/main" val="9055349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6F54D8B-F3AF-23BF-745F-5C4C8266E5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261911"/>
              </p:ext>
            </p:extLst>
          </p:nvPr>
        </p:nvGraphicFramePr>
        <p:xfrm>
          <a:off x="694806" y="1123290"/>
          <a:ext cx="10802388" cy="4433112"/>
        </p:xfrm>
        <a:graphic>
          <a:graphicData uri="http://schemas.openxmlformats.org/drawingml/2006/table">
            <a:tbl>
              <a:tblPr/>
              <a:tblGrid>
                <a:gridCol w="2700597">
                  <a:extLst>
                    <a:ext uri="{9D8B030D-6E8A-4147-A177-3AD203B41FA5}">
                      <a16:colId xmlns:a16="http://schemas.microsoft.com/office/drawing/2014/main" val="4248684830"/>
                    </a:ext>
                  </a:extLst>
                </a:gridCol>
                <a:gridCol w="2700597">
                  <a:extLst>
                    <a:ext uri="{9D8B030D-6E8A-4147-A177-3AD203B41FA5}">
                      <a16:colId xmlns:a16="http://schemas.microsoft.com/office/drawing/2014/main" val="3458538683"/>
                    </a:ext>
                  </a:extLst>
                </a:gridCol>
                <a:gridCol w="2700597">
                  <a:extLst>
                    <a:ext uri="{9D8B030D-6E8A-4147-A177-3AD203B41FA5}">
                      <a16:colId xmlns:a16="http://schemas.microsoft.com/office/drawing/2014/main" val="3402332332"/>
                    </a:ext>
                  </a:extLst>
                </a:gridCol>
                <a:gridCol w="2700597">
                  <a:extLst>
                    <a:ext uri="{9D8B030D-6E8A-4147-A177-3AD203B41FA5}">
                      <a16:colId xmlns:a16="http://schemas.microsoft.com/office/drawing/2014/main" val="265727350"/>
                    </a:ext>
                  </a:extLst>
                </a:gridCol>
              </a:tblGrid>
              <a:tr h="23578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Column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 Type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Sub-Type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Reasoning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431722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radius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Continuous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Physical measurement of the cell nucleus, can take any value within a range.</a:t>
                      </a: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951677"/>
                  </a:ext>
                </a:extLst>
              </a:tr>
              <a:tr h="81453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texture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Continuous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Physical measurement (standard deviation of gray-scale values), can take any value within a range.</a:t>
                      </a: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244927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perimeter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Continuous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Physical measurement, can take any value within a range.</a:t>
                      </a: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887441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area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Continuous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Physical measurement, can take any value within a range.</a:t>
                      </a: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207512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smoothness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Continuous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Local variation in radius lengths, a continuous measurement.</a:t>
                      </a: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904849"/>
                  </a:ext>
                </a:extLst>
              </a:tr>
              <a:tr h="81453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diagnosis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Categorical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Nominal (Binary)</a:t>
                      </a: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Represents two distinct, unordered groups: malignant (cancerous) or benign (non-cancerous).</a:t>
                      </a:r>
                    </a:p>
                  </a:txBody>
                  <a:tcPr marL="32153" marR="32153" marT="21435" marB="21435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078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46941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005A4E7-F02E-C093-DE1A-182114693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342109"/>
              </p:ext>
            </p:extLst>
          </p:nvPr>
        </p:nvGraphicFramePr>
        <p:xfrm>
          <a:off x="472440" y="1184665"/>
          <a:ext cx="10515600" cy="3962400"/>
        </p:xfrm>
        <a:graphic>
          <a:graphicData uri="http://schemas.openxmlformats.org/drawingml/2006/table">
            <a:tbl>
              <a:tblPr/>
              <a:tblGrid>
                <a:gridCol w="1314450">
                  <a:extLst>
                    <a:ext uri="{9D8B030D-6E8A-4147-A177-3AD203B41FA5}">
                      <a16:colId xmlns:a16="http://schemas.microsoft.com/office/drawing/2014/main" val="298103056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3075267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53659394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25813503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7542294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2074066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715697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9552414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Player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Innings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Runs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Balls Faced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Strike Rate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Hundreds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Dismissal Type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Batting Hand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445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 Kohli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107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4008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2905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137.90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Caught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Right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531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 Sharma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140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3853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2772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138.60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Bowled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Right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61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 Azam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3698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2800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132.07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Caught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Right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1766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 Rizwan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85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3135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2400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130.63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Run Out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Right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882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 Buttler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2720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1850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147.03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LBW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Right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39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 Warner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99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2894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2000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144.70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Caught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Left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207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 Gayle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79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1899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1220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155.65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Stumped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Left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765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 Williamson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87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2464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2050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120.19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Caught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Right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032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 Narine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92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1100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700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157.14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Caught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Left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212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 du Plessis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1675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1250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134.00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Bowled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Right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816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0BA7A3B-8B9C-1262-467C-FF3B7A08090E}"/>
              </a:ext>
            </a:extLst>
          </p:cNvPr>
          <p:cNvSpPr txBox="1"/>
          <p:nvPr/>
        </p:nvSpPr>
        <p:spPr>
          <a:xfrm>
            <a:off x="508116" y="815333"/>
            <a:ext cx="6253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T20 Batting Performance Data</a:t>
            </a:r>
          </a:p>
        </p:txBody>
      </p:sp>
    </p:spTree>
    <p:extLst>
      <p:ext uri="{BB962C8B-B14F-4D97-AF65-F5344CB8AC3E}">
        <p14:creationId xmlns:p14="http://schemas.microsoft.com/office/powerpoint/2010/main" val="30137886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EC0BBDB-AC3E-79CF-0B1B-D4B5151C3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300688"/>
              </p:ext>
            </p:extLst>
          </p:nvPr>
        </p:nvGraphicFramePr>
        <p:xfrm>
          <a:off x="166387" y="1247890"/>
          <a:ext cx="11198496" cy="4562121"/>
        </p:xfrm>
        <a:graphic>
          <a:graphicData uri="http://schemas.openxmlformats.org/drawingml/2006/table">
            <a:tbl>
              <a:tblPr/>
              <a:tblGrid>
                <a:gridCol w="2799624">
                  <a:extLst>
                    <a:ext uri="{9D8B030D-6E8A-4147-A177-3AD203B41FA5}">
                      <a16:colId xmlns:a16="http://schemas.microsoft.com/office/drawing/2014/main" val="2053372225"/>
                    </a:ext>
                  </a:extLst>
                </a:gridCol>
                <a:gridCol w="2799624">
                  <a:extLst>
                    <a:ext uri="{9D8B030D-6E8A-4147-A177-3AD203B41FA5}">
                      <a16:colId xmlns:a16="http://schemas.microsoft.com/office/drawing/2014/main" val="1639076218"/>
                    </a:ext>
                  </a:extLst>
                </a:gridCol>
                <a:gridCol w="2799624">
                  <a:extLst>
                    <a:ext uri="{9D8B030D-6E8A-4147-A177-3AD203B41FA5}">
                      <a16:colId xmlns:a16="http://schemas.microsoft.com/office/drawing/2014/main" val="3688042976"/>
                    </a:ext>
                  </a:extLst>
                </a:gridCol>
                <a:gridCol w="2799624">
                  <a:extLst>
                    <a:ext uri="{9D8B030D-6E8A-4147-A177-3AD203B41FA5}">
                      <a16:colId xmlns:a16="http://schemas.microsoft.com/office/drawing/2014/main" val="1586268863"/>
                    </a:ext>
                  </a:extLst>
                </a:gridCol>
              </a:tblGrid>
              <a:tr h="18993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Column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 Type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Sub-Type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Reasoning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21011"/>
                  </a:ext>
                </a:extLst>
              </a:tr>
              <a:tr h="34534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Player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Categorical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Nominal</a:t>
                      </a: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 unique name/label used to group statistics.</a:t>
                      </a: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078350"/>
                  </a:ext>
                </a:extLst>
              </a:tr>
              <a:tr h="50074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Innings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Discrete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 count of matches batted. Must be a whole number, and 0 is a true zero.</a:t>
                      </a: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776628"/>
                  </a:ext>
                </a:extLst>
              </a:tr>
              <a:tr h="50074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Runs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Discrete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 count of runs scored. Must be a whole number, and 0 is a true zero.</a:t>
                      </a: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3481"/>
                  </a:ext>
                </a:extLst>
              </a:tr>
              <a:tr h="50074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Balls Faced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Discrete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 count of balls faced. Must be a whole number, and 0 is a true zero.</a:t>
                      </a: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03698"/>
                  </a:ext>
                </a:extLst>
              </a:tr>
              <a:tr h="6561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Strike Rate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Continuous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Calculated as $(Runs / Balls Faced) \times 100$. Can take any value within a range (includes decimals).</a:t>
                      </a: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4233354"/>
                  </a:ext>
                </a:extLst>
              </a:tr>
              <a:tr h="50074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Hundreds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Discrete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 count of innings scoring 100 or more. Must be a whole number.</a:t>
                      </a: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1565050"/>
                  </a:ext>
                </a:extLst>
              </a:tr>
              <a:tr h="6561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Dismissal Type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Categorical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Nominal</a:t>
                      </a: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Represents distinct, unordered groups (e.g., Caught, Bowled, LBW, Run Out).</a:t>
                      </a: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845252"/>
                  </a:ext>
                </a:extLst>
              </a:tr>
              <a:tr h="50074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Batting Hand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Categorical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Nominal (Binary)</a:t>
                      </a: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Represents two distinct, unordered groups (Right, Left).</a:t>
                      </a:r>
                    </a:p>
                  </a:txBody>
                  <a:tcPr marL="25901" marR="25901" marT="17267" marB="17267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697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7567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4B29F5-A279-44AD-63C1-B2083D431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278777"/>
              </p:ext>
            </p:extLst>
          </p:nvPr>
        </p:nvGraphicFramePr>
        <p:xfrm>
          <a:off x="577734" y="810492"/>
          <a:ext cx="11222180" cy="5577080"/>
        </p:xfrm>
        <a:graphic>
          <a:graphicData uri="http://schemas.openxmlformats.org/drawingml/2006/table">
            <a:tbl>
              <a:tblPr/>
              <a:tblGrid>
                <a:gridCol w="1400695">
                  <a:extLst>
                    <a:ext uri="{9D8B030D-6E8A-4147-A177-3AD203B41FA5}">
                      <a16:colId xmlns:a16="http://schemas.microsoft.com/office/drawing/2014/main" val="2072614189"/>
                    </a:ext>
                  </a:extLst>
                </a:gridCol>
                <a:gridCol w="1916084">
                  <a:extLst>
                    <a:ext uri="{9D8B030D-6E8A-4147-A177-3AD203B41FA5}">
                      <a16:colId xmlns:a16="http://schemas.microsoft.com/office/drawing/2014/main" val="4280160971"/>
                    </a:ext>
                  </a:extLst>
                </a:gridCol>
                <a:gridCol w="3233651">
                  <a:extLst>
                    <a:ext uri="{9D8B030D-6E8A-4147-A177-3AD203B41FA5}">
                      <a16:colId xmlns:a16="http://schemas.microsoft.com/office/drawing/2014/main" val="2846529282"/>
                    </a:ext>
                  </a:extLst>
                </a:gridCol>
                <a:gridCol w="2427314">
                  <a:extLst>
                    <a:ext uri="{9D8B030D-6E8A-4147-A177-3AD203B41FA5}">
                      <a16:colId xmlns:a16="http://schemas.microsoft.com/office/drawing/2014/main" val="915581917"/>
                    </a:ext>
                  </a:extLst>
                </a:gridCol>
                <a:gridCol w="2244436">
                  <a:extLst>
                    <a:ext uri="{9D8B030D-6E8A-4147-A177-3AD203B41FA5}">
                      <a16:colId xmlns:a16="http://schemas.microsoft.com/office/drawing/2014/main" val="2808577385"/>
                    </a:ext>
                  </a:extLst>
                </a:gridCol>
              </a:tblGrid>
              <a:tr h="3015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 Type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Sub-Type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Definition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Example (Dataset)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Formula (If Applicable)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938282"/>
                  </a:ext>
                </a:extLst>
              </a:tr>
              <a:tr h="84442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 Categorical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Nominal</a:t>
                      </a: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(or Binary)</a:t>
                      </a: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Represents labels, names, or distinct, </a:t>
                      </a: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unordered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groups. Numbers used are only for labeling (e.g., 0=no, 1=yes).</a:t>
                      </a: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sex</a:t>
                      </a: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(male/female), </a:t>
                      </a:r>
                      <a:r>
                        <a:rPr lang="en-IN" sz="14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diagnosis</a:t>
                      </a: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(malignant/benign), </a:t>
                      </a:r>
                      <a:r>
                        <a:rPr lang="en-IN" sz="14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Dismissal Type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N/A (Based on grouping/labeling)</a:t>
                      </a: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182356"/>
                  </a:ext>
                </a:extLst>
              </a:tr>
              <a:tr h="980133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Ordinal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Represents categories that have a </a:t>
                      </a: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meaningful order or rank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 The interval between ranks is not necessarily equal or measurable.</a:t>
                      </a: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pclass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(1st, 2nd, 3rd), </a:t>
                      </a:r>
                      <a:r>
                        <a:rPr lang="en-US" sz="14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Review_Score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(1 to 5), </a:t>
                      </a:r>
                      <a:r>
                        <a:rPr lang="en-US" sz="14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Quality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(0-10 score)</a:t>
                      </a: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N/A (Based on rank/order)</a:t>
                      </a: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807228"/>
                  </a:ext>
                </a:extLst>
              </a:tr>
              <a:tr h="165869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979294"/>
                  </a:ext>
                </a:extLst>
              </a:tr>
              <a:tr h="111584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2. Discrete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(Count)</a:t>
                      </a: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that are </a:t>
                      </a: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countable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and must be </a:t>
                      </a: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whole numbers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 The range of possible values is fixed (no values between integers). Zero is a true zero.</a:t>
                      </a: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Innings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4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Runs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4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sibsp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(siblings/spouses count)</a:t>
                      </a: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N/A (Simple count of events)</a:t>
                      </a: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082345"/>
                  </a:ext>
                </a:extLst>
              </a:tr>
              <a:tr h="165869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158960"/>
                  </a:ext>
                </a:extLst>
              </a:tr>
              <a:tr h="98013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 Continuous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that can take </a:t>
                      </a: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any value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within a given range (decimals allowed). Zero means the complete absence of the property.</a:t>
                      </a: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sepal_length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4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fare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4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alcohol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4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mean radius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Example: </a:t>
                      </a: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Strike Rate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$= \frac{\text{Runs}}{\text{Balls Faced}} \times 100$</a:t>
                      </a: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2587449"/>
                  </a:ext>
                </a:extLst>
              </a:tr>
              <a:tr h="708712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Interval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that can take 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any value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within a given range, but 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zero is arbitrary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(it does not mean "nothing").</a:t>
                      </a: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pH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(A measure of acidity, not a count or true zero amount), Temperature (Celsius/Fahrenheit).</a:t>
                      </a: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N/A (Based on an established scale without a true zero point)</a:t>
                      </a:r>
                    </a:p>
                  </a:txBody>
                  <a:tcPr marL="18702" marR="18702" marT="12468" marB="12468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73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08605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59546-DE86-A91D-D6C0-4DC694BE7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FE865F2-B3CB-A157-5545-C09B44282D58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Reference Links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C8C176-D24E-C86B-ACBC-07DDEB6A5C84}"/>
              </a:ext>
            </a:extLst>
          </p:cNvPr>
          <p:cNvSpPr txBox="1"/>
          <p:nvPr/>
        </p:nvSpPr>
        <p:spPr>
          <a:xfrm>
            <a:off x="1099087" y="1147954"/>
            <a:ext cx="999382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hlinkClick r:id="rId2"/>
              </a:rPr>
              <a:t>Python notebook</a:t>
            </a: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hlinkClick r:id="rId3"/>
              </a:rPr>
              <a:t>How to Create Stunning Data Visualizations in Python: Top 10 Techniques to Learn</a:t>
            </a: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hlinkClick r:id="rId4"/>
              </a:rPr>
              <a:t>Mastering Credit Risk Analysis: A Step-by-Step Guide to Descriptive Statistics in Python</a:t>
            </a:r>
            <a:endParaRPr lang="en-US" sz="2400" dirty="0"/>
          </a:p>
          <a:p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hlinkClick r:id="rId5"/>
              </a:rPr>
              <a:t>How Much Statistics Do You Really Need for Data Science?</a:t>
            </a: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hlinkClick r:id="rId6"/>
              </a:rPr>
              <a:t>Phases of data science and analytics.</a:t>
            </a: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05717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2729</Words>
  <Application>Microsoft Office PowerPoint</Application>
  <PresentationFormat>Widescreen</PresentationFormat>
  <Paragraphs>818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Aptos</vt:lpstr>
      <vt:lpstr>Aptos Display</vt:lpstr>
      <vt:lpstr>Arial</vt:lpstr>
      <vt:lpstr>Avenir Next LT Pro</vt:lpstr>
      <vt:lpstr>Calibri</vt:lpstr>
      <vt:lpstr>Google Sans Text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idol</dc:creator>
  <cp:lastModifiedBy>Mohamed Ali</cp:lastModifiedBy>
  <cp:revision>52</cp:revision>
  <dcterms:created xsi:type="dcterms:W3CDTF">2025-07-09T10:39:06Z</dcterms:created>
  <dcterms:modified xsi:type="dcterms:W3CDTF">2026-10-28T11:15:38Z</dcterms:modified>
</cp:coreProperties>
</file>