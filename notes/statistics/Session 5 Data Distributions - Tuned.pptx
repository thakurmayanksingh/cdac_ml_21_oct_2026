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58" r:id="rId4"/>
    <p:sldId id="302" r:id="rId5"/>
    <p:sldId id="290" r:id="rId6"/>
    <p:sldId id="271" r:id="rId7"/>
    <p:sldId id="282" r:id="rId8"/>
    <p:sldId id="298" r:id="rId9"/>
    <p:sldId id="303" r:id="rId10"/>
    <p:sldId id="304" r:id="rId11"/>
    <p:sldId id="305" r:id="rId12"/>
    <p:sldId id="285" r:id="rId13"/>
    <p:sldId id="286" r:id="rId14"/>
    <p:sldId id="300" r:id="rId15"/>
    <p:sldId id="301" r:id="rId16"/>
    <p:sldId id="306" r:id="rId17"/>
    <p:sldId id="299" r:id="rId18"/>
    <p:sldId id="281" r:id="rId19"/>
    <p:sldId id="307" r:id="rId20"/>
    <p:sldId id="308" r:id="rId21"/>
    <p:sldId id="309" r:id="rId22"/>
    <p:sldId id="288" r:id="rId23"/>
    <p:sldId id="291" r:id="rId24"/>
    <p:sldId id="293" r:id="rId25"/>
    <p:sldId id="311" r:id="rId26"/>
    <p:sldId id="310" r:id="rId27"/>
    <p:sldId id="312" r:id="rId28"/>
    <p:sldId id="313" r:id="rId29"/>
    <p:sldId id="314" r:id="rId30"/>
    <p:sldId id="315" r:id="rId31"/>
    <p:sldId id="316" r:id="rId32"/>
    <p:sldId id="317" r:id="rId33"/>
    <p:sldId id="294" r:id="rId34"/>
    <p:sldId id="297" r:id="rId35"/>
    <p:sldId id="296" r:id="rId36"/>
    <p:sldId id="29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pos="75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420" y="36"/>
      </p:cViewPr>
      <p:guideLst>
        <p:guide orient="horz" pos="2160"/>
        <p:guide pos="3840"/>
        <p:guide pos="166"/>
        <p:guide pos="7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3FB1B7-2F93-49C1-8DF0-8B46AC53705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F66216D-F047-48B1-9F87-40DEC5C1F36A}">
      <dgm:prSet/>
      <dgm:spPr>
        <a:xfrm>
          <a:off x="0" y="44099"/>
          <a:ext cx="11234056" cy="1152029"/>
        </a:xfrm>
        <a:prstGeom prst="round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A data distribution describes how values in a dataset are spread.</a:t>
          </a:r>
        </a:p>
      </dgm:t>
    </dgm:pt>
    <dgm:pt modelId="{0634BAA2-290A-416A-B89F-326FF92EA0FA}" type="parTrans" cxnId="{FA2DC48C-02F7-48AB-82FF-B06128F71E06}">
      <dgm:prSet/>
      <dgm:spPr/>
      <dgm:t>
        <a:bodyPr/>
        <a:lstStyle/>
        <a:p>
          <a:endParaRPr lang="en-US"/>
        </a:p>
      </dgm:t>
    </dgm:pt>
    <dgm:pt modelId="{AA5B4922-B5A8-4D71-9365-BF02FE9837E1}" type="sibTrans" cxnId="{FA2DC48C-02F7-48AB-82FF-B06128F71E06}">
      <dgm:prSet/>
      <dgm:spPr/>
      <dgm:t>
        <a:bodyPr/>
        <a:lstStyle/>
        <a:p>
          <a:endParaRPr lang="en-US"/>
        </a:p>
      </dgm:t>
    </dgm:pt>
    <dgm:pt modelId="{23086D5A-8445-4E85-9DE5-6586D6ED0E56}">
      <dgm:prSet/>
      <dgm:spPr>
        <a:xfrm>
          <a:off x="0" y="1279648"/>
          <a:ext cx="11234056" cy="1152029"/>
        </a:xfrm>
        <a:prstGeom prst="roundRect">
          <a:avLst/>
        </a:prstGeom>
        <a:solidFill>
          <a:srgbClr val="ED7D31">
            <a:hueOff val="-485121"/>
            <a:satOff val="-27976"/>
            <a:lumOff val="2876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Types of distributions: Symmetric vs. Skewed</a:t>
          </a:r>
        </a:p>
      </dgm:t>
    </dgm:pt>
    <dgm:pt modelId="{98701274-9693-495E-AA09-589A0F18430C}" type="parTrans" cxnId="{7BBFFC15-CCC5-40EB-9DF6-46A8DC039E0F}">
      <dgm:prSet/>
      <dgm:spPr/>
      <dgm:t>
        <a:bodyPr/>
        <a:lstStyle/>
        <a:p>
          <a:endParaRPr lang="en-US"/>
        </a:p>
      </dgm:t>
    </dgm:pt>
    <dgm:pt modelId="{4FBB4B1F-31AB-4C99-9C5A-EEB524A23D6C}" type="sibTrans" cxnId="{7BBFFC15-CCC5-40EB-9DF6-46A8DC039E0F}">
      <dgm:prSet/>
      <dgm:spPr/>
      <dgm:t>
        <a:bodyPr/>
        <a:lstStyle/>
        <a:p>
          <a:endParaRPr lang="en-US"/>
        </a:p>
      </dgm:t>
    </dgm:pt>
    <dgm:pt modelId="{3F865082-0FD4-43C6-AFCF-081A7A2C785F}">
      <dgm:prSet/>
      <dgm:spPr>
        <a:xfrm>
          <a:off x="0" y="2515198"/>
          <a:ext cx="11234056" cy="1152029"/>
        </a:xfrm>
        <a:prstGeom prst="roundRect">
          <a:avLst/>
        </a:prstGeom>
        <a:solidFill>
          <a:srgbClr val="ED7D31">
            <a:hueOff val="-970242"/>
            <a:satOff val="-55952"/>
            <a:lumOff val="5752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Examples: Normal, Uniform, Binomial, Poisson</a:t>
          </a:r>
        </a:p>
      </dgm:t>
    </dgm:pt>
    <dgm:pt modelId="{8A958AE9-1DB2-437C-BF4E-D63FD0E8E5FD}" type="parTrans" cxnId="{FB30CA87-906A-4395-B757-113E95602F1C}">
      <dgm:prSet/>
      <dgm:spPr/>
      <dgm:t>
        <a:bodyPr/>
        <a:lstStyle/>
        <a:p>
          <a:endParaRPr lang="en-US"/>
        </a:p>
      </dgm:t>
    </dgm:pt>
    <dgm:pt modelId="{E429D7C7-F066-499E-9F4C-B46A0DA246F7}" type="sibTrans" cxnId="{FB30CA87-906A-4395-B757-113E95602F1C}">
      <dgm:prSet/>
      <dgm:spPr/>
      <dgm:t>
        <a:bodyPr/>
        <a:lstStyle/>
        <a:p>
          <a:endParaRPr lang="en-US"/>
        </a:p>
      </dgm:t>
    </dgm:pt>
    <dgm:pt modelId="{941D8636-07FB-4873-9DC7-D00ADAF9C3CC}">
      <dgm:prSet/>
      <dgm:spPr>
        <a:xfrm>
          <a:off x="0" y="3750748"/>
          <a:ext cx="11234056" cy="1152029"/>
        </a:xfrm>
        <a:prstGeom prst="roundRect">
          <a:avLst/>
        </a:prstGeom>
        <a:solidFill>
          <a:srgbClr val="ED7D31">
            <a:hueOff val="-1455363"/>
            <a:satOff val="-83928"/>
            <a:lumOff val="8628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Helps in: Statistical modeling, Machine learning, Data-driven decision-making</a:t>
          </a:r>
        </a:p>
      </dgm:t>
    </dgm:pt>
    <dgm:pt modelId="{C3C15B75-2D7D-4626-8876-CC4FD578666B}" type="parTrans" cxnId="{4A7AA965-5A2E-44D6-8029-DBA2CE6322A8}">
      <dgm:prSet/>
      <dgm:spPr/>
      <dgm:t>
        <a:bodyPr/>
        <a:lstStyle/>
        <a:p>
          <a:endParaRPr lang="en-US"/>
        </a:p>
      </dgm:t>
    </dgm:pt>
    <dgm:pt modelId="{2A4E4A00-6ED7-413D-9062-750524C6EE4D}" type="sibTrans" cxnId="{4A7AA965-5A2E-44D6-8029-DBA2CE6322A8}">
      <dgm:prSet/>
      <dgm:spPr/>
      <dgm:t>
        <a:bodyPr/>
        <a:lstStyle/>
        <a:p>
          <a:endParaRPr lang="en-US"/>
        </a:p>
      </dgm:t>
    </dgm:pt>
    <dgm:pt modelId="{B8F35978-CC94-4D6C-A21C-46B3F4DD9104}" type="pres">
      <dgm:prSet presAssocID="{E93FB1B7-2F93-49C1-8DF0-8B46AC53705F}" presName="linear" presStyleCnt="0">
        <dgm:presLayoutVars>
          <dgm:animLvl val="lvl"/>
          <dgm:resizeHandles val="exact"/>
        </dgm:presLayoutVars>
      </dgm:prSet>
      <dgm:spPr/>
    </dgm:pt>
    <dgm:pt modelId="{3F3B46DD-E6EA-42D2-A4CA-B55305083963}" type="pres">
      <dgm:prSet presAssocID="{3F66216D-F047-48B1-9F87-40DEC5C1F36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FA75FB0-42A8-42AE-BC74-74C9F3F4E096}" type="pres">
      <dgm:prSet presAssocID="{AA5B4922-B5A8-4D71-9365-BF02FE9837E1}" presName="spacer" presStyleCnt="0"/>
      <dgm:spPr/>
    </dgm:pt>
    <dgm:pt modelId="{040BC871-8930-44D0-A99F-4622B629F4AA}" type="pres">
      <dgm:prSet presAssocID="{23086D5A-8445-4E85-9DE5-6586D6ED0E5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D5E2871-19DC-48AD-AA84-0B7A6B190CB4}" type="pres">
      <dgm:prSet presAssocID="{4FBB4B1F-31AB-4C99-9C5A-EEB524A23D6C}" presName="spacer" presStyleCnt="0"/>
      <dgm:spPr/>
    </dgm:pt>
    <dgm:pt modelId="{5F236C65-8E53-493F-B754-D43D48E5CFC5}" type="pres">
      <dgm:prSet presAssocID="{3F865082-0FD4-43C6-AFCF-081A7A2C785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70141C7-81BF-40B5-BE5C-57583F7E4615}" type="pres">
      <dgm:prSet presAssocID="{E429D7C7-F066-499E-9F4C-B46A0DA246F7}" presName="spacer" presStyleCnt="0"/>
      <dgm:spPr/>
    </dgm:pt>
    <dgm:pt modelId="{85F995B5-DDDA-49EE-B12E-727B8321541F}" type="pres">
      <dgm:prSet presAssocID="{941D8636-07FB-4873-9DC7-D00ADAF9C3C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91A1D03-8AE4-4275-AEB0-8388D81AF2BE}" type="presOf" srcId="{E93FB1B7-2F93-49C1-8DF0-8B46AC53705F}" destId="{B8F35978-CC94-4D6C-A21C-46B3F4DD9104}" srcOrd="0" destOrd="0" presId="urn:microsoft.com/office/officeart/2005/8/layout/vList2"/>
    <dgm:cxn modelId="{7BBFFC15-CCC5-40EB-9DF6-46A8DC039E0F}" srcId="{E93FB1B7-2F93-49C1-8DF0-8B46AC53705F}" destId="{23086D5A-8445-4E85-9DE5-6586D6ED0E56}" srcOrd="1" destOrd="0" parTransId="{98701274-9693-495E-AA09-589A0F18430C}" sibTransId="{4FBB4B1F-31AB-4C99-9C5A-EEB524A23D6C}"/>
    <dgm:cxn modelId="{21D6A016-328F-4998-BEB4-DFFEAE294B25}" type="presOf" srcId="{3F66216D-F047-48B1-9F87-40DEC5C1F36A}" destId="{3F3B46DD-E6EA-42D2-A4CA-B55305083963}" srcOrd="0" destOrd="0" presId="urn:microsoft.com/office/officeart/2005/8/layout/vList2"/>
    <dgm:cxn modelId="{4A7AA965-5A2E-44D6-8029-DBA2CE6322A8}" srcId="{E93FB1B7-2F93-49C1-8DF0-8B46AC53705F}" destId="{941D8636-07FB-4873-9DC7-D00ADAF9C3CC}" srcOrd="3" destOrd="0" parTransId="{C3C15B75-2D7D-4626-8876-CC4FD578666B}" sibTransId="{2A4E4A00-6ED7-413D-9062-750524C6EE4D}"/>
    <dgm:cxn modelId="{406EC074-7148-40DE-A48F-8C1767E30B79}" type="presOf" srcId="{23086D5A-8445-4E85-9DE5-6586D6ED0E56}" destId="{040BC871-8930-44D0-A99F-4622B629F4AA}" srcOrd="0" destOrd="0" presId="urn:microsoft.com/office/officeart/2005/8/layout/vList2"/>
    <dgm:cxn modelId="{CD094487-3BE1-49C0-8057-102A32C45EDE}" type="presOf" srcId="{3F865082-0FD4-43C6-AFCF-081A7A2C785F}" destId="{5F236C65-8E53-493F-B754-D43D48E5CFC5}" srcOrd="0" destOrd="0" presId="urn:microsoft.com/office/officeart/2005/8/layout/vList2"/>
    <dgm:cxn modelId="{FB30CA87-906A-4395-B757-113E95602F1C}" srcId="{E93FB1B7-2F93-49C1-8DF0-8B46AC53705F}" destId="{3F865082-0FD4-43C6-AFCF-081A7A2C785F}" srcOrd="2" destOrd="0" parTransId="{8A958AE9-1DB2-437C-BF4E-D63FD0E8E5FD}" sibTransId="{E429D7C7-F066-499E-9F4C-B46A0DA246F7}"/>
    <dgm:cxn modelId="{FA2DC48C-02F7-48AB-82FF-B06128F71E06}" srcId="{E93FB1B7-2F93-49C1-8DF0-8B46AC53705F}" destId="{3F66216D-F047-48B1-9F87-40DEC5C1F36A}" srcOrd="0" destOrd="0" parTransId="{0634BAA2-290A-416A-B89F-326FF92EA0FA}" sibTransId="{AA5B4922-B5A8-4D71-9365-BF02FE9837E1}"/>
    <dgm:cxn modelId="{E43BBABF-41F3-43B1-83F8-FD558C79F9FE}" type="presOf" srcId="{941D8636-07FB-4873-9DC7-D00ADAF9C3CC}" destId="{85F995B5-DDDA-49EE-B12E-727B8321541F}" srcOrd="0" destOrd="0" presId="urn:microsoft.com/office/officeart/2005/8/layout/vList2"/>
    <dgm:cxn modelId="{5123BBE2-7954-42A9-AC89-C1B5E97E1E2D}" type="presParOf" srcId="{B8F35978-CC94-4D6C-A21C-46B3F4DD9104}" destId="{3F3B46DD-E6EA-42D2-A4CA-B55305083963}" srcOrd="0" destOrd="0" presId="urn:microsoft.com/office/officeart/2005/8/layout/vList2"/>
    <dgm:cxn modelId="{539AFE0F-C4B1-4BCE-BDB8-D2EFCA3C8C2F}" type="presParOf" srcId="{B8F35978-CC94-4D6C-A21C-46B3F4DD9104}" destId="{7FA75FB0-42A8-42AE-BC74-74C9F3F4E096}" srcOrd="1" destOrd="0" presId="urn:microsoft.com/office/officeart/2005/8/layout/vList2"/>
    <dgm:cxn modelId="{567A9767-03F8-4D63-B6F9-F6A4C4B84F9F}" type="presParOf" srcId="{B8F35978-CC94-4D6C-A21C-46B3F4DD9104}" destId="{040BC871-8930-44D0-A99F-4622B629F4AA}" srcOrd="2" destOrd="0" presId="urn:microsoft.com/office/officeart/2005/8/layout/vList2"/>
    <dgm:cxn modelId="{052373A8-A706-46C6-AE5E-4162BDF8F9C0}" type="presParOf" srcId="{B8F35978-CC94-4D6C-A21C-46B3F4DD9104}" destId="{FD5E2871-19DC-48AD-AA84-0B7A6B190CB4}" srcOrd="3" destOrd="0" presId="urn:microsoft.com/office/officeart/2005/8/layout/vList2"/>
    <dgm:cxn modelId="{EE0AC0A8-DAAC-42CC-AD88-609CC5AF3792}" type="presParOf" srcId="{B8F35978-CC94-4D6C-A21C-46B3F4DD9104}" destId="{5F236C65-8E53-493F-B754-D43D48E5CFC5}" srcOrd="4" destOrd="0" presId="urn:microsoft.com/office/officeart/2005/8/layout/vList2"/>
    <dgm:cxn modelId="{C7A7A50E-EDDE-4DD9-9335-0D2F3C0B48BE}" type="presParOf" srcId="{B8F35978-CC94-4D6C-A21C-46B3F4DD9104}" destId="{570141C7-81BF-40B5-BE5C-57583F7E4615}" srcOrd="5" destOrd="0" presId="urn:microsoft.com/office/officeart/2005/8/layout/vList2"/>
    <dgm:cxn modelId="{2B64DE1A-A1B8-43DD-B660-D1ED46F22418}" type="presParOf" srcId="{B8F35978-CC94-4D6C-A21C-46B3F4DD9104}" destId="{85F995B5-DDDA-49EE-B12E-727B8321541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86E40B-FE37-408C-A295-04E6EEA9E08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49BB0E9-90A8-4DDA-815A-75B41EBB7A0B}">
      <dgm:prSet custT="1"/>
      <dgm:spPr/>
      <dgm:t>
        <a:bodyPr/>
        <a:lstStyle/>
        <a:p>
          <a:pPr>
            <a:defRPr cap="all"/>
          </a:pPr>
          <a:r>
            <a:rPr lang="en-US" sz="1800" b="1" dirty="0"/>
            <a:t>Finance: </a:t>
          </a:r>
          <a:r>
            <a:rPr lang="en-US" sz="1800" dirty="0"/>
            <a:t>Stock returns follow a normal/log-normal distribution</a:t>
          </a:r>
        </a:p>
      </dgm:t>
    </dgm:pt>
    <dgm:pt modelId="{6176101C-A3B6-4066-AC89-282EE040055F}" type="parTrans" cxnId="{E749E516-D6F9-4ED9-A949-43ABAAE8F789}">
      <dgm:prSet/>
      <dgm:spPr/>
      <dgm:t>
        <a:bodyPr/>
        <a:lstStyle/>
        <a:p>
          <a:endParaRPr lang="en-US" sz="2800"/>
        </a:p>
      </dgm:t>
    </dgm:pt>
    <dgm:pt modelId="{A5E16DDD-9D41-45DF-B89B-70B5E6AE489F}" type="sibTrans" cxnId="{E749E516-D6F9-4ED9-A949-43ABAAE8F789}">
      <dgm:prSet/>
      <dgm:spPr/>
      <dgm:t>
        <a:bodyPr/>
        <a:lstStyle/>
        <a:p>
          <a:endParaRPr lang="en-US" sz="2800"/>
        </a:p>
      </dgm:t>
    </dgm:pt>
    <dgm:pt modelId="{D751AC83-2871-44C2-BDF2-DB7C9BBC22A8}">
      <dgm:prSet custT="1"/>
      <dgm:spPr/>
      <dgm:t>
        <a:bodyPr/>
        <a:lstStyle/>
        <a:p>
          <a:pPr>
            <a:defRPr cap="all"/>
          </a:pPr>
          <a:r>
            <a:rPr lang="en-US" sz="1800" b="1" dirty="0"/>
            <a:t>Healthcare: </a:t>
          </a:r>
          <a:r>
            <a:rPr lang="en-US" sz="1800" dirty="0"/>
            <a:t>Disease spread follows a Poisson distribution</a:t>
          </a:r>
        </a:p>
      </dgm:t>
    </dgm:pt>
    <dgm:pt modelId="{868FDDAD-1E83-4B71-9E89-49631082F8AD}" type="parTrans" cxnId="{5D6EA001-87C2-4FA5-B014-0E825520918A}">
      <dgm:prSet/>
      <dgm:spPr/>
      <dgm:t>
        <a:bodyPr/>
        <a:lstStyle/>
        <a:p>
          <a:endParaRPr lang="en-US" sz="2800"/>
        </a:p>
      </dgm:t>
    </dgm:pt>
    <dgm:pt modelId="{25EC4544-5FD3-4485-AA72-3973F87986B3}" type="sibTrans" cxnId="{5D6EA001-87C2-4FA5-B014-0E825520918A}">
      <dgm:prSet/>
      <dgm:spPr/>
      <dgm:t>
        <a:bodyPr/>
        <a:lstStyle/>
        <a:p>
          <a:endParaRPr lang="en-US" sz="2800"/>
        </a:p>
      </dgm:t>
    </dgm:pt>
    <dgm:pt modelId="{225C37CE-6002-429F-9CDB-B8F366E74AC7}">
      <dgm:prSet custT="1"/>
      <dgm:spPr/>
      <dgm:t>
        <a:bodyPr/>
        <a:lstStyle/>
        <a:p>
          <a:pPr>
            <a:defRPr cap="all"/>
          </a:pPr>
          <a:r>
            <a:rPr lang="en-US" sz="1800" b="1" dirty="0"/>
            <a:t>Retail: </a:t>
          </a:r>
          <a:r>
            <a:rPr lang="en-US" sz="1800" dirty="0"/>
            <a:t>Customer arrivals follow an exponential distribution</a:t>
          </a:r>
        </a:p>
      </dgm:t>
    </dgm:pt>
    <dgm:pt modelId="{4AB4FA36-4991-459D-BDF9-0BBF9069C30D}" type="parTrans" cxnId="{56A22A3A-B697-454D-977A-3B3199825526}">
      <dgm:prSet/>
      <dgm:spPr/>
      <dgm:t>
        <a:bodyPr/>
        <a:lstStyle/>
        <a:p>
          <a:endParaRPr lang="en-US" sz="2800"/>
        </a:p>
      </dgm:t>
    </dgm:pt>
    <dgm:pt modelId="{4E24CC64-2B23-4FB2-BB9B-23D0D5E2C6D9}" type="sibTrans" cxnId="{56A22A3A-B697-454D-977A-3B3199825526}">
      <dgm:prSet/>
      <dgm:spPr/>
      <dgm:t>
        <a:bodyPr/>
        <a:lstStyle/>
        <a:p>
          <a:endParaRPr lang="en-US" sz="2800"/>
        </a:p>
      </dgm:t>
    </dgm:pt>
    <dgm:pt modelId="{22B55853-E0B8-44A8-8544-FC73EA8F0A04}">
      <dgm:prSet custT="1"/>
      <dgm:spPr/>
      <dgm:t>
        <a:bodyPr/>
        <a:lstStyle/>
        <a:p>
          <a:pPr>
            <a:defRPr cap="all"/>
          </a:pPr>
          <a:r>
            <a:rPr lang="en-US" sz="1800" b="1" dirty="0"/>
            <a:t>Manufacturing: </a:t>
          </a:r>
          <a:r>
            <a:rPr lang="en-US" sz="1800" dirty="0"/>
            <a:t>Quality control uses a binomial distribution</a:t>
          </a:r>
        </a:p>
      </dgm:t>
    </dgm:pt>
    <dgm:pt modelId="{3409519B-F7C1-453D-A51C-4CB9C79A419A}" type="parTrans" cxnId="{C052B0B8-D979-4F19-9AE2-2C00824F614C}">
      <dgm:prSet/>
      <dgm:spPr/>
      <dgm:t>
        <a:bodyPr/>
        <a:lstStyle/>
        <a:p>
          <a:endParaRPr lang="en-US" sz="2800"/>
        </a:p>
      </dgm:t>
    </dgm:pt>
    <dgm:pt modelId="{7F2D4EE0-7E33-4BE8-91C3-CF45D4C2AE14}" type="sibTrans" cxnId="{C052B0B8-D979-4F19-9AE2-2C00824F614C}">
      <dgm:prSet/>
      <dgm:spPr/>
      <dgm:t>
        <a:bodyPr/>
        <a:lstStyle/>
        <a:p>
          <a:endParaRPr lang="en-US" sz="2800"/>
        </a:p>
      </dgm:t>
    </dgm:pt>
    <dgm:pt modelId="{5959F187-39C3-46C7-BB81-F8A46D812636}" type="pres">
      <dgm:prSet presAssocID="{5C86E40B-FE37-408C-A295-04E6EEA9E082}" presName="root" presStyleCnt="0">
        <dgm:presLayoutVars>
          <dgm:dir/>
          <dgm:resizeHandles val="exact"/>
        </dgm:presLayoutVars>
      </dgm:prSet>
      <dgm:spPr/>
    </dgm:pt>
    <dgm:pt modelId="{DF937C4B-CB14-41E7-B436-1C10B365BEC8}" type="pres">
      <dgm:prSet presAssocID="{B49BB0E9-90A8-4DDA-815A-75B41EBB7A0B}" presName="compNode" presStyleCnt="0"/>
      <dgm:spPr/>
    </dgm:pt>
    <dgm:pt modelId="{804C91AB-75ED-4870-852E-5B085D6AFA3C}" type="pres">
      <dgm:prSet presAssocID="{B49BB0E9-90A8-4DDA-815A-75B41EBB7A0B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E71F63B-0787-48E8-80EC-BEE3291BA1B2}" type="pres">
      <dgm:prSet presAssocID="{B49BB0E9-90A8-4DDA-815A-75B41EBB7A0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02D90A4C-547E-4FA7-AC84-0949434BEEF5}" type="pres">
      <dgm:prSet presAssocID="{B49BB0E9-90A8-4DDA-815A-75B41EBB7A0B}" presName="spaceRect" presStyleCnt="0"/>
      <dgm:spPr/>
    </dgm:pt>
    <dgm:pt modelId="{A47460EB-BA51-49BA-ADEB-C1A6EF18B07B}" type="pres">
      <dgm:prSet presAssocID="{B49BB0E9-90A8-4DDA-815A-75B41EBB7A0B}" presName="textRect" presStyleLbl="revTx" presStyleIdx="0" presStyleCnt="4">
        <dgm:presLayoutVars>
          <dgm:chMax val="1"/>
          <dgm:chPref val="1"/>
        </dgm:presLayoutVars>
      </dgm:prSet>
      <dgm:spPr/>
    </dgm:pt>
    <dgm:pt modelId="{531127E9-E735-4013-818B-4294D03C41B4}" type="pres">
      <dgm:prSet presAssocID="{A5E16DDD-9D41-45DF-B89B-70B5E6AE489F}" presName="sibTrans" presStyleCnt="0"/>
      <dgm:spPr/>
    </dgm:pt>
    <dgm:pt modelId="{35027A47-86F7-47A1-9BB4-142416B1C66A}" type="pres">
      <dgm:prSet presAssocID="{D751AC83-2871-44C2-BDF2-DB7C9BBC22A8}" presName="compNode" presStyleCnt="0"/>
      <dgm:spPr/>
    </dgm:pt>
    <dgm:pt modelId="{F009BD14-E95F-4DD1-8F29-806974B4C20E}" type="pres">
      <dgm:prSet presAssocID="{D751AC83-2871-44C2-BDF2-DB7C9BBC22A8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07C22C9-AB9E-4BBA-B2F0-3BF9FF1FDAAB}" type="pres">
      <dgm:prSet presAssocID="{D751AC83-2871-44C2-BDF2-DB7C9BBC22A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24C8E3AC-2D5C-4391-9905-BE71BF420F25}" type="pres">
      <dgm:prSet presAssocID="{D751AC83-2871-44C2-BDF2-DB7C9BBC22A8}" presName="spaceRect" presStyleCnt="0"/>
      <dgm:spPr/>
    </dgm:pt>
    <dgm:pt modelId="{CCDE3CEE-ABDE-497B-A728-D20A94DBEE5B}" type="pres">
      <dgm:prSet presAssocID="{D751AC83-2871-44C2-BDF2-DB7C9BBC22A8}" presName="textRect" presStyleLbl="revTx" presStyleIdx="1" presStyleCnt="4">
        <dgm:presLayoutVars>
          <dgm:chMax val="1"/>
          <dgm:chPref val="1"/>
        </dgm:presLayoutVars>
      </dgm:prSet>
      <dgm:spPr/>
    </dgm:pt>
    <dgm:pt modelId="{B5ED2868-0FFB-4911-8704-35606C353197}" type="pres">
      <dgm:prSet presAssocID="{25EC4544-5FD3-4485-AA72-3973F87986B3}" presName="sibTrans" presStyleCnt="0"/>
      <dgm:spPr/>
    </dgm:pt>
    <dgm:pt modelId="{1DBC6323-15B6-4A8B-AFAF-AE960036A435}" type="pres">
      <dgm:prSet presAssocID="{225C37CE-6002-429F-9CDB-B8F366E74AC7}" presName="compNode" presStyleCnt="0"/>
      <dgm:spPr/>
    </dgm:pt>
    <dgm:pt modelId="{00AE454E-DD2C-4B96-9E56-7CF216B10353}" type="pres">
      <dgm:prSet presAssocID="{225C37CE-6002-429F-9CDB-B8F366E74AC7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8405CFA-B087-4C4B-9705-1703A876102B}" type="pres">
      <dgm:prSet presAssocID="{225C37CE-6002-429F-9CDB-B8F366E74AC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8D3150BF-C935-4A94-A855-4CDCCE26DA9F}" type="pres">
      <dgm:prSet presAssocID="{225C37CE-6002-429F-9CDB-B8F366E74AC7}" presName="spaceRect" presStyleCnt="0"/>
      <dgm:spPr/>
    </dgm:pt>
    <dgm:pt modelId="{5703B1CF-D534-4A6F-BD2A-42497B133DD0}" type="pres">
      <dgm:prSet presAssocID="{225C37CE-6002-429F-9CDB-B8F366E74AC7}" presName="textRect" presStyleLbl="revTx" presStyleIdx="2" presStyleCnt="4">
        <dgm:presLayoutVars>
          <dgm:chMax val="1"/>
          <dgm:chPref val="1"/>
        </dgm:presLayoutVars>
      </dgm:prSet>
      <dgm:spPr/>
    </dgm:pt>
    <dgm:pt modelId="{DB1A99C5-A2D1-477D-8B71-462BE7EC9940}" type="pres">
      <dgm:prSet presAssocID="{4E24CC64-2B23-4FB2-BB9B-23D0D5E2C6D9}" presName="sibTrans" presStyleCnt="0"/>
      <dgm:spPr/>
    </dgm:pt>
    <dgm:pt modelId="{331005BD-E390-47C0-B7E1-06E796E7258C}" type="pres">
      <dgm:prSet presAssocID="{22B55853-E0B8-44A8-8544-FC73EA8F0A04}" presName="compNode" presStyleCnt="0"/>
      <dgm:spPr/>
    </dgm:pt>
    <dgm:pt modelId="{79DAB10E-7EAB-41C8-95D6-2D821199B104}" type="pres">
      <dgm:prSet presAssocID="{22B55853-E0B8-44A8-8544-FC73EA8F0A04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133C026-1183-44B3-9828-3EB9C2842415}" type="pres">
      <dgm:prSet presAssocID="{22B55853-E0B8-44A8-8544-FC73EA8F0A0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CD8B1409-9641-473E-8F16-63AA2E6A3776}" type="pres">
      <dgm:prSet presAssocID="{22B55853-E0B8-44A8-8544-FC73EA8F0A04}" presName="spaceRect" presStyleCnt="0"/>
      <dgm:spPr/>
    </dgm:pt>
    <dgm:pt modelId="{4B4F3434-EFF3-4025-8323-C294D4B2B40A}" type="pres">
      <dgm:prSet presAssocID="{22B55853-E0B8-44A8-8544-FC73EA8F0A0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D6EA001-87C2-4FA5-B014-0E825520918A}" srcId="{5C86E40B-FE37-408C-A295-04E6EEA9E082}" destId="{D751AC83-2871-44C2-BDF2-DB7C9BBC22A8}" srcOrd="1" destOrd="0" parTransId="{868FDDAD-1E83-4B71-9E89-49631082F8AD}" sibTransId="{25EC4544-5FD3-4485-AA72-3973F87986B3}"/>
    <dgm:cxn modelId="{E749E516-D6F9-4ED9-A949-43ABAAE8F789}" srcId="{5C86E40B-FE37-408C-A295-04E6EEA9E082}" destId="{B49BB0E9-90A8-4DDA-815A-75B41EBB7A0B}" srcOrd="0" destOrd="0" parTransId="{6176101C-A3B6-4066-AC89-282EE040055F}" sibTransId="{A5E16DDD-9D41-45DF-B89B-70B5E6AE489F}"/>
    <dgm:cxn modelId="{08452737-8968-450A-8001-F73B09DE264F}" type="presOf" srcId="{225C37CE-6002-429F-9CDB-B8F366E74AC7}" destId="{5703B1CF-D534-4A6F-BD2A-42497B133DD0}" srcOrd="0" destOrd="0" presId="urn:microsoft.com/office/officeart/2018/5/layout/IconLeafLabelList"/>
    <dgm:cxn modelId="{56A22A3A-B697-454D-977A-3B3199825526}" srcId="{5C86E40B-FE37-408C-A295-04E6EEA9E082}" destId="{225C37CE-6002-429F-9CDB-B8F366E74AC7}" srcOrd="2" destOrd="0" parTransId="{4AB4FA36-4991-459D-BDF9-0BBF9069C30D}" sibTransId="{4E24CC64-2B23-4FB2-BB9B-23D0D5E2C6D9}"/>
    <dgm:cxn modelId="{1A1CD643-5074-4236-8159-C1E3F583241E}" type="presOf" srcId="{22B55853-E0B8-44A8-8544-FC73EA8F0A04}" destId="{4B4F3434-EFF3-4025-8323-C294D4B2B40A}" srcOrd="0" destOrd="0" presId="urn:microsoft.com/office/officeart/2018/5/layout/IconLeafLabelList"/>
    <dgm:cxn modelId="{E2E6149C-071D-4DE2-A5C4-C3B11E381E9B}" type="presOf" srcId="{5C86E40B-FE37-408C-A295-04E6EEA9E082}" destId="{5959F187-39C3-46C7-BB81-F8A46D812636}" srcOrd="0" destOrd="0" presId="urn:microsoft.com/office/officeart/2018/5/layout/IconLeafLabelList"/>
    <dgm:cxn modelId="{0057A3AE-E35D-4610-BAEE-F9B2275AF087}" type="presOf" srcId="{B49BB0E9-90A8-4DDA-815A-75B41EBB7A0B}" destId="{A47460EB-BA51-49BA-ADEB-C1A6EF18B07B}" srcOrd="0" destOrd="0" presId="urn:microsoft.com/office/officeart/2018/5/layout/IconLeafLabelList"/>
    <dgm:cxn modelId="{5EB422B6-16F3-4097-971C-B95374D8114D}" type="presOf" srcId="{D751AC83-2871-44C2-BDF2-DB7C9BBC22A8}" destId="{CCDE3CEE-ABDE-497B-A728-D20A94DBEE5B}" srcOrd="0" destOrd="0" presId="urn:microsoft.com/office/officeart/2018/5/layout/IconLeafLabelList"/>
    <dgm:cxn modelId="{C052B0B8-D979-4F19-9AE2-2C00824F614C}" srcId="{5C86E40B-FE37-408C-A295-04E6EEA9E082}" destId="{22B55853-E0B8-44A8-8544-FC73EA8F0A04}" srcOrd="3" destOrd="0" parTransId="{3409519B-F7C1-453D-A51C-4CB9C79A419A}" sibTransId="{7F2D4EE0-7E33-4BE8-91C3-CF45D4C2AE14}"/>
    <dgm:cxn modelId="{8C037A11-3EE5-43FD-8234-90121D67137A}" type="presParOf" srcId="{5959F187-39C3-46C7-BB81-F8A46D812636}" destId="{DF937C4B-CB14-41E7-B436-1C10B365BEC8}" srcOrd="0" destOrd="0" presId="urn:microsoft.com/office/officeart/2018/5/layout/IconLeafLabelList"/>
    <dgm:cxn modelId="{4F58A107-C383-413C-9F02-928CF83C0C7E}" type="presParOf" srcId="{DF937C4B-CB14-41E7-B436-1C10B365BEC8}" destId="{804C91AB-75ED-4870-852E-5B085D6AFA3C}" srcOrd="0" destOrd="0" presId="urn:microsoft.com/office/officeart/2018/5/layout/IconLeafLabelList"/>
    <dgm:cxn modelId="{6B9A0989-81CD-4821-972C-A8923F7588C7}" type="presParOf" srcId="{DF937C4B-CB14-41E7-B436-1C10B365BEC8}" destId="{AE71F63B-0787-48E8-80EC-BEE3291BA1B2}" srcOrd="1" destOrd="0" presId="urn:microsoft.com/office/officeart/2018/5/layout/IconLeafLabelList"/>
    <dgm:cxn modelId="{5EDC5ADD-4AFE-42AD-A0BE-0E9339FFE79D}" type="presParOf" srcId="{DF937C4B-CB14-41E7-B436-1C10B365BEC8}" destId="{02D90A4C-547E-4FA7-AC84-0949434BEEF5}" srcOrd="2" destOrd="0" presId="urn:microsoft.com/office/officeart/2018/5/layout/IconLeafLabelList"/>
    <dgm:cxn modelId="{3CAAD70E-C17F-4F36-B997-AAA764F2557E}" type="presParOf" srcId="{DF937C4B-CB14-41E7-B436-1C10B365BEC8}" destId="{A47460EB-BA51-49BA-ADEB-C1A6EF18B07B}" srcOrd="3" destOrd="0" presId="urn:microsoft.com/office/officeart/2018/5/layout/IconLeafLabelList"/>
    <dgm:cxn modelId="{405DB1EC-8228-471B-9D5A-408FB7772E26}" type="presParOf" srcId="{5959F187-39C3-46C7-BB81-F8A46D812636}" destId="{531127E9-E735-4013-818B-4294D03C41B4}" srcOrd="1" destOrd="0" presId="urn:microsoft.com/office/officeart/2018/5/layout/IconLeafLabelList"/>
    <dgm:cxn modelId="{D0D26D9C-351D-4664-BA05-9743C3031856}" type="presParOf" srcId="{5959F187-39C3-46C7-BB81-F8A46D812636}" destId="{35027A47-86F7-47A1-9BB4-142416B1C66A}" srcOrd="2" destOrd="0" presId="urn:microsoft.com/office/officeart/2018/5/layout/IconLeafLabelList"/>
    <dgm:cxn modelId="{C79F891D-C7CF-496F-8FB9-643A7653D941}" type="presParOf" srcId="{35027A47-86F7-47A1-9BB4-142416B1C66A}" destId="{F009BD14-E95F-4DD1-8F29-806974B4C20E}" srcOrd="0" destOrd="0" presId="urn:microsoft.com/office/officeart/2018/5/layout/IconLeafLabelList"/>
    <dgm:cxn modelId="{55A90AA4-CA32-40E9-94E5-808062C5AA6D}" type="presParOf" srcId="{35027A47-86F7-47A1-9BB4-142416B1C66A}" destId="{107C22C9-AB9E-4BBA-B2F0-3BF9FF1FDAAB}" srcOrd="1" destOrd="0" presId="urn:microsoft.com/office/officeart/2018/5/layout/IconLeafLabelList"/>
    <dgm:cxn modelId="{ECF43CF6-32BE-42BF-8D36-9DF345AFDDD1}" type="presParOf" srcId="{35027A47-86F7-47A1-9BB4-142416B1C66A}" destId="{24C8E3AC-2D5C-4391-9905-BE71BF420F25}" srcOrd="2" destOrd="0" presId="urn:microsoft.com/office/officeart/2018/5/layout/IconLeafLabelList"/>
    <dgm:cxn modelId="{12CE8EDA-E851-4606-9F56-967288BC4FCB}" type="presParOf" srcId="{35027A47-86F7-47A1-9BB4-142416B1C66A}" destId="{CCDE3CEE-ABDE-497B-A728-D20A94DBEE5B}" srcOrd="3" destOrd="0" presId="urn:microsoft.com/office/officeart/2018/5/layout/IconLeafLabelList"/>
    <dgm:cxn modelId="{78767632-4C82-416B-AC2B-9BE4F11682DE}" type="presParOf" srcId="{5959F187-39C3-46C7-BB81-F8A46D812636}" destId="{B5ED2868-0FFB-4911-8704-35606C353197}" srcOrd="3" destOrd="0" presId="urn:microsoft.com/office/officeart/2018/5/layout/IconLeafLabelList"/>
    <dgm:cxn modelId="{08F23596-3760-4B44-B37C-2DAB990BDA60}" type="presParOf" srcId="{5959F187-39C3-46C7-BB81-F8A46D812636}" destId="{1DBC6323-15B6-4A8B-AFAF-AE960036A435}" srcOrd="4" destOrd="0" presId="urn:microsoft.com/office/officeart/2018/5/layout/IconLeafLabelList"/>
    <dgm:cxn modelId="{17A055D3-6252-40B1-A82E-78A144D1630B}" type="presParOf" srcId="{1DBC6323-15B6-4A8B-AFAF-AE960036A435}" destId="{00AE454E-DD2C-4B96-9E56-7CF216B10353}" srcOrd="0" destOrd="0" presId="urn:microsoft.com/office/officeart/2018/5/layout/IconLeafLabelList"/>
    <dgm:cxn modelId="{032043AE-74AD-4C87-8BD9-D3AACAFB630E}" type="presParOf" srcId="{1DBC6323-15B6-4A8B-AFAF-AE960036A435}" destId="{78405CFA-B087-4C4B-9705-1703A876102B}" srcOrd="1" destOrd="0" presId="urn:microsoft.com/office/officeart/2018/5/layout/IconLeafLabelList"/>
    <dgm:cxn modelId="{E69402F6-7C1E-426B-BB12-7E2EC65D8703}" type="presParOf" srcId="{1DBC6323-15B6-4A8B-AFAF-AE960036A435}" destId="{8D3150BF-C935-4A94-A855-4CDCCE26DA9F}" srcOrd="2" destOrd="0" presId="urn:microsoft.com/office/officeart/2018/5/layout/IconLeafLabelList"/>
    <dgm:cxn modelId="{019E6E6F-88DE-46BD-9713-C58B602A2F08}" type="presParOf" srcId="{1DBC6323-15B6-4A8B-AFAF-AE960036A435}" destId="{5703B1CF-D534-4A6F-BD2A-42497B133DD0}" srcOrd="3" destOrd="0" presId="urn:microsoft.com/office/officeart/2018/5/layout/IconLeafLabelList"/>
    <dgm:cxn modelId="{20669C29-8E7D-43C3-B754-81625F5254C4}" type="presParOf" srcId="{5959F187-39C3-46C7-BB81-F8A46D812636}" destId="{DB1A99C5-A2D1-477D-8B71-462BE7EC9940}" srcOrd="5" destOrd="0" presId="urn:microsoft.com/office/officeart/2018/5/layout/IconLeafLabelList"/>
    <dgm:cxn modelId="{F89174A2-9DE1-48CB-B563-48C80F8AE38B}" type="presParOf" srcId="{5959F187-39C3-46C7-BB81-F8A46D812636}" destId="{331005BD-E390-47C0-B7E1-06E796E7258C}" srcOrd="6" destOrd="0" presId="urn:microsoft.com/office/officeart/2018/5/layout/IconLeafLabelList"/>
    <dgm:cxn modelId="{76F8D9ED-B28A-434C-8913-B3362AE77913}" type="presParOf" srcId="{331005BD-E390-47C0-B7E1-06E796E7258C}" destId="{79DAB10E-7EAB-41C8-95D6-2D821199B104}" srcOrd="0" destOrd="0" presId="urn:microsoft.com/office/officeart/2018/5/layout/IconLeafLabelList"/>
    <dgm:cxn modelId="{3E69416C-AC07-446B-8176-5ACFF36913AA}" type="presParOf" srcId="{331005BD-E390-47C0-B7E1-06E796E7258C}" destId="{7133C026-1183-44B3-9828-3EB9C2842415}" srcOrd="1" destOrd="0" presId="urn:microsoft.com/office/officeart/2018/5/layout/IconLeafLabelList"/>
    <dgm:cxn modelId="{98129C19-63B8-480D-AC39-94B32DD8ABA6}" type="presParOf" srcId="{331005BD-E390-47C0-B7E1-06E796E7258C}" destId="{CD8B1409-9641-473E-8F16-63AA2E6A3776}" srcOrd="2" destOrd="0" presId="urn:microsoft.com/office/officeart/2018/5/layout/IconLeafLabelList"/>
    <dgm:cxn modelId="{DC28C62D-997A-4183-BB41-6182B92A2801}" type="presParOf" srcId="{331005BD-E390-47C0-B7E1-06E796E7258C}" destId="{4B4F3434-EFF3-4025-8323-C294D4B2B40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3B46DD-E6EA-42D2-A4CA-B55305083963}">
      <dsp:nvSpPr>
        <dsp:cNvPr id="0" name=""/>
        <dsp:cNvSpPr/>
      </dsp:nvSpPr>
      <dsp:spPr>
        <a:xfrm>
          <a:off x="0" y="44099"/>
          <a:ext cx="11234056" cy="1152029"/>
        </a:xfrm>
        <a:prstGeom prst="round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A data distribution describes how values in a dataset are spread.</a:t>
          </a:r>
        </a:p>
      </dsp:txBody>
      <dsp:txXfrm>
        <a:off x="56237" y="100336"/>
        <a:ext cx="11121582" cy="1039555"/>
      </dsp:txXfrm>
    </dsp:sp>
    <dsp:sp modelId="{040BC871-8930-44D0-A99F-4622B629F4AA}">
      <dsp:nvSpPr>
        <dsp:cNvPr id="0" name=""/>
        <dsp:cNvSpPr/>
      </dsp:nvSpPr>
      <dsp:spPr>
        <a:xfrm>
          <a:off x="0" y="1279648"/>
          <a:ext cx="11234056" cy="1152029"/>
        </a:xfrm>
        <a:prstGeom prst="roundRect">
          <a:avLst/>
        </a:prstGeom>
        <a:solidFill>
          <a:srgbClr val="ED7D31">
            <a:hueOff val="-485121"/>
            <a:satOff val="-27976"/>
            <a:lumOff val="2876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Types of distributions: Symmetric vs. Skewed</a:t>
          </a:r>
        </a:p>
      </dsp:txBody>
      <dsp:txXfrm>
        <a:off x="56237" y="1335885"/>
        <a:ext cx="11121582" cy="1039555"/>
      </dsp:txXfrm>
    </dsp:sp>
    <dsp:sp modelId="{5F236C65-8E53-493F-B754-D43D48E5CFC5}">
      <dsp:nvSpPr>
        <dsp:cNvPr id="0" name=""/>
        <dsp:cNvSpPr/>
      </dsp:nvSpPr>
      <dsp:spPr>
        <a:xfrm>
          <a:off x="0" y="2515198"/>
          <a:ext cx="11234056" cy="1152029"/>
        </a:xfrm>
        <a:prstGeom prst="roundRect">
          <a:avLst/>
        </a:prstGeom>
        <a:solidFill>
          <a:srgbClr val="ED7D31">
            <a:hueOff val="-970242"/>
            <a:satOff val="-55952"/>
            <a:lumOff val="5752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Examples: Normal, Uniform, Binomial, Poisson</a:t>
          </a:r>
        </a:p>
      </dsp:txBody>
      <dsp:txXfrm>
        <a:off x="56237" y="2571435"/>
        <a:ext cx="11121582" cy="1039555"/>
      </dsp:txXfrm>
    </dsp:sp>
    <dsp:sp modelId="{85F995B5-DDDA-49EE-B12E-727B8321541F}">
      <dsp:nvSpPr>
        <dsp:cNvPr id="0" name=""/>
        <dsp:cNvSpPr/>
      </dsp:nvSpPr>
      <dsp:spPr>
        <a:xfrm>
          <a:off x="0" y="3750748"/>
          <a:ext cx="11234056" cy="1152029"/>
        </a:xfrm>
        <a:prstGeom prst="roundRect">
          <a:avLst/>
        </a:prstGeom>
        <a:solidFill>
          <a:srgbClr val="ED7D31">
            <a:hueOff val="-1455363"/>
            <a:satOff val="-83928"/>
            <a:lumOff val="8628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Helps in: Statistical modeling, Machine learning, Data-driven decision-making</a:t>
          </a:r>
        </a:p>
      </dsp:txBody>
      <dsp:txXfrm>
        <a:off x="56237" y="3806985"/>
        <a:ext cx="11121582" cy="10395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4C91AB-75ED-4870-852E-5B085D6AFA3C}">
      <dsp:nvSpPr>
        <dsp:cNvPr id="0" name=""/>
        <dsp:cNvSpPr/>
      </dsp:nvSpPr>
      <dsp:spPr>
        <a:xfrm>
          <a:off x="568502" y="745528"/>
          <a:ext cx="1446571" cy="144657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71F63B-0787-48E8-80EC-BEE3291BA1B2}">
      <dsp:nvSpPr>
        <dsp:cNvPr id="0" name=""/>
        <dsp:cNvSpPr/>
      </dsp:nvSpPr>
      <dsp:spPr>
        <a:xfrm>
          <a:off x="876788" y="1053814"/>
          <a:ext cx="830000" cy="8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7460EB-BA51-49BA-ADEB-C1A6EF18B07B}">
      <dsp:nvSpPr>
        <dsp:cNvPr id="0" name=""/>
        <dsp:cNvSpPr/>
      </dsp:nvSpPr>
      <dsp:spPr>
        <a:xfrm>
          <a:off x="106073" y="2642671"/>
          <a:ext cx="2371429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 dirty="0"/>
            <a:t>Finance: </a:t>
          </a:r>
          <a:r>
            <a:rPr lang="en-US" sz="1800" kern="1200" dirty="0"/>
            <a:t>Stock returns follow a normal/log-normal distribution</a:t>
          </a:r>
        </a:p>
      </dsp:txBody>
      <dsp:txXfrm>
        <a:off x="106073" y="2642671"/>
        <a:ext cx="2371429" cy="1260000"/>
      </dsp:txXfrm>
    </dsp:sp>
    <dsp:sp modelId="{F009BD14-E95F-4DD1-8F29-806974B4C20E}">
      <dsp:nvSpPr>
        <dsp:cNvPr id="0" name=""/>
        <dsp:cNvSpPr/>
      </dsp:nvSpPr>
      <dsp:spPr>
        <a:xfrm>
          <a:off x="3354931" y="745528"/>
          <a:ext cx="1446571" cy="144657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7C22C9-AB9E-4BBA-B2F0-3BF9FF1FDAAB}">
      <dsp:nvSpPr>
        <dsp:cNvPr id="0" name=""/>
        <dsp:cNvSpPr/>
      </dsp:nvSpPr>
      <dsp:spPr>
        <a:xfrm>
          <a:off x="3663217" y="1053814"/>
          <a:ext cx="830000" cy="8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DE3CEE-ABDE-497B-A728-D20A94DBEE5B}">
      <dsp:nvSpPr>
        <dsp:cNvPr id="0" name=""/>
        <dsp:cNvSpPr/>
      </dsp:nvSpPr>
      <dsp:spPr>
        <a:xfrm>
          <a:off x="2892502" y="2642671"/>
          <a:ext cx="2371429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 dirty="0"/>
            <a:t>Healthcare: </a:t>
          </a:r>
          <a:r>
            <a:rPr lang="en-US" sz="1800" kern="1200" dirty="0"/>
            <a:t>Disease spread follows a Poisson distribution</a:t>
          </a:r>
        </a:p>
      </dsp:txBody>
      <dsp:txXfrm>
        <a:off x="2892502" y="2642671"/>
        <a:ext cx="2371429" cy="1260000"/>
      </dsp:txXfrm>
    </dsp:sp>
    <dsp:sp modelId="{00AE454E-DD2C-4B96-9E56-7CF216B10353}">
      <dsp:nvSpPr>
        <dsp:cNvPr id="0" name=""/>
        <dsp:cNvSpPr/>
      </dsp:nvSpPr>
      <dsp:spPr>
        <a:xfrm>
          <a:off x="6141360" y="745528"/>
          <a:ext cx="1446571" cy="144657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405CFA-B087-4C4B-9705-1703A876102B}">
      <dsp:nvSpPr>
        <dsp:cNvPr id="0" name=""/>
        <dsp:cNvSpPr/>
      </dsp:nvSpPr>
      <dsp:spPr>
        <a:xfrm>
          <a:off x="6449646" y="1053814"/>
          <a:ext cx="830000" cy="8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03B1CF-D534-4A6F-BD2A-42497B133DD0}">
      <dsp:nvSpPr>
        <dsp:cNvPr id="0" name=""/>
        <dsp:cNvSpPr/>
      </dsp:nvSpPr>
      <dsp:spPr>
        <a:xfrm>
          <a:off x="5678932" y="2642671"/>
          <a:ext cx="2371429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 dirty="0"/>
            <a:t>Retail: </a:t>
          </a:r>
          <a:r>
            <a:rPr lang="en-US" sz="1800" kern="1200" dirty="0"/>
            <a:t>Customer arrivals follow an exponential distribution</a:t>
          </a:r>
        </a:p>
      </dsp:txBody>
      <dsp:txXfrm>
        <a:off x="5678932" y="2642671"/>
        <a:ext cx="2371429" cy="1260000"/>
      </dsp:txXfrm>
    </dsp:sp>
    <dsp:sp modelId="{79DAB10E-7EAB-41C8-95D6-2D821199B104}">
      <dsp:nvSpPr>
        <dsp:cNvPr id="0" name=""/>
        <dsp:cNvSpPr/>
      </dsp:nvSpPr>
      <dsp:spPr>
        <a:xfrm>
          <a:off x="8927789" y="745528"/>
          <a:ext cx="1446571" cy="144657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33C026-1183-44B3-9828-3EB9C2842415}">
      <dsp:nvSpPr>
        <dsp:cNvPr id="0" name=""/>
        <dsp:cNvSpPr/>
      </dsp:nvSpPr>
      <dsp:spPr>
        <a:xfrm>
          <a:off x="9236075" y="1053814"/>
          <a:ext cx="830000" cy="8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4F3434-EFF3-4025-8323-C294D4B2B40A}">
      <dsp:nvSpPr>
        <dsp:cNvPr id="0" name=""/>
        <dsp:cNvSpPr/>
      </dsp:nvSpPr>
      <dsp:spPr>
        <a:xfrm>
          <a:off x="8465361" y="2642671"/>
          <a:ext cx="2371429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 dirty="0"/>
            <a:t>Manufacturing: </a:t>
          </a:r>
          <a:r>
            <a:rPr lang="en-US" sz="1800" kern="1200" dirty="0"/>
            <a:t>Quality control uses a binomial distribution</a:t>
          </a:r>
        </a:p>
      </dsp:txBody>
      <dsp:txXfrm>
        <a:off x="8465361" y="2642671"/>
        <a:ext cx="2371429" cy="126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CAB6-0A18-B12A-06A5-CFD0B0666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1E932-87D4-E4A3-5EC5-FD37D2ADB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61194-F8BE-C949-EFCA-00EE7F86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4BE2-760E-FA63-F53E-6EC6D65C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19652-B072-95C3-666A-824B223F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103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62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5807-6537-7A6D-A641-B2A17376E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B0403-42FF-1C59-1D5B-32C3D7622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86C83-3353-0411-EE9B-3502DB3E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F388B-76FB-C020-4F27-4E8F4736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13B55-0C9D-95FE-DE57-76D9CAC5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862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200A-4353-C353-E184-88D52DAD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E2DB6-9BB8-38D4-16CA-0544ED95B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55387-24D0-58FA-83A3-7DE9457A8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92733-6AE7-EB0F-FA3B-AF5CDFCC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F2C6F-7464-367E-E3F8-97DC8C8F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16EA2-7E56-7BA3-2439-E543C416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23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A9EF-5440-6E76-FF73-0CF065E3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46708-25E5-77F6-A964-227D0EE4C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C22E3-5FB3-FA79-ED62-21819A6A0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6025A-E802-D170-D6B8-690A286BC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B7203-20FE-415A-F923-11A30CAAC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DA1C9-7D6A-71D0-70D9-9B082871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E8C4F-142A-8803-C2AD-C6393A49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3C7CE-86E2-2A63-0ECE-6F7089A6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71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E12F-6D65-52A0-48AA-B03A63F8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2E755-9EA8-6439-9AA9-91FF3D91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B468B-111F-CF06-6C38-3BC8CFF4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4801-333D-738E-07D1-D8DAF45C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33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45271-495D-152E-CF4A-DF4710D8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704DD-032D-53A7-BFF6-45E5965D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77178-4230-89A4-5872-75B34920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0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69D6-24F8-42C9-1D77-EC886690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61D7-9867-D57B-393C-47C770AA6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D94E2-1CFC-4DFF-4491-2085D8036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CD279-5116-5E15-60C5-9EF79DDB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31C19-F77D-04E3-B033-CF6338C1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963EA-8864-E6BE-24F5-23AFDA15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66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6FE6-775B-5F83-EEAB-E36547DB1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64366-F9DB-7570-8134-3DDD5A101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FF4E6-78FE-6A93-F107-25294F26C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6E5D-D1B7-97B4-E5F0-293D2283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0F263-4F04-05C5-5AB8-17B4BF43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888F2-58F4-670D-C34D-AD8FC745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83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8A30-B913-89F3-B532-786CB42C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29D4D-DEE7-6A1D-B42E-38574A727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FAF5-A696-3446-BF82-38164F6A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E94DE-54DD-A6A8-474C-AB93008E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8F6DA-A2A6-C945-BF21-6706B5FA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2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08265-AD14-4580-CC74-9C4CF00E9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309DA-5772-6FBD-97A3-F137B93F9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1C790-714C-45F7-D996-F901BECA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76402-000D-C35B-9564-25F55D31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7743-5BF8-DFC2-CBDC-EB27E011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585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B05E56-8D2F-5F2F-8551-44A2B095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445D5-7E47-8624-9AC3-BB3BCD277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5D27-2F61-7E25-7C4F-55CEB6262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E40CC-F5EF-5459-5DE6-51B24194D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77AFA-267B-483B-8828-7D5EC7CBF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19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vikashsinghy2k/the-ultimate-guide-to-data-distributions-skewness-centering-and-spread-made-simple-1bb1b9110bf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vikashsinghy2k/the-ultimate-guide-to-data-distributions-skewness-centering-and-spread-made-simple-1bb1b9110bfd" TargetMode="External"/><Relationship Id="rId2" Type="http://schemas.openxmlformats.org/officeDocument/2006/relationships/hyperlink" Target="https://github.com/vikashkmd/DSMLNotebooks/blob/main/Data%20distribution%20skewness%20and%20kurtosis.ipynb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vikashsinghy2k/phases-of-data-science-and-analytics-7bfc524cc23a" TargetMode="External"/><Relationship Id="rId5" Type="http://schemas.openxmlformats.org/officeDocument/2006/relationships/hyperlink" Target="https://medium.com/@vikashsinghy2k/mastering-credit-risk-analysis-a-step-by-step-guide-to-descriptive-statistics-in-python-bfbdfba627d5" TargetMode="External"/><Relationship Id="rId4" Type="http://schemas.openxmlformats.org/officeDocument/2006/relationships/hyperlink" Target="https://medium.com/@vikashsinghy2k/how-to-create-stunning-data-visualizations-in-python-top-10-techniques-to-learn-eca1be10a6f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8A999DC-A153-1905-C7EE-7C969DA83FFE}"/>
              </a:ext>
            </a:extLst>
          </p:cNvPr>
          <p:cNvSpPr/>
          <p:nvPr/>
        </p:nvSpPr>
        <p:spPr>
          <a:xfrm>
            <a:off x="-419100" y="4152147"/>
            <a:ext cx="12705589" cy="4105276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59026-22DA-C7EE-E8D5-0A960E14490B}"/>
              </a:ext>
            </a:extLst>
          </p:cNvPr>
          <p:cNvSpPr/>
          <p:nvPr/>
        </p:nvSpPr>
        <p:spPr>
          <a:xfrm>
            <a:off x="0" y="5429251"/>
            <a:ext cx="12192001" cy="865268"/>
          </a:xfrm>
          <a:prstGeom prst="rect">
            <a:avLst/>
          </a:prstGeom>
          <a:solidFill>
            <a:srgbClr val="C00000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AFFA5-8138-FB30-6CEE-C907D53506F8}"/>
              </a:ext>
            </a:extLst>
          </p:cNvPr>
          <p:cNvSpPr txBox="1"/>
          <p:nvPr/>
        </p:nvSpPr>
        <p:spPr>
          <a:xfrm>
            <a:off x="1195137" y="5113697"/>
            <a:ext cx="9801726" cy="14773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  <a:p>
            <a:pPr algn="ctr"/>
            <a:r>
              <a:rPr lang="en-US" sz="3000" dirty="0">
                <a:solidFill>
                  <a:schemeClr val="bg1"/>
                </a:solidFill>
                <a:latin typeface="Montserrat SemiBold" pitchFamily="2" charset="0"/>
              </a:rPr>
              <a:t>Data Distributions</a:t>
            </a:r>
          </a:p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95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F74FA-259D-AE93-651F-B8A502C1E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41252-497D-FF0D-14FB-D1F83D86864A}"/>
              </a:ext>
            </a:extLst>
          </p:cNvPr>
          <p:cNvSpPr txBox="1">
            <a:spLocks/>
          </p:cNvSpPr>
          <p:nvPr/>
        </p:nvSpPr>
        <p:spPr>
          <a:xfrm>
            <a:off x="2481943" y="217297"/>
            <a:ext cx="84723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Data Distributions Dataset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E017E6-E93E-5CEA-C56F-FEF96B5596BB}"/>
              </a:ext>
            </a:extLst>
          </p:cNvPr>
          <p:cNvSpPr txBox="1"/>
          <p:nvPr/>
        </p:nvSpPr>
        <p:spPr>
          <a:xfrm>
            <a:off x="657059" y="1588618"/>
            <a:ext cx="1087788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‘titanic’ dataset in seaborn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7F1161B-D65B-6630-4C9B-F255EBA91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58" y="2381249"/>
            <a:ext cx="10975397" cy="229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3779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650A68-EA3A-2D91-1B47-FD55243C0DD5}"/>
              </a:ext>
            </a:extLst>
          </p:cNvPr>
          <p:cNvSpPr txBox="1">
            <a:spLocks/>
          </p:cNvSpPr>
          <p:nvPr/>
        </p:nvSpPr>
        <p:spPr>
          <a:xfrm>
            <a:off x="3606449" y="239070"/>
            <a:ext cx="69091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Learning Objectives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DD431F-D61B-40D1-6A24-AC95A22F2994}"/>
              </a:ext>
            </a:extLst>
          </p:cNvPr>
          <p:cNvSpPr txBox="1">
            <a:spLocks/>
          </p:cNvSpPr>
          <p:nvPr/>
        </p:nvSpPr>
        <p:spPr>
          <a:xfrm>
            <a:off x="864833" y="2134159"/>
            <a:ext cx="10249481" cy="571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latin typeface="Avenir Next LT Pro" panose="020B0504020202020204" pitchFamily="34" charset="0"/>
                <a:cs typeface="Arial" pitchFamily="34" charset="0"/>
              </a:rPr>
              <a:t>By the end of this session, you will be able to: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895C38F-5C91-8D36-A74F-08FB80ECB545}"/>
              </a:ext>
            </a:extLst>
          </p:cNvPr>
          <p:cNvSpPr txBox="1">
            <a:spLocks/>
          </p:cNvSpPr>
          <p:nvPr/>
        </p:nvSpPr>
        <p:spPr>
          <a:xfrm>
            <a:off x="864832" y="2819400"/>
            <a:ext cx="10717567" cy="329837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Understand the concept of data distributions</a:t>
            </a:r>
          </a:p>
          <a:p>
            <a:r>
              <a:rPr lang="en-US" dirty="0"/>
              <a:t>Learn about skewness and kurtosis</a:t>
            </a:r>
          </a:p>
          <a:p>
            <a:r>
              <a:rPr lang="en-US" dirty="0"/>
              <a:t>Apply Python code for calculating skewness and kurtosis</a:t>
            </a:r>
          </a:p>
          <a:p>
            <a:r>
              <a:rPr lang="en-US" dirty="0"/>
              <a:t>Test your knowledge with quizzes and MCQs</a:t>
            </a:r>
          </a:p>
        </p:txBody>
      </p:sp>
    </p:spTree>
    <p:extLst>
      <p:ext uri="{BB962C8B-B14F-4D97-AF65-F5344CB8AC3E}">
        <p14:creationId xmlns:p14="http://schemas.microsoft.com/office/powerpoint/2010/main" val="1635202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1F271-41DA-A538-EB88-50AE4905C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2645CA2-7F1D-3079-C67B-BC1747BC0515}"/>
              </a:ext>
            </a:extLst>
          </p:cNvPr>
          <p:cNvSpPr txBox="1">
            <a:spLocks/>
          </p:cNvSpPr>
          <p:nvPr/>
        </p:nvSpPr>
        <p:spPr>
          <a:xfrm>
            <a:off x="3606449" y="239070"/>
            <a:ext cx="69091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Spread?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D9212B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2F3F78-0663-FFCC-8614-4955A8131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120" y="927768"/>
            <a:ext cx="9016481" cy="524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CA3F0-5D74-4967-F591-DED6512E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C1E8AAF-61D1-CC9C-3226-F9A2D4A1C9A1}"/>
              </a:ext>
            </a:extLst>
          </p:cNvPr>
          <p:cNvSpPr txBox="1">
            <a:spLocks/>
          </p:cNvSpPr>
          <p:nvPr/>
        </p:nvSpPr>
        <p:spPr>
          <a:xfrm>
            <a:off x="3439886" y="217297"/>
            <a:ext cx="572588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a Data Distribution?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0E7A168-167C-5D2F-51B3-E4C9AB11A0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079146"/>
              </p:ext>
            </p:extLst>
          </p:nvPr>
        </p:nvGraphicFramePr>
        <p:xfrm>
          <a:off x="478972" y="1055915"/>
          <a:ext cx="11234056" cy="4946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1482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F5CC-7C78-2830-995A-74257065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0EE76BE-076E-7E6B-B609-64BB0A4E6552}"/>
              </a:ext>
            </a:extLst>
          </p:cNvPr>
          <p:cNvSpPr txBox="1">
            <a:spLocks/>
          </p:cNvSpPr>
          <p:nvPr/>
        </p:nvSpPr>
        <p:spPr>
          <a:xfrm>
            <a:off x="3265713" y="217297"/>
            <a:ext cx="76885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Types of Data Distributions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8C8BE7-B92F-07FD-FA59-A013A1B76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28" y="1360715"/>
            <a:ext cx="11090743" cy="3646714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3507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3809C-9761-6A1E-B6AA-24619AB8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46EC9-827F-D82C-2A52-67C320195836}"/>
              </a:ext>
            </a:extLst>
          </p:cNvPr>
          <p:cNvSpPr txBox="1">
            <a:spLocks/>
          </p:cNvSpPr>
          <p:nvPr/>
        </p:nvSpPr>
        <p:spPr>
          <a:xfrm>
            <a:off x="2416629" y="217297"/>
            <a:ext cx="85376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Real-World Applications of Distributions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7EA498A3-CA83-17C6-17BA-90B69BF8AC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3179589"/>
              </p:ext>
            </p:extLst>
          </p:nvPr>
        </p:nvGraphicFramePr>
        <p:xfrm>
          <a:off x="628650" y="1415143"/>
          <a:ext cx="10942864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7333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199DE-72C0-6C3F-C639-925F1DD8F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7CB2582-5654-BAE4-8972-0DBFC1409374}"/>
              </a:ext>
            </a:extLst>
          </p:cNvPr>
          <p:cNvSpPr txBox="1">
            <a:spLocks/>
          </p:cNvSpPr>
          <p:nvPr/>
        </p:nvSpPr>
        <p:spPr>
          <a:xfrm>
            <a:off x="2819399" y="217297"/>
            <a:ext cx="8134905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Normal Distribution - The Bell Curve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916686-7D28-6CAD-8348-CAEBB0856505}"/>
              </a:ext>
            </a:extLst>
          </p:cNvPr>
          <p:cNvSpPr txBox="1">
            <a:spLocks/>
          </p:cNvSpPr>
          <p:nvPr/>
        </p:nvSpPr>
        <p:spPr>
          <a:xfrm>
            <a:off x="838200" y="1357539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Symmetrical bell-shaped curve</a:t>
            </a:r>
          </a:p>
          <a:p>
            <a:r>
              <a:rPr lang="en-US"/>
              <a:t>Defined by mean (μ) and standard deviation (σ)</a:t>
            </a:r>
          </a:p>
          <a:p>
            <a:endParaRPr lang="en-US"/>
          </a:p>
          <a:p>
            <a:r>
              <a:rPr lang="en-US"/>
              <a:t>68-95-99.7 Rule: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- 68% within 1σ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- 95% within 2σ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	- 99.7% within 3σ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053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D346C-F2B3-501D-D77C-AB5495317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B3F3938-8B99-8190-1B1F-C530A3B87533}"/>
              </a:ext>
            </a:extLst>
          </p:cNvPr>
          <p:cNvSpPr txBox="1">
            <a:spLocks/>
          </p:cNvSpPr>
          <p:nvPr/>
        </p:nvSpPr>
        <p:spPr>
          <a:xfrm>
            <a:off x="2819399" y="217297"/>
            <a:ext cx="8134905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Normal Distribution - The Bell Curve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3367E0-7755-A678-2581-93CC0B41F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3" y="1251181"/>
            <a:ext cx="11038114" cy="474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73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37340-B94E-8D83-A375-589741220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0CE1BD0-F022-B04E-37CD-C6D48D8BE0F7}"/>
              </a:ext>
            </a:extLst>
          </p:cNvPr>
          <p:cNvSpPr txBox="1">
            <a:spLocks/>
          </p:cNvSpPr>
          <p:nvPr/>
        </p:nvSpPr>
        <p:spPr>
          <a:xfrm>
            <a:off x="2819399" y="217297"/>
            <a:ext cx="8134905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Visualizing Distribution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03DCD0-DF11-52F4-4932-9F52E04D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800"/>
            <a:ext cx="4915586" cy="115268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4F86B64-17DD-9991-ED42-6C890CEE9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4739" y="905995"/>
            <a:ext cx="6843821" cy="51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1920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48D77-7D71-56AB-5618-72EE822BC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803FA-802C-1637-4603-A34D56A1BDC2}"/>
              </a:ext>
            </a:extLst>
          </p:cNvPr>
          <p:cNvSpPr txBox="1">
            <a:spLocks/>
          </p:cNvSpPr>
          <p:nvPr/>
        </p:nvSpPr>
        <p:spPr>
          <a:xfrm>
            <a:off x="3047999" y="217297"/>
            <a:ext cx="7906305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Skewness - Symmetry of Data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1ADDF-C82A-874E-3FDD-6414BDD3C1C8}"/>
              </a:ext>
            </a:extLst>
          </p:cNvPr>
          <p:cNvSpPr txBox="1">
            <a:spLocks/>
          </p:cNvSpPr>
          <p:nvPr/>
        </p:nvSpPr>
        <p:spPr>
          <a:xfrm>
            <a:off x="794657" y="1447800"/>
            <a:ext cx="8229600" cy="3015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Skewness tells us whether our data is skewed left, right, or symmetrical.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Measures asymmetry of distribution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Formula: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DB4824-209A-B325-C67F-9D5CB68BB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217" y="4291896"/>
            <a:ext cx="7652575" cy="142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084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890B2-E345-9525-7ED1-63CC28B0D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AA02F-1261-CC5E-AFAC-8FDCD0ACDB97}"/>
              </a:ext>
            </a:extLst>
          </p:cNvPr>
          <p:cNvSpPr txBox="1">
            <a:spLocks/>
          </p:cNvSpPr>
          <p:nvPr/>
        </p:nvSpPr>
        <p:spPr>
          <a:xfrm>
            <a:off x="3047999" y="217297"/>
            <a:ext cx="7906305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Skewness - Symmetry of Data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35FFAF-A477-8F8D-9210-28FB94684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195" y="805543"/>
            <a:ext cx="4657466" cy="55426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0C93C2-2277-5C7B-D5A1-B261A42B20E4}"/>
              </a:ext>
            </a:extLst>
          </p:cNvPr>
          <p:cNvSpPr txBox="1"/>
          <p:nvPr/>
        </p:nvSpPr>
        <p:spPr>
          <a:xfrm>
            <a:off x="6373538" y="2480350"/>
            <a:ext cx="2400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(Mean &lt; Median)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b="1" dirty="0">
              <a:solidFill>
                <a:srgbClr val="0070C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D3CAC1-AFA4-80CF-F544-11E56EF19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87" y="886261"/>
            <a:ext cx="4094776" cy="52591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98F665-10E4-1605-C8F1-4376D338D4FB}"/>
              </a:ext>
            </a:extLst>
          </p:cNvPr>
          <p:cNvSpPr txBox="1"/>
          <p:nvPr/>
        </p:nvSpPr>
        <p:spPr>
          <a:xfrm>
            <a:off x="2315937" y="2657589"/>
            <a:ext cx="18859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(Mean &gt; Median)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82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022A7-CBD3-9F27-E4E6-11D40EC2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9CED029-0C99-C118-B3C9-5364A05BCCF2}"/>
              </a:ext>
            </a:extLst>
          </p:cNvPr>
          <p:cNvSpPr txBox="1">
            <a:spLocks/>
          </p:cNvSpPr>
          <p:nvPr/>
        </p:nvSpPr>
        <p:spPr>
          <a:xfrm>
            <a:off x="4103913" y="217297"/>
            <a:ext cx="68503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Skewness Example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A4B0AE5-A0AF-07CC-B202-BD71C3AD359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3203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Given a dataset: [150, 200, 250, 300, 350, 400, 800], compute the </a:t>
            </a:r>
            <a:r>
              <a:rPr lang="en-US" b="1"/>
              <a:t>skewness</a:t>
            </a:r>
            <a:r>
              <a:rPr lang="en-US"/>
              <a:t>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02FEF6-598C-6485-19E7-BDE985CB8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712" y="2998978"/>
            <a:ext cx="7652575" cy="142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88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FE265-9529-08FB-A853-5B7072BC9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51C7DD6-2CF8-43FE-7269-2AE74AEDCAF2}"/>
              </a:ext>
            </a:extLst>
          </p:cNvPr>
          <p:cNvSpPr txBox="1">
            <a:spLocks/>
          </p:cNvSpPr>
          <p:nvPr/>
        </p:nvSpPr>
        <p:spPr>
          <a:xfrm>
            <a:off x="4103913" y="217297"/>
            <a:ext cx="68503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Skewness Example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7D331BA-2FA3-E750-66B2-E57C40FE3EA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3203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Given a dataset: [150, 200, 250, 300, 350, 400, 800], compute the </a:t>
            </a:r>
            <a:r>
              <a:rPr lang="en-US" b="1"/>
              <a:t>skewness</a:t>
            </a:r>
            <a:r>
              <a:rPr lang="en-US"/>
              <a:t>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8419CF-B645-E458-1B89-2A566D188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712" y="2998978"/>
            <a:ext cx="7652575" cy="14261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273DF1-366E-E41F-C62C-499BD955F3A8}"/>
              </a:ext>
            </a:extLst>
          </p:cNvPr>
          <p:cNvSpPr txBox="1"/>
          <p:nvPr/>
        </p:nvSpPr>
        <p:spPr>
          <a:xfrm>
            <a:off x="3309257" y="494250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the data right or left skewed?</a:t>
            </a:r>
          </a:p>
        </p:txBody>
      </p:sp>
    </p:spTree>
    <p:extLst>
      <p:ext uri="{BB962C8B-B14F-4D97-AF65-F5344CB8AC3E}">
        <p14:creationId xmlns:p14="http://schemas.microsoft.com/office/powerpoint/2010/main" val="951487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40C7F-DB8A-E393-60D8-3923F8E6E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18634D-DD09-7F06-FB79-6254306ACDC9}"/>
              </a:ext>
            </a:extLst>
          </p:cNvPr>
          <p:cNvSpPr txBox="1">
            <a:spLocks/>
          </p:cNvSpPr>
          <p:nvPr/>
        </p:nvSpPr>
        <p:spPr>
          <a:xfrm>
            <a:off x="4103913" y="217297"/>
            <a:ext cx="68503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Skewness Example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0C4750-32FE-9265-6077-3D3CCAC2A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027" y="1537402"/>
            <a:ext cx="10417816" cy="403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652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888FF-0A1C-B47A-684E-3FF2556AB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419D01-13CD-EA70-753E-3B2185E8CB1F}"/>
              </a:ext>
            </a:extLst>
          </p:cNvPr>
          <p:cNvSpPr txBox="1">
            <a:spLocks/>
          </p:cNvSpPr>
          <p:nvPr/>
        </p:nvSpPr>
        <p:spPr>
          <a:xfrm>
            <a:off x="4103913" y="217297"/>
            <a:ext cx="68503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Skewness in Python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B2361A-4740-2B23-CE5F-F5AEB76D7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22" y="1320458"/>
            <a:ext cx="5344271" cy="16480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F0BE65-E250-A69E-E669-DB2C7709CF37}"/>
              </a:ext>
            </a:extLst>
          </p:cNvPr>
          <p:cNvSpPr txBox="1"/>
          <p:nvPr/>
        </p:nvSpPr>
        <p:spPr>
          <a:xfrm>
            <a:off x="536121" y="3520156"/>
            <a:ext cx="50642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242424"/>
                </a:solidFill>
                <a:effectLst/>
                <a:latin typeface="source-serif-pro"/>
              </a:rPr>
              <a:t>Output:</a:t>
            </a:r>
            <a:endParaRPr lang="en-US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79E3ED-FDC3-E3B5-0B6B-765EFCA7A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74" y="4280650"/>
            <a:ext cx="3405849" cy="8356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2934BB-3C8B-4D1A-CFBB-351E4C51C354}"/>
              </a:ext>
            </a:extLst>
          </p:cNvPr>
          <p:cNvSpPr txBox="1"/>
          <p:nvPr/>
        </p:nvSpPr>
        <p:spPr>
          <a:xfrm>
            <a:off x="5402037" y="4043376"/>
            <a:ext cx="6253842" cy="161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Age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is slightly positively skewed (some older passengers create a right tail).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Fare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is heavily positively skewed (some passengers paid extremely high fares).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D3712A-6B40-800A-E70E-9FEF164FC884}"/>
              </a:ext>
            </a:extLst>
          </p:cNvPr>
          <p:cNvSpPr txBox="1"/>
          <p:nvPr/>
        </p:nvSpPr>
        <p:spPr>
          <a:xfrm>
            <a:off x="5645573" y="1490780"/>
            <a:ext cx="62538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Explanation:</a:t>
            </a:r>
            <a:endParaRPr lang="en-US" sz="24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Positive skew (&gt; 0):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 Tail extends to the right.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Negative skew (&lt; 0):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 Tail extends to the left.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Zero skew: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 Perfectly symmetrical.</a:t>
            </a:r>
          </a:p>
        </p:txBody>
      </p:sp>
    </p:spTree>
    <p:extLst>
      <p:ext uri="{BB962C8B-B14F-4D97-AF65-F5344CB8AC3E}">
        <p14:creationId xmlns:p14="http://schemas.microsoft.com/office/powerpoint/2010/main" val="3723104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9D81C-B3EA-AD23-1C80-FA7F3682C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B189752-6D41-0FD4-09A5-9A1DCBF7D07D}"/>
              </a:ext>
            </a:extLst>
          </p:cNvPr>
          <p:cNvSpPr txBox="1">
            <a:spLocks/>
          </p:cNvSpPr>
          <p:nvPr/>
        </p:nvSpPr>
        <p:spPr>
          <a:xfrm>
            <a:off x="3026229" y="217297"/>
            <a:ext cx="79280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 Kurtosis - Tails of the Distribution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87A5E7A-5109-663E-F28E-0F3BC7D8C0AF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10646229" cy="3309257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Definition: </a:t>
            </a:r>
            <a:r>
              <a:rPr lang="en-US" b="1"/>
              <a:t>Kurtosis</a:t>
            </a:r>
            <a:r>
              <a:rPr lang="en-US"/>
              <a:t> measures whether data has </a:t>
            </a:r>
            <a:r>
              <a:rPr lang="en-US" b="1"/>
              <a:t>heavy or light tails</a:t>
            </a:r>
          </a:p>
          <a:p>
            <a:endParaRPr lang="en-US" b="1"/>
          </a:p>
          <a:p>
            <a:r>
              <a:rPr lang="en-US"/>
              <a:t>Types of kurtosis: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b="1"/>
              <a:t>Leptokurtic (High Kurtosis)</a:t>
            </a:r>
            <a:r>
              <a:rPr lang="en-US"/>
              <a:t>: Heavy tails (outliers). </a:t>
            </a:r>
            <a:r>
              <a:rPr lang="en-US">
                <a:highlight>
                  <a:srgbClr val="FFFF00"/>
                </a:highlight>
              </a:rPr>
              <a:t>Kurtosis value &gt; 3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b="1"/>
              <a:t>Mesokurtic (Normal Kurtosis)</a:t>
            </a:r>
            <a:r>
              <a:rPr lang="en-US"/>
              <a:t>: Like a normal distribution. </a:t>
            </a:r>
            <a:r>
              <a:rPr lang="en-US">
                <a:highlight>
                  <a:srgbClr val="FFFF00"/>
                </a:highlight>
              </a:rPr>
              <a:t>Kurtosis value = 3 approx</a:t>
            </a:r>
            <a:endParaRPr lang="en-US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b="1"/>
              <a:t>Platykurtic (Low Kurtosis)</a:t>
            </a:r>
            <a:r>
              <a:rPr lang="en-US"/>
              <a:t>: Light tails (less variation) </a:t>
            </a:r>
            <a:r>
              <a:rPr lang="en-US">
                <a:highlight>
                  <a:srgbClr val="FFFF00"/>
                </a:highlight>
              </a:rPr>
              <a:t>Kurtosis value &lt; 3</a:t>
            </a:r>
            <a:endParaRPr lang="en-US"/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Formula: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874827-A44B-A935-60B3-75E66185D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14" y="4909457"/>
            <a:ext cx="10116187" cy="134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318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F952C-0B2F-5AF8-0F2E-1FE6D2152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A83C3-1B35-47D2-3696-8616C9F46427}"/>
              </a:ext>
            </a:extLst>
          </p:cNvPr>
          <p:cNvSpPr txBox="1">
            <a:spLocks/>
          </p:cNvSpPr>
          <p:nvPr/>
        </p:nvSpPr>
        <p:spPr>
          <a:xfrm>
            <a:off x="3712029" y="217297"/>
            <a:ext cx="7467599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 Skewness vs Kurtosis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5ED783D-63E1-AB5F-77E7-9B8EE965EB3E}"/>
              </a:ext>
            </a:extLst>
          </p:cNvPr>
          <p:cNvSpPr txBox="1">
            <a:spLocks/>
          </p:cNvSpPr>
          <p:nvPr/>
        </p:nvSpPr>
        <p:spPr>
          <a:xfrm>
            <a:off x="664028" y="1410199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Skewness focusses on direction of outliers whereas kurtosis measures intensity of outliers.</a:t>
            </a:r>
          </a:p>
          <a:p>
            <a:endParaRPr lang="en-US"/>
          </a:p>
          <a:p>
            <a:r>
              <a:rPr lang="en-US"/>
              <a:t>A dataset can be </a:t>
            </a:r>
            <a:r>
              <a:rPr lang="en-US" b="1"/>
              <a:t>symmetric (no skew)</a:t>
            </a:r>
            <a:r>
              <a:rPr lang="en-US"/>
              <a:t> but still have </a:t>
            </a:r>
            <a:r>
              <a:rPr lang="en-US" b="1"/>
              <a:t>high kurtosis</a:t>
            </a:r>
            <a:r>
              <a:rPr lang="en-US"/>
              <a:t> (many outliers)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288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D900D-C7F3-5E94-1B87-3C209C2298FB}"/>
              </a:ext>
            </a:extLst>
          </p:cNvPr>
          <p:cNvSpPr txBox="1">
            <a:spLocks/>
          </p:cNvSpPr>
          <p:nvPr/>
        </p:nvSpPr>
        <p:spPr>
          <a:xfrm>
            <a:off x="2416629" y="217297"/>
            <a:ext cx="85376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Corbel"/>
              </a:rPr>
              <a:t>Measures of Dispersion (IQR)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E5EF316-DAE2-5F71-215D-0673E8957AA7}"/>
              </a:ext>
            </a:extLst>
          </p:cNvPr>
          <p:cNvSpPr txBox="1">
            <a:spLocks/>
          </p:cNvSpPr>
          <p:nvPr/>
        </p:nvSpPr>
        <p:spPr>
          <a:xfrm>
            <a:off x="540523" y="1128667"/>
            <a:ext cx="10947400" cy="488166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SzPct val="100000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Percentile: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Percentiles indicate the percentage of scores that fall below a particular value.</a:t>
            </a:r>
          </a:p>
          <a:p>
            <a:pPr algn="just">
              <a:buSzPct val="100000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Example: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Suppose you are the fourth tallest person in a group of 20 people. So that means 16 people are shorter than you. 80% of the people are shorter than you. That means you are at the 80</a:t>
            </a:r>
            <a:r>
              <a:rPr lang="en-US" sz="24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percentile. </a:t>
            </a:r>
          </a:p>
          <a:p>
            <a:pPr algn="just">
              <a:buSzPct val="100000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SzPct val="100000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SzPct val="100000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SzPct val="100000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SzPct val="100000"/>
              <a:buNone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SzPct val="100000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Formula for Percentile = (Number of Values Below “x” / Total Number of Values) × 100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BDB6FF-1814-2793-F8AA-5396854E3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971" y="3127010"/>
            <a:ext cx="5990504" cy="197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820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240A0-A635-AC01-7DB5-5EFCC4B5133C}"/>
              </a:ext>
            </a:extLst>
          </p:cNvPr>
          <p:cNvSpPr txBox="1">
            <a:spLocks/>
          </p:cNvSpPr>
          <p:nvPr/>
        </p:nvSpPr>
        <p:spPr>
          <a:xfrm>
            <a:off x="2416629" y="217297"/>
            <a:ext cx="85376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IQR (Interquartile range)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3C10DD98-31FB-81F7-D469-E15C0A1BF3F9}"/>
              </a:ext>
            </a:extLst>
          </p:cNvPr>
          <p:cNvSpPr txBox="1">
            <a:spLocks/>
          </p:cNvSpPr>
          <p:nvPr/>
        </p:nvSpPr>
        <p:spPr>
          <a:xfrm>
            <a:off x="382814" y="1434853"/>
            <a:ext cx="4733472" cy="458494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SzPct val="100000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Quartiles: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Quartiles are the values that divide a list of numbers into quarters.</a:t>
            </a:r>
          </a:p>
          <a:p>
            <a:pPr algn="just">
              <a:buSzPct val="100000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Q1: Middle number between the smallest number and the median of the data set.</a:t>
            </a:r>
          </a:p>
          <a:p>
            <a:pPr algn="just">
              <a:buSzPct val="100000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Q2: Median of the data set.</a:t>
            </a:r>
          </a:p>
          <a:p>
            <a:pPr algn="just">
              <a:buSzPct val="100000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Q3: Middle value between the median and the highest value of the data set.</a:t>
            </a:r>
          </a:p>
          <a:p>
            <a:pPr algn="just">
              <a:buSzPct val="100000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Inter Quartile Range (IQR) = Q3 – Q1</a:t>
            </a:r>
          </a:p>
        </p:txBody>
      </p:sp>
      <p:pic>
        <p:nvPicPr>
          <p:cNvPr id="4" name="Picture 2" descr="Median, Quartiles, Percentiles (video lessons, examples, solutions)">
            <a:extLst>
              <a:ext uri="{FF2B5EF4-FFF2-40B4-BE49-F238E27FC236}">
                <a16:creationId xmlns:a16="http://schemas.microsoft.com/office/drawing/2014/main" id="{68B445D5-14A4-32DD-F3CC-8FDD2EF29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359" y="1641681"/>
            <a:ext cx="6705639" cy="3681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1096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040AD2-957E-254A-FDF0-8A30B4F08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97" y="1002387"/>
            <a:ext cx="4799264" cy="50174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A2AEB8-D93D-CA30-C827-F798BAB7E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777324" y="1418738"/>
            <a:ext cx="5017414" cy="418470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FCC9212-E2E4-F9AC-87C9-89CEE8B2E796}"/>
              </a:ext>
            </a:extLst>
          </p:cNvPr>
          <p:cNvSpPr txBox="1">
            <a:spLocks/>
          </p:cNvSpPr>
          <p:nvPr/>
        </p:nvSpPr>
        <p:spPr>
          <a:xfrm>
            <a:off x="2416629" y="217297"/>
            <a:ext cx="85376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Boxplot Representation</a:t>
            </a:r>
            <a:endParaRPr lang="en-US" sz="2800" b="1" dirty="0">
              <a:solidFill>
                <a:srgbClr val="D921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06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F3000-91C4-5E07-1766-DF7B28CF9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C8D1C-6E79-A326-B0D5-5054ECD9B959}"/>
              </a:ext>
            </a:extLst>
          </p:cNvPr>
          <p:cNvSpPr txBox="1">
            <a:spLocks/>
          </p:cNvSpPr>
          <p:nvPr/>
        </p:nvSpPr>
        <p:spPr>
          <a:xfrm>
            <a:off x="3091543" y="217297"/>
            <a:ext cx="78627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Python Implementation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B3DFFF8-A50E-37F7-2E23-14DCEA3ED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58" y="2381249"/>
            <a:ext cx="10975397" cy="229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F6D90E-F312-5AB7-1230-478413483EB7}"/>
              </a:ext>
            </a:extLst>
          </p:cNvPr>
          <p:cNvSpPr txBox="1"/>
          <p:nvPr/>
        </p:nvSpPr>
        <p:spPr>
          <a:xfrm>
            <a:off x="364672" y="1274290"/>
            <a:ext cx="11462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https://github.com/vikashkmd/DSMLNotebooks/blob/main/Data%20distribution%20skewness%20and%20kurtosis.ipynb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F473B-FC49-E500-D22B-09C657C2DCB9}"/>
              </a:ext>
            </a:extLst>
          </p:cNvPr>
          <p:cNvSpPr txBox="1"/>
          <p:nvPr/>
        </p:nvSpPr>
        <p:spPr>
          <a:xfrm>
            <a:off x="481691" y="5069466"/>
            <a:ext cx="10975397" cy="52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Aft>
                <a:spcPts val="2400"/>
              </a:spcAft>
              <a:buNone/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  <a:hlinkClick r:id="rId3"/>
              </a:rPr>
              <a:t>The Ultimate Guide to Data Distributions: Skewness, Centering, and Spread Made Simple</a:t>
            </a:r>
            <a:endParaRPr lang="en-US" b="1" i="0" dirty="0">
              <a:solidFill>
                <a:srgbClr val="242424"/>
              </a:solidFill>
              <a:effectLst/>
              <a:latin typeface="sohne"/>
            </a:endParaRPr>
          </a:p>
        </p:txBody>
      </p:sp>
    </p:spTree>
    <p:extLst>
      <p:ext uri="{BB962C8B-B14F-4D97-AF65-F5344CB8AC3E}">
        <p14:creationId xmlns:p14="http://schemas.microsoft.com/office/powerpoint/2010/main" val="1429602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F1030-9CD0-1240-3950-D8F56A05B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951A195-4346-45AB-3A24-8512E8CA2F6C}"/>
              </a:ext>
            </a:extLst>
          </p:cNvPr>
          <p:cNvSpPr txBox="1">
            <a:spLocks/>
          </p:cNvSpPr>
          <p:nvPr/>
        </p:nvSpPr>
        <p:spPr>
          <a:xfrm>
            <a:off x="2623457" y="217297"/>
            <a:ext cx="83308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Multiple Choice Questions (MCQs)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2499F90-2D5C-E4A1-6133-81CCD0A7C058}"/>
              </a:ext>
            </a:extLst>
          </p:cNvPr>
          <p:cNvSpPr txBox="1">
            <a:spLocks/>
          </p:cNvSpPr>
          <p:nvPr/>
        </p:nvSpPr>
        <p:spPr>
          <a:xfrm>
            <a:off x="438705" y="1253331"/>
            <a:ext cx="1051560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Q1:What does a right-skewed distribution indicate?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A) The majority of values are low, with a few high values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B) The majority of values are high, with a few low values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C) The data is perfectly symmetrical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D) The data has no variation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Q2:Which measure is best for skewed data?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A) Mean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B) Median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C) Mode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D) Standard deviation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6102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BD7B1-DE66-2A70-9441-A4D9EA811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CD102-CBE3-629B-0142-74A52F6CFAF2}"/>
              </a:ext>
            </a:extLst>
          </p:cNvPr>
          <p:cNvSpPr txBox="1">
            <a:spLocks/>
          </p:cNvSpPr>
          <p:nvPr/>
        </p:nvSpPr>
        <p:spPr>
          <a:xfrm>
            <a:off x="2623457" y="217297"/>
            <a:ext cx="83308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Multiple Choice Questions (MCQs)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92B598-0CC6-4AAA-C82C-6142B6241F40}"/>
              </a:ext>
            </a:extLst>
          </p:cNvPr>
          <p:cNvSpPr txBox="1">
            <a:spLocks/>
          </p:cNvSpPr>
          <p:nvPr/>
        </p:nvSpPr>
        <p:spPr>
          <a:xfrm>
            <a:off x="438705" y="1253331"/>
            <a:ext cx="1051560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Q1:What does a right-skewed distribution indicate?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A) The majority of values are low, with a few high values ✅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B) The majority of values are high, with a few low values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C) The data is perfectly symmetrical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D) The data has no variation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Q2:Which measure is best for skewed data?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A) Mean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B) Median ✅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C) Mode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D) Standard deviation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5009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05A0E-465F-8D52-D2EF-B7CD39A77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1434A7-9D62-6C94-221B-A154A699CF07}"/>
              </a:ext>
            </a:extLst>
          </p:cNvPr>
          <p:cNvSpPr txBox="1"/>
          <p:nvPr/>
        </p:nvSpPr>
        <p:spPr>
          <a:xfrm>
            <a:off x="1430829" y="1120676"/>
            <a:ext cx="92510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Q3 . What does a high positive kurtosis (leptokurtic distribution) indicate about a dataset?</a:t>
            </a:r>
          </a:p>
          <a:p>
            <a:r>
              <a:rPr lang="en-IN" dirty="0"/>
              <a:t>A) The data has lighter tails and fewer extreme outliers than a normal distribution.</a:t>
            </a:r>
          </a:p>
          <a:p>
            <a:r>
              <a:rPr lang="en-IN" dirty="0"/>
              <a:t>B) The distribution is skewed heavily to the right.</a:t>
            </a:r>
          </a:p>
          <a:p>
            <a:r>
              <a:rPr lang="en-IN" dirty="0"/>
              <a:t>C) The data has heavy tails and a higher risk of extreme outliers.</a:t>
            </a:r>
          </a:p>
          <a:p>
            <a:r>
              <a:rPr lang="en-IN" dirty="0"/>
              <a:t>D) The mean, median, and mode are all equal.</a:t>
            </a:r>
          </a:p>
        </p:txBody>
      </p:sp>
    </p:spTree>
    <p:extLst>
      <p:ext uri="{BB962C8B-B14F-4D97-AF65-F5344CB8AC3E}">
        <p14:creationId xmlns:p14="http://schemas.microsoft.com/office/powerpoint/2010/main" val="2073197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15B17E-286E-3E26-9846-C52B020DAB72}"/>
              </a:ext>
            </a:extLst>
          </p:cNvPr>
          <p:cNvSpPr txBox="1"/>
          <p:nvPr/>
        </p:nvSpPr>
        <p:spPr>
          <a:xfrm>
            <a:off x="1430829" y="1120676"/>
            <a:ext cx="92510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Q3 . What does a high positive kurtosis (leptokurtic distribution) indicate about a dataset?</a:t>
            </a:r>
          </a:p>
          <a:p>
            <a:r>
              <a:rPr lang="en-IN" dirty="0"/>
              <a:t>A) The data has lighter tails and fewer extreme outliers than a normal distribution.</a:t>
            </a:r>
          </a:p>
          <a:p>
            <a:r>
              <a:rPr lang="en-IN" dirty="0"/>
              <a:t>B) The distribution is skewed heavily to the right.</a:t>
            </a:r>
          </a:p>
          <a:p>
            <a:r>
              <a:rPr lang="en-IN" dirty="0"/>
              <a:t>C) The data has heavy tails and a higher risk of extreme outliers.</a:t>
            </a:r>
          </a:p>
          <a:p>
            <a:r>
              <a:rPr lang="en-IN" dirty="0"/>
              <a:t>D) The mean, median, and mode are all equal.</a:t>
            </a:r>
            <a:br>
              <a:rPr lang="en-IN" dirty="0"/>
            </a:br>
            <a:r>
              <a:rPr lang="en-IN" dirty="0"/>
              <a:t>Answer C)</a:t>
            </a:r>
          </a:p>
        </p:txBody>
      </p:sp>
    </p:spTree>
    <p:extLst>
      <p:ext uri="{BB962C8B-B14F-4D97-AF65-F5344CB8AC3E}">
        <p14:creationId xmlns:p14="http://schemas.microsoft.com/office/powerpoint/2010/main" val="3227469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3427EC-7186-A7AC-A581-F25BDC1874B6}"/>
              </a:ext>
            </a:extLst>
          </p:cNvPr>
          <p:cNvSpPr txBox="1"/>
          <p:nvPr/>
        </p:nvSpPr>
        <p:spPr>
          <a:xfrm>
            <a:off x="412518" y="1213488"/>
            <a:ext cx="108844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 a negatively skewed (left-skewed) distribution, which of the following relationships generally holds true?</a:t>
            </a:r>
          </a:p>
          <a:p>
            <a:r>
              <a:rPr lang="en-IN" dirty="0"/>
              <a:t>A) Mean &gt; Median &gt; Mode</a:t>
            </a:r>
          </a:p>
          <a:p>
            <a:r>
              <a:rPr lang="en-IN" dirty="0"/>
              <a:t>B) Mean &lt; Median &lt; Mode</a:t>
            </a:r>
          </a:p>
          <a:p>
            <a:r>
              <a:rPr lang="en-IN" dirty="0"/>
              <a:t>C) Mean = Median = Mode</a:t>
            </a:r>
          </a:p>
          <a:p>
            <a:r>
              <a:rPr lang="en-IN" dirty="0"/>
              <a:t>D) Median &gt; Mean &gt; Mode</a:t>
            </a:r>
          </a:p>
        </p:txBody>
      </p:sp>
    </p:spTree>
    <p:extLst>
      <p:ext uri="{BB962C8B-B14F-4D97-AF65-F5344CB8AC3E}">
        <p14:creationId xmlns:p14="http://schemas.microsoft.com/office/powerpoint/2010/main" val="5237089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9B360-1141-68AE-FA0B-D4C8B4316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3A596D-D1FE-71D0-AE8D-B16666ECC61F}"/>
              </a:ext>
            </a:extLst>
          </p:cNvPr>
          <p:cNvSpPr txBox="1"/>
          <p:nvPr/>
        </p:nvSpPr>
        <p:spPr>
          <a:xfrm>
            <a:off x="412518" y="1213488"/>
            <a:ext cx="108844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 a negatively skewed (left-skewed) distribution, which of the following relationships generally holds true?</a:t>
            </a:r>
          </a:p>
          <a:p>
            <a:r>
              <a:rPr lang="en-IN" dirty="0"/>
              <a:t>A) Mean &gt; Median &gt; Mode</a:t>
            </a:r>
          </a:p>
          <a:p>
            <a:r>
              <a:rPr lang="en-IN" dirty="0"/>
              <a:t>B) Mean &lt; Median &lt; Mode</a:t>
            </a:r>
          </a:p>
          <a:p>
            <a:r>
              <a:rPr lang="en-IN" dirty="0"/>
              <a:t>C) Mean = Median = Mode</a:t>
            </a:r>
          </a:p>
          <a:p>
            <a:r>
              <a:rPr lang="en-IN" dirty="0"/>
              <a:t>D) Median &gt; Mean &gt; Mode</a:t>
            </a:r>
          </a:p>
          <a:p>
            <a:r>
              <a:rPr lang="en-IN" dirty="0"/>
              <a:t>Answer B)</a:t>
            </a:r>
          </a:p>
        </p:txBody>
      </p:sp>
    </p:spTree>
    <p:extLst>
      <p:ext uri="{BB962C8B-B14F-4D97-AF65-F5344CB8AC3E}">
        <p14:creationId xmlns:p14="http://schemas.microsoft.com/office/powerpoint/2010/main" val="4515431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941E1C-6F60-9E64-56E9-3A7187AF9B4C}"/>
              </a:ext>
            </a:extLst>
          </p:cNvPr>
          <p:cNvSpPr txBox="1"/>
          <p:nvPr/>
        </p:nvSpPr>
        <p:spPr>
          <a:xfrm>
            <a:off x="685801" y="1414470"/>
            <a:ext cx="113053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Q. How does </a:t>
            </a:r>
            <a:r>
              <a:rPr lang="en-IN" dirty="0" err="1"/>
              <a:t>Winsorizing</a:t>
            </a:r>
            <a:r>
              <a:rPr lang="en-IN" dirty="0"/>
              <a:t> handle extreme outliers in a dataset?</a:t>
            </a:r>
          </a:p>
          <a:p>
            <a:r>
              <a:rPr lang="en-IN" dirty="0"/>
              <a:t>A) It completely deletes the outlier observations from the dataset.</a:t>
            </a:r>
          </a:p>
          <a:p>
            <a:r>
              <a:rPr lang="en-IN" dirty="0"/>
              <a:t>B) It replaces extreme values with the nearest non-outlier percentile values (e.g., 5th or 95th percentile).</a:t>
            </a:r>
          </a:p>
          <a:p>
            <a:r>
              <a:rPr lang="en-IN" dirty="0"/>
              <a:t>C) It transforms the entire dataset using a logarithmic scale.</a:t>
            </a:r>
          </a:p>
          <a:p>
            <a:r>
              <a:rPr lang="en-IN" dirty="0"/>
              <a:t>D) It replaces all missing and extreme values with the dataset mean.</a:t>
            </a:r>
          </a:p>
        </p:txBody>
      </p:sp>
    </p:spTree>
    <p:extLst>
      <p:ext uri="{BB962C8B-B14F-4D97-AF65-F5344CB8AC3E}">
        <p14:creationId xmlns:p14="http://schemas.microsoft.com/office/powerpoint/2010/main" val="1175888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6256B-C378-5B18-672F-783D69007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F53658-1628-62AF-4A5E-1D7F5505AE53}"/>
              </a:ext>
            </a:extLst>
          </p:cNvPr>
          <p:cNvSpPr txBox="1"/>
          <p:nvPr/>
        </p:nvSpPr>
        <p:spPr>
          <a:xfrm>
            <a:off x="685801" y="1414470"/>
            <a:ext cx="1130530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Q. How does </a:t>
            </a:r>
            <a:r>
              <a:rPr lang="en-IN" dirty="0" err="1"/>
              <a:t>Winsorizing</a:t>
            </a:r>
            <a:r>
              <a:rPr lang="en-IN" dirty="0"/>
              <a:t> handle extreme outliers in a dataset?</a:t>
            </a:r>
          </a:p>
          <a:p>
            <a:r>
              <a:rPr lang="en-IN" dirty="0"/>
              <a:t>A) It completely deletes the outlier observations from the dataset.</a:t>
            </a:r>
          </a:p>
          <a:p>
            <a:r>
              <a:rPr lang="en-IN" dirty="0"/>
              <a:t>B) It replaces extreme values with the nearest non-outlier percentile values (e.g., 5th or 95th percentile).</a:t>
            </a:r>
          </a:p>
          <a:p>
            <a:r>
              <a:rPr lang="en-IN" dirty="0"/>
              <a:t>C) It transforms the entire dataset using a logarithmic scale.</a:t>
            </a:r>
          </a:p>
          <a:p>
            <a:r>
              <a:rPr lang="en-IN" dirty="0"/>
              <a:t>D) It replaces all missing and extreme values with the dataset mean.</a:t>
            </a:r>
          </a:p>
          <a:p>
            <a:r>
              <a:rPr lang="en-IN" dirty="0"/>
              <a:t>Answer B)</a:t>
            </a:r>
          </a:p>
        </p:txBody>
      </p:sp>
    </p:spTree>
    <p:extLst>
      <p:ext uri="{BB962C8B-B14F-4D97-AF65-F5344CB8AC3E}">
        <p14:creationId xmlns:p14="http://schemas.microsoft.com/office/powerpoint/2010/main" val="12436547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B94991-3F43-FA74-2173-552B83F27035}"/>
              </a:ext>
            </a:extLst>
          </p:cNvPr>
          <p:cNvSpPr txBox="1"/>
          <p:nvPr/>
        </p:nvSpPr>
        <p:spPr>
          <a:xfrm>
            <a:off x="70657" y="2067020"/>
            <a:ext cx="118331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Q. How is the Interquartile Range (IQR) calculated, and why is it preferred over standard deviation for skewed data?</a:t>
            </a:r>
          </a:p>
          <a:p>
            <a:r>
              <a:rPr lang="en-IN" dirty="0"/>
              <a:t>A) IQR = Q3 - Q1; it is robust to extreme outliers.</a:t>
            </a:r>
          </a:p>
          <a:p>
            <a:r>
              <a:rPr lang="en-IN" dirty="0"/>
              <a:t>B) IQR = Q4 - Q1; it covers 100% of the dataset.</a:t>
            </a:r>
          </a:p>
          <a:p>
            <a:r>
              <a:rPr lang="en-IN" dirty="0"/>
              <a:t>C) IQR = Q3 + Q1; it measures the total variance of the sample.</a:t>
            </a:r>
          </a:p>
          <a:p>
            <a:r>
              <a:rPr lang="en-IN" dirty="0"/>
              <a:t>D) IQR = Mean - Median; it measures the symmetry of the data.</a:t>
            </a:r>
          </a:p>
        </p:txBody>
      </p:sp>
    </p:spTree>
    <p:extLst>
      <p:ext uri="{BB962C8B-B14F-4D97-AF65-F5344CB8AC3E}">
        <p14:creationId xmlns:p14="http://schemas.microsoft.com/office/powerpoint/2010/main" val="40227992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67F2D-C048-4706-E008-CB85DBF11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30B1AA-BD95-89DC-23B9-2EA6FA88D84C}"/>
              </a:ext>
            </a:extLst>
          </p:cNvPr>
          <p:cNvSpPr txBox="1"/>
          <p:nvPr/>
        </p:nvSpPr>
        <p:spPr>
          <a:xfrm>
            <a:off x="70657" y="2067020"/>
            <a:ext cx="118331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Q. How is the Interquartile Range (IQR) calculated, and why is it preferred over standard deviation for skewed data?</a:t>
            </a:r>
          </a:p>
          <a:p>
            <a:r>
              <a:rPr lang="en-IN" dirty="0"/>
              <a:t>A) IQR = Q3 - Q1; it is robust to extreme outliers.</a:t>
            </a:r>
          </a:p>
          <a:p>
            <a:r>
              <a:rPr lang="en-IN" dirty="0"/>
              <a:t>B) IQR = Q4 - Q1; it covers 100% of the dataset.</a:t>
            </a:r>
          </a:p>
          <a:p>
            <a:r>
              <a:rPr lang="en-IN" dirty="0"/>
              <a:t>C) IQR = Q3 + Q1; it measures the total variance of the sample.</a:t>
            </a:r>
          </a:p>
          <a:p>
            <a:r>
              <a:rPr lang="en-IN" dirty="0"/>
              <a:t>D) IQR = Mean - Median; it measures the symmetry of the data.</a:t>
            </a:r>
          </a:p>
          <a:p>
            <a:r>
              <a:rPr lang="en-IN"/>
              <a:t>Answer A)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83967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DF0B0-7767-AA56-DFF6-C3A4D65FD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3A2E85B-1385-C44B-BD1D-35204EB970D3}"/>
              </a:ext>
            </a:extLst>
          </p:cNvPr>
          <p:cNvSpPr txBox="1">
            <a:spLocks/>
          </p:cNvSpPr>
          <p:nvPr/>
        </p:nvSpPr>
        <p:spPr>
          <a:xfrm>
            <a:off x="2841171" y="217297"/>
            <a:ext cx="81131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Fill in the blanks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C3B9297-E107-3D58-DC7C-85481C9B9F50}"/>
              </a:ext>
            </a:extLst>
          </p:cNvPr>
          <p:cNvSpPr txBox="1">
            <a:spLocks/>
          </p:cNvSpPr>
          <p:nvPr/>
        </p:nvSpPr>
        <p:spPr>
          <a:xfrm>
            <a:off x="598714" y="1455510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1. ______ measures the asymmetry of a data distribution.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2. The ______ rule states that 95% of data falls within 2 standard deviations of the mean in a normal distribution.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3. If the tails of a distribution are heavier than normal, it is called ______ kurtosis.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855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926B2-E02B-7B57-2FB9-DD7FBDF14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20ABF14-55E6-560D-E9CE-6D38C4E65F93}"/>
              </a:ext>
            </a:extLst>
          </p:cNvPr>
          <p:cNvSpPr txBox="1">
            <a:spLocks/>
          </p:cNvSpPr>
          <p:nvPr/>
        </p:nvSpPr>
        <p:spPr>
          <a:xfrm>
            <a:off x="2841171" y="217297"/>
            <a:ext cx="81131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D9212B"/>
                </a:solidFill>
                <a:effectLst/>
                <a:uLnTx/>
                <a:uFillTx/>
                <a:latin typeface="Avenir Next LT Pro" panose="020B0504020202020204" pitchFamily="34" charset="0"/>
                <a:ea typeface="+mj-ea"/>
                <a:cs typeface="Arial" pitchFamily="34" charset="0"/>
              </a:rPr>
              <a:t>Fill in the blanks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D9212B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2FDE5CB-31B4-5FA5-1794-C7C59BD1BD81}"/>
              </a:ext>
            </a:extLst>
          </p:cNvPr>
          <p:cNvSpPr txBox="1">
            <a:spLocks/>
          </p:cNvSpPr>
          <p:nvPr/>
        </p:nvSpPr>
        <p:spPr>
          <a:xfrm>
            <a:off x="598714" y="1455510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1. ______ measures the asymmetry of a data distribution. (Answer: Skewness)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2. The ______ rule states that 95% of data falls within 2 standard deviations of the mean in a normal distribution. (Answer: 68-95-99.7 Rule)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3. If the tails of a distribution are heavier than normal, it is called ______ kurtosis. (Answer: Leptokurtic)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1576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58974-99FB-3720-754B-A84E5788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41BF9BA-6723-0FB9-52FA-08701D972DCC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9212B"/>
                </a:solidFill>
                <a:effectLst/>
                <a:uLnTx/>
                <a:uFillTx/>
                <a:latin typeface="Avenir Next LT Pro" panose="020B0504020202020204" pitchFamily="34" charset="0"/>
                <a:ea typeface="+mj-ea"/>
                <a:cs typeface="Arial" pitchFamily="34" charset="0"/>
              </a:rPr>
              <a:t>Session Summary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D9212B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BE93AF-E7B5-D045-8429-AD60E786E755}"/>
              </a:ext>
            </a:extLst>
          </p:cNvPr>
          <p:cNvSpPr txBox="1"/>
          <p:nvPr/>
        </p:nvSpPr>
        <p:spPr>
          <a:xfrm>
            <a:off x="1218460" y="2305520"/>
            <a:ext cx="6147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itchFamily="34" charset="0"/>
              </a:rPr>
              <a:t>In this session, we have discussed about: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212D590-95D7-A4F2-8692-75ED93F35717}"/>
              </a:ext>
            </a:extLst>
          </p:cNvPr>
          <p:cNvSpPr txBox="1">
            <a:spLocks/>
          </p:cNvSpPr>
          <p:nvPr/>
        </p:nvSpPr>
        <p:spPr>
          <a:xfrm>
            <a:off x="1115204" y="2830286"/>
            <a:ext cx="10717567" cy="329837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Understand the concept of data distributions</a:t>
            </a:r>
          </a:p>
          <a:p>
            <a:r>
              <a:rPr lang="en-US"/>
              <a:t>Learn about skewness and kurtosis</a:t>
            </a:r>
          </a:p>
          <a:p>
            <a:r>
              <a:rPr lang="en-US"/>
              <a:t>Explore measures of central tendency</a:t>
            </a:r>
          </a:p>
          <a:p>
            <a:r>
              <a:rPr lang="en-US"/>
              <a:t>Apply Python code for calculating skewness and kurtosis</a:t>
            </a:r>
          </a:p>
          <a:p>
            <a:r>
              <a:rPr lang="en-US"/>
              <a:t>Test your knowledge with quizzes and MCQs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3594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59546-DE86-A91D-D6C0-4DC694BE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FE865F2-B3CB-A157-5545-C09B44282D58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Reference Links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C8C176-D24E-C86B-ACBC-07DDEB6A5C84}"/>
              </a:ext>
            </a:extLst>
          </p:cNvPr>
          <p:cNvSpPr txBox="1"/>
          <p:nvPr/>
        </p:nvSpPr>
        <p:spPr>
          <a:xfrm>
            <a:off x="1197059" y="856357"/>
            <a:ext cx="999382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hlinkClick r:id="rId2"/>
              </a:rPr>
              <a:t>Python notebook</a:t>
            </a: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42424"/>
                </a:solidFill>
                <a:latin typeface="sohne"/>
                <a:hlinkClick r:id="rId3"/>
              </a:rPr>
              <a:t>The Ultimate Guide to Data Distributions: Skewness, Centering, and Spread Made Simple</a:t>
            </a:r>
            <a:endParaRPr lang="en-US" sz="2400" dirty="0">
              <a:solidFill>
                <a:srgbClr val="242424"/>
              </a:solidFill>
              <a:latin typeface="sohne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hlinkClick r:id="rId4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hlinkClick r:id="rId4"/>
              </a:rPr>
              <a:t>How to Create Stunning Data Visualizations in Python: Top 10 Techniques to Learn</a:t>
            </a: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hlinkClick r:id="rId5"/>
              </a:rPr>
              <a:t>Mastering Credit Risk Analysis: A Step-by-Step Guide to Descriptive Statistics in Python</a:t>
            </a:r>
            <a:endParaRPr lang="en-US" sz="2400" dirty="0"/>
          </a:p>
          <a:p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>
                <a:hlinkClick r:id="rId6"/>
              </a:rPr>
              <a:t>Phases of data science and analytics.</a:t>
            </a:r>
            <a:endParaRPr lang="en-US" sz="2400" dirty="0"/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41708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</TotalTime>
  <Words>1622</Words>
  <Application>Microsoft Office PowerPoint</Application>
  <PresentationFormat>Widescreen</PresentationFormat>
  <Paragraphs>185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Aptos</vt:lpstr>
      <vt:lpstr>Aptos Display</vt:lpstr>
      <vt:lpstr>Arial</vt:lpstr>
      <vt:lpstr>Avenir Next LT Pro</vt:lpstr>
      <vt:lpstr>Calibri</vt:lpstr>
      <vt:lpstr>Montserrat SemiBold</vt:lpstr>
      <vt:lpstr>sohne</vt:lpstr>
      <vt:lpstr>source-serif-pro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idol</dc:creator>
  <cp:lastModifiedBy>Mohamed Ali</cp:lastModifiedBy>
  <cp:revision>63</cp:revision>
  <dcterms:created xsi:type="dcterms:W3CDTF">2025-07-09T10:39:06Z</dcterms:created>
  <dcterms:modified xsi:type="dcterms:W3CDTF">2026-10-28T12:15:20Z</dcterms:modified>
</cp:coreProperties>
</file>