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324" r:id="rId5"/>
    <p:sldId id="290" r:id="rId6"/>
    <p:sldId id="310" r:id="rId7"/>
    <p:sldId id="311" r:id="rId8"/>
    <p:sldId id="332" r:id="rId9"/>
    <p:sldId id="325" r:id="rId10"/>
    <p:sldId id="271" r:id="rId11"/>
    <p:sldId id="326" r:id="rId12"/>
    <p:sldId id="327" r:id="rId13"/>
    <p:sldId id="284" r:id="rId14"/>
    <p:sldId id="333" r:id="rId15"/>
    <p:sldId id="296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420" y="36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vikashsinghy2k/10-must-know-probability-concepts-for-every-aspiring-statistician-and-data-scientist-66a5b48cacec" TargetMode="External"/><Relationship Id="rId2" Type="http://schemas.openxmlformats.org/officeDocument/2006/relationships/hyperlink" Target="https://medium.com/@vikashsinghy2k/complete-guide-to-sampling-methods-random-stratified-systematic-and-cluster-sampling-with-f81eeb07676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10-must-know-statistics-interview-questions-with-real-examples-formulas-0b1118f5eb10" TargetMode="External"/><Relationship Id="rId5" Type="http://schemas.openxmlformats.org/officeDocument/2006/relationships/hyperlink" Target="https://medium.com/@vikashsinghy2k/top-20-interview-questions-on-descriptive-and-inferential-statistics-b9ce9da9b1f9" TargetMode="External"/><Relationship Id="rId4" Type="http://schemas.openxmlformats.org/officeDocument/2006/relationships/hyperlink" Target="https://medium.com/@vikashsinghy2k/analyzing-loan-data-with-binomial-and-poisson-distributions-in-python-404bbede0af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Types of sampling methods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743A53-DABB-AADC-7E07-03CBE49A4DDE}"/>
              </a:ext>
            </a:extLst>
          </p:cNvPr>
          <p:cNvSpPr txBox="1">
            <a:spLocks/>
          </p:cNvSpPr>
          <p:nvPr/>
        </p:nvSpPr>
        <p:spPr>
          <a:xfrm>
            <a:off x="859972" y="2828771"/>
            <a:ext cx="10515600" cy="29188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the concept of sampling.</a:t>
            </a:r>
          </a:p>
          <a:p>
            <a:r>
              <a:rPr lang="en-US" dirty="0"/>
              <a:t>Understand different types of sampling and their use case.</a:t>
            </a:r>
          </a:p>
          <a:p>
            <a:r>
              <a:rPr lang="en-US" dirty="0"/>
              <a:t>Implementation of sampling techniques in Python!</a:t>
            </a: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C9FC-48B5-D5B0-E700-34641E0AF77C}"/>
              </a:ext>
            </a:extLst>
          </p:cNvPr>
          <p:cNvSpPr txBox="1">
            <a:spLocks/>
          </p:cNvSpPr>
          <p:nvPr/>
        </p:nvSpPr>
        <p:spPr>
          <a:xfrm>
            <a:off x="3635829" y="217297"/>
            <a:ext cx="73184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Sampling?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77C3B-B767-2964-A2E9-F82989D9526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9612086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Selecting a subset from a larger population.</a:t>
            </a:r>
          </a:p>
          <a:p>
            <a:endParaRPr lang="en-US" sz="3600"/>
          </a:p>
          <a:p>
            <a:r>
              <a:rPr lang="en-US" sz="3600"/>
              <a:t>Saves time, cost</a:t>
            </a:r>
          </a:p>
          <a:p>
            <a:endParaRPr lang="en-US" sz="3600"/>
          </a:p>
          <a:p>
            <a:r>
              <a:rPr lang="en-US" sz="3600"/>
              <a:t>Enables conclusions.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C753-9842-2EC4-0BC8-2DAA95A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3DCF42-9D88-245B-9660-B24F0CC56A5C}"/>
              </a:ext>
            </a:extLst>
          </p:cNvPr>
          <p:cNvSpPr txBox="1">
            <a:spLocks/>
          </p:cNvSpPr>
          <p:nvPr/>
        </p:nvSpPr>
        <p:spPr>
          <a:xfrm>
            <a:off x="3516085" y="217297"/>
            <a:ext cx="743821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Why is Sampling Important?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709D20-9A79-3AE6-3BAA-3528A876EF0F}"/>
              </a:ext>
            </a:extLst>
          </p:cNvPr>
          <p:cNvSpPr txBox="1">
            <a:spLocks/>
          </p:cNvSpPr>
          <p:nvPr/>
        </p:nvSpPr>
        <p:spPr>
          <a:xfrm>
            <a:off x="304800" y="1328057"/>
            <a:ext cx="1104900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/>
              <a:t>✅ Populations too large to fully study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/>
              <a:t>✅ Reduces effort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/>
              <a:t>✅ Provides valid results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1619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BE53A42-E687-9A3E-498E-107739DAEA52}"/>
              </a:ext>
            </a:extLst>
          </p:cNvPr>
          <p:cNvSpPr txBox="1">
            <a:spLocks/>
          </p:cNvSpPr>
          <p:nvPr/>
        </p:nvSpPr>
        <p:spPr>
          <a:xfrm>
            <a:off x="3004457" y="217297"/>
            <a:ext cx="79498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Random Sampling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70BA79E-5D91-9260-8297-564B050F665E}"/>
              </a:ext>
            </a:extLst>
          </p:cNvPr>
          <p:cNvSpPr txBox="1">
            <a:spLocks/>
          </p:cNvSpPr>
          <p:nvPr/>
        </p:nvSpPr>
        <p:spPr>
          <a:xfrm>
            <a:off x="438706" y="1383726"/>
            <a:ext cx="10515599" cy="46469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Each member has equal chance.</a:t>
            </a:r>
          </a:p>
          <a:p>
            <a:endParaRPr lang="en-US" sz="3600"/>
          </a:p>
          <a:p>
            <a:r>
              <a:rPr lang="en-US" sz="3600"/>
              <a:t>Simple Random Sampling is used when you want a straightforward and fair representation of the entire population.</a:t>
            </a:r>
          </a:p>
          <a:p>
            <a:endParaRPr lang="en-US" sz="3600"/>
          </a:p>
          <a:p>
            <a:r>
              <a:rPr lang="en-US" sz="3600">
                <a:latin typeface="system-ui"/>
              </a:rPr>
              <a:t>Randomly picking 10 passengers from 100 Titanic passengers. Each has a 10% chance of being selected.</a:t>
            </a:r>
            <a:endParaRPr lang="en-US" sz="3600"/>
          </a:p>
          <a:p>
            <a:pPr marL="0" indent="0">
              <a:buFont typeface="Arial" panose="020B0604020202020204" pitchFamily="34" charset="0"/>
              <a:buNone/>
            </a:pPr>
            <a:endParaRPr lang="en-US" sz="3600"/>
          </a:p>
          <a:p>
            <a:pPr marL="0" indent="0">
              <a:buFont typeface="Arial" panose="020B0604020202020204" pitchFamily="34" charset="0"/>
              <a:buNone/>
            </a:pP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F58CF-7BBF-81D4-C21E-E438F5874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163" y="3821506"/>
            <a:ext cx="4399879" cy="97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3407-6E04-1AC7-082F-6150AD675C2D}"/>
              </a:ext>
            </a:extLst>
          </p:cNvPr>
          <p:cNvSpPr txBox="1">
            <a:spLocks/>
          </p:cNvSpPr>
          <p:nvPr/>
        </p:nvSpPr>
        <p:spPr>
          <a:xfrm>
            <a:off x="4223657" y="217297"/>
            <a:ext cx="67306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Stratified Sampling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A141D-8755-94A2-2E2F-65415B295F33}"/>
              </a:ext>
            </a:extLst>
          </p:cNvPr>
          <p:cNvSpPr txBox="1"/>
          <p:nvPr/>
        </p:nvSpPr>
        <p:spPr>
          <a:xfrm>
            <a:off x="348343" y="1554607"/>
            <a:ext cx="10874828" cy="2880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In </a:t>
            </a: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stratified sampling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, the population is </a:t>
            </a: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ü"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divided into groups (strata)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 </a:t>
            </a: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ü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based on an important characteristic (like gender), and </a:t>
            </a:r>
          </a:p>
          <a:p>
            <a:pPr marL="800100" lvl="1" indent="-342900">
              <a:lnSpc>
                <a:spcPts val="2400"/>
              </a:lnSpc>
              <a:buFont typeface="Wingdings" panose="05000000000000000000" pitchFamily="2" charset="2"/>
              <a:buChar char="ü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then </a:t>
            </a: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samples are drawn proportionally from each group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This ensures your sample </a:t>
            </a: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respects the structure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 of the population.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42424"/>
              </a:solidFill>
              <a:latin typeface="source-serif-pro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Formula: (stratum size / population size) × sample size.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119090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EC4A-C9C7-48E0-E75D-F994F629DA1D}"/>
              </a:ext>
            </a:extLst>
          </p:cNvPr>
          <p:cNvSpPr txBox="1">
            <a:spLocks/>
          </p:cNvSpPr>
          <p:nvPr/>
        </p:nvSpPr>
        <p:spPr>
          <a:xfrm>
            <a:off x="3842657" y="217297"/>
            <a:ext cx="71116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Stratified Sampling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A5EEC-D56D-9329-6649-E7938C529F01}"/>
              </a:ext>
            </a:extLst>
          </p:cNvPr>
          <p:cNvSpPr txBox="1"/>
          <p:nvPr/>
        </p:nvSpPr>
        <p:spPr>
          <a:xfrm>
            <a:off x="348343" y="1554607"/>
            <a:ext cx="10874828" cy="1341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/>
              <a:t>A college has 800 students: 600 UG, 200 PG.</a:t>
            </a:r>
            <a:br>
              <a:rPr lang="en-US" sz="2800" dirty="0"/>
            </a:br>
            <a:endParaRPr lang="en-US" sz="2800" dirty="0"/>
          </a:p>
          <a:p>
            <a:pPr marR="0" lvl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/>
              <a:t>You want to sample 100 students using stratified sampling technique. How many students from UG and PG will be in your sample?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source-serif-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79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AB34-3C51-63D0-D104-2376DF12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DA5A-FE29-42FE-6547-2F492F32D555}"/>
              </a:ext>
            </a:extLst>
          </p:cNvPr>
          <p:cNvSpPr txBox="1">
            <a:spLocks/>
          </p:cNvSpPr>
          <p:nvPr/>
        </p:nvSpPr>
        <p:spPr>
          <a:xfrm>
            <a:off x="3842657" y="217297"/>
            <a:ext cx="7111648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Stratified Sampling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6D349-0102-6CB6-3543-42F50BCB9258}"/>
              </a:ext>
            </a:extLst>
          </p:cNvPr>
          <p:cNvSpPr txBox="1"/>
          <p:nvPr/>
        </p:nvSpPr>
        <p:spPr>
          <a:xfrm>
            <a:off x="348343" y="1554607"/>
            <a:ext cx="10874828" cy="1341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/>
              <a:t>A college has 800 students: 600 UG, 200 PG.</a:t>
            </a:r>
            <a:br>
              <a:rPr lang="en-US" sz="2800" dirty="0"/>
            </a:br>
            <a:endParaRPr lang="en-US" sz="2800" dirty="0"/>
          </a:p>
          <a:p>
            <a:pPr marR="0" lvl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/>
              <a:t>You want to sample 100 students using stratified sampling technique. How many students from UG and PG will be in your sample?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source-serif-pr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B2DED-7EB8-A586-A0B6-D620521DE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183" y="3047112"/>
            <a:ext cx="6940759" cy="329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9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0808-5349-5F51-787F-96F0B403F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0C2F5B-A83F-3282-4D13-84B22AEFC1FF}"/>
              </a:ext>
            </a:extLst>
          </p:cNvPr>
          <p:cNvSpPr txBox="1">
            <a:spLocks/>
          </p:cNvSpPr>
          <p:nvPr/>
        </p:nvSpPr>
        <p:spPr>
          <a:xfrm>
            <a:off x="4310743" y="217297"/>
            <a:ext cx="6643562" cy="688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Systematic Sampling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510C5C-6805-C2A9-769C-089E38CED078}"/>
              </a:ext>
            </a:extLst>
          </p:cNvPr>
          <p:cNvSpPr txBox="1">
            <a:spLocks/>
          </p:cNvSpPr>
          <p:nvPr/>
        </p:nvSpPr>
        <p:spPr>
          <a:xfrm>
            <a:off x="489857" y="1166018"/>
            <a:ext cx="11571514" cy="452596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>
                <a:solidFill>
                  <a:srgbClr val="242424"/>
                </a:solidFill>
                <a:latin typeface="source-serif-pro"/>
              </a:rPr>
              <a:t>In </a:t>
            </a:r>
            <a:r>
              <a:rPr lang="en-US" sz="3200" b="1">
                <a:solidFill>
                  <a:srgbClr val="242424"/>
                </a:solidFill>
                <a:latin typeface="source-serif-pro"/>
              </a:rPr>
              <a:t>systematic sampling</a:t>
            </a:r>
            <a:r>
              <a:rPr lang="en-US" sz="3200">
                <a:solidFill>
                  <a:srgbClr val="242424"/>
                </a:solidFill>
                <a:latin typeface="source-serif-pro"/>
              </a:rPr>
              <a:t>, you </a:t>
            </a:r>
            <a:r>
              <a:rPr lang="en-US" sz="3200" b="1">
                <a:solidFill>
                  <a:srgbClr val="242424"/>
                </a:solidFill>
                <a:latin typeface="source-serif-pro"/>
              </a:rPr>
              <a:t>select every k-th item</a:t>
            </a:r>
            <a:r>
              <a:rPr lang="en-US" sz="3200">
                <a:solidFill>
                  <a:srgbClr val="242424"/>
                </a:solidFill>
                <a:latin typeface="source-serif-pro"/>
              </a:rPr>
              <a:t> from an ordered list.</a:t>
            </a:r>
          </a:p>
          <a:p>
            <a:endParaRPr lang="en-US" sz="3200">
              <a:solidFill>
                <a:srgbClr val="242424"/>
              </a:solidFill>
              <a:latin typeface="source-serif-pro"/>
            </a:endParaRPr>
          </a:p>
          <a:p>
            <a:r>
              <a:rPr lang="en-US" sz="3200">
                <a:solidFill>
                  <a:srgbClr val="242424"/>
                </a:solidFill>
                <a:latin typeface="source-serif-pro"/>
              </a:rPr>
              <a:t>It’s simple, fast, and effective when your data is organized.</a:t>
            </a:r>
          </a:p>
          <a:p>
            <a:endParaRPr lang="en-US" sz="3200"/>
          </a:p>
          <a:p>
            <a:r>
              <a:rPr lang="en-US" sz="3200"/>
              <a:t>Select every k-th element.</a:t>
            </a:r>
          </a:p>
          <a:p>
            <a:endParaRPr lang="en-US" sz="3200"/>
          </a:p>
          <a:p>
            <a:r>
              <a:rPr lang="en-US" sz="3200"/>
              <a:t>Formula: k = N / n</a:t>
            </a:r>
          </a:p>
          <a:p>
            <a:endParaRPr lang="en-US" sz="3200"/>
          </a:p>
          <a:p>
            <a:r>
              <a:rPr lang="en-US" sz="3200"/>
              <a:t>Example: Survey every 10th customer entering a store.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4876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51C7-A0B6-9B29-101C-5F412A30075C}"/>
              </a:ext>
            </a:extLst>
          </p:cNvPr>
          <p:cNvSpPr txBox="1">
            <a:spLocks/>
          </p:cNvSpPr>
          <p:nvPr/>
        </p:nvSpPr>
        <p:spPr>
          <a:xfrm>
            <a:off x="3298371" y="217297"/>
            <a:ext cx="76559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Cluster Sampling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655ECC-482E-3EE0-2AEA-53BB35F64AF2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929257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Divide into clusters.</a:t>
            </a:r>
          </a:p>
          <a:p>
            <a:r>
              <a:rPr lang="en-US"/>
              <a:t>Randomly select whole clusters.</a:t>
            </a:r>
          </a:p>
          <a:p>
            <a:r>
              <a:rPr lang="en-US"/>
              <a:t>Example: Randomly selecting 2 out of 5 schools and surveying </a:t>
            </a:r>
            <a:r>
              <a:rPr lang="en-US" b="1"/>
              <a:t>all students</a:t>
            </a:r>
            <a:r>
              <a:rPr lang="en-US"/>
              <a:t> inside.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12CD-D3EA-60EF-3242-FFB812F4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11FE337-3B8E-E85A-E490-AA473845934F}"/>
              </a:ext>
            </a:extLst>
          </p:cNvPr>
          <p:cNvSpPr txBox="1">
            <a:spLocks/>
          </p:cNvSpPr>
          <p:nvPr/>
        </p:nvSpPr>
        <p:spPr>
          <a:xfrm>
            <a:off x="4419599" y="217297"/>
            <a:ext cx="6534705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Comparison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C5B897F-27DA-2882-B170-DE14DAC2A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9" y="1609045"/>
            <a:ext cx="10557362" cy="326775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28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D1B8F-0D89-70B8-72C9-DBE5FB4C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BB6C05A-3CA1-D9C0-4821-240963569294}"/>
              </a:ext>
            </a:extLst>
          </p:cNvPr>
          <p:cNvSpPr txBox="1">
            <a:spLocks/>
          </p:cNvSpPr>
          <p:nvPr/>
        </p:nvSpPr>
        <p:spPr>
          <a:xfrm>
            <a:off x="2471056" y="2050508"/>
            <a:ext cx="7808334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Python Implementation</a:t>
            </a:r>
            <a:endParaRPr lang="en-US" sz="2800" b="1" dirty="0">
              <a:solidFill>
                <a:srgbClr val="D921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748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DC06-B984-20FD-3494-E98BE570666B}"/>
              </a:ext>
            </a:extLst>
          </p:cNvPr>
          <p:cNvSpPr txBox="1">
            <a:spLocks/>
          </p:cNvSpPr>
          <p:nvPr/>
        </p:nvSpPr>
        <p:spPr>
          <a:xfrm>
            <a:off x="3701143" y="217297"/>
            <a:ext cx="72531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F8C272-E65C-7685-A3FD-61E7ADA1EABF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853057" cy="23404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1. Which sampling ensures proportional representation?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Random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B) Stratified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C) Cluster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342991-39A8-B885-892A-9E510C1B4AA2}"/>
              </a:ext>
            </a:extLst>
          </p:cNvPr>
          <p:cNvSpPr txBox="1">
            <a:spLocks/>
          </p:cNvSpPr>
          <p:nvPr/>
        </p:nvSpPr>
        <p:spPr>
          <a:xfrm>
            <a:off x="457199" y="3940629"/>
            <a:ext cx="8229600" cy="246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2. Which method selects every k-</a:t>
            </a:r>
            <a:r>
              <a:rPr lang="en-US" dirty="0" err="1"/>
              <a:t>th</a:t>
            </a:r>
            <a:r>
              <a:rPr lang="en-US" dirty="0"/>
              <a:t> item?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A) Random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B) Systematic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C) Cluster</a:t>
            </a:r>
          </a:p>
        </p:txBody>
      </p:sp>
    </p:spTree>
    <p:extLst>
      <p:ext uri="{BB962C8B-B14F-4D97-AF65-F5344CB8AC3E}">
        <p14:creationId xmlns:p14="http://schemas.microsoft.com/office/powerpoint/2010/main" val="846678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C5C9C-77C4-7D4E-F3F4-850613B7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6C09C-2B28-A84C-A126-924B85275BF2}"/>
              </a:ext>
            </a:extLst>
          </p:cNvPr>
          <p:cNvSpPr txBox="1">
            <a:spLocks/>
          </p:cNvSpPr>
          <p:nvPr/>
        </p:nvSpPr>
        <p:spPr>
          <a:xfrm>
            <a:off x="3701143" y="217297"/>
            <a:ext cx="725316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EEB0A-5061-9B59-3628-D9FE57602F77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0853057" cy="23404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Which sampling ensures proportional representation?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A) Random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B) Stratified ✅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C) Cluster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9FD88C-2953-B61A-C941-CDC303F0FC4C}"/>
              </a:ext>
            </a:extLst>
          </p:cNvPr>
          <p:cNvSpPr txBox="1">
            <a:spLocks/>
          </p:cNvSpPr>
          <p:nvPr/>
        </p:nvSpPr>
        <p:spPr>
          <a:xfrm>
            <a:off x="457199" y="3940629"/>
            <a:ext cx="8229600" cy="246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Which method selects every k-th item?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Random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Systematic ✅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 Cluster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1852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8974-99FB-3720-754B-A84E5788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1BF9BA-6723-0FB9-52FA-08701D972DC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9212B"/>
                </a:solidFill>
                <a:effectLst/>
                <a:uLnTx/>
                <a:uFillTx/>
                <a:latin typeface="Avenir Next LT Pro" panose="020B0504020202020204" pitchFamily="34" charset="0"/>
                <a:ea typeface="+mj-ea"/>
                <a:cs typeface="Arial" pitchFamily="34" charset="0"/>
              </a:rPr>
              <a:t>Session Summary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D9212B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E93AF-E7B5-D045-8429-AD60E786E755}"/>
              </a:ext>
            </a:extLst>
          </p:cNvPr>
          <p:cNvSpPr txBox="1"/>
          <p:nvPr/>
        </p:nvSpPr>
        <p:spPr>
          <a:xfrm>
            <a:off x="1218460" y="2305520"/>
            <a:ext cx="8916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9877B6-B575-5552-669B-AE83DCCBAF2B}"/>
              </a:ext>
            </a:extLst>
          </p:cNvPr>
          <p:cNvSpPr txBox="1">
            <a:spLocks/>
          </p:cNvSpPr>
          <p:nvPr/>
        </p:nvSpPr>
        <p:spPr>
          <a:xfrm>
            <a:off x="859972" y="2828771"/>
            <a:ext cx="10515600" cy="29188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the concept of sampling.</a:t>
            </a:r>
          </a:p>
          <a:p>
            <a:r>
              <a:rPr lang="en-US" dirty="0"/>
              <a:t>Understand different types of sampling and their use case.</a:t>
            </a:r>
          </a:p>
          <a:p>
            <a:r>
              <a:rPr lang="en-US" dirty="0"/>
              <a:t>Implementation of sampling techniques in Python!</a:t>
            </a:r>
          </a:p>
        </p:txBody>
      </p:sp>
    </p:spTree>
    <p:extLst>
      <p:ext uri="{BB962C8B-B14F-4D97-AF65-F5344CB8AC3E}">
        <p14:creationId xmlns:p14="http://schemas.microsoft.com/office/powerpoint/2010/main" val="2796359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59546-DE86-A91D-D6C0-4DC694BE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E865F2-B3CB-A157-5545-C09B44282D5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448FF5-C12F-7CD4-DA8D-FBF82FEE1569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968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2"/>
              </a:rPr>
              <a:t>Complete Guide to Sampling Methods: Random, Stratified, Systematic, and Cluster Sampling with Python Examples</a:t>
            </a:r>
            <a:endParaRPr lang="en-US" dirty="0"/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4"/>
              </a:rPr>
              <a:t>Analyzing loan data with binomial and </a:t>
            </a:r>
            <a:r>
              <a:rPr lang="en-US" dirty="0" err="1">
                <a:hlinkClick r:id="rId4"/>
              </a:rPr>
              <a:t>poisson</a:t>
            </a:r>
            <a:r>
              <a:rPr lang="en-US" dirty="0">
                <a:hlinkClick r:id="rId4"/>
              </a:rPr>
              <a:t> distribution</a:t>
            </a:r>
            <a:endParaRPr lang="en-US" dirty="0"/>
          </a:p>
          <a:p>
            <a:pPr marL="0" indent="0">
              <a:buNone/>
            </a:pPr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10 Must-Know Probability Concepts for Every Aspiring Statistician and Data Scientist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Top 20 Interview Questions on Descriptive and Inferential Statistics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10 Must-Know Statistics Interview Questions (With Real Examples &amp; Formulas!)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08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509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Arial</vt:lpstr>
      <vt:lpstr>Avenir Next LT Pro</vt:lpstr>
      <vt:lpstr>Calibri</vt:lpstr>
      <vt:lpstr>Montserrat SemiBold</vt:lpstr>
      <vt:lpstr>source-serif-pro</vt:lpstr>
      <vt:lpstr>system-ui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88</cp:revision>
  <dcterms:created xsi:type="dcterms:W3CDTF">2025-07-09T10:39:06Z</dcterms:created>
  <dcterms:modified xsi:type="dcterms:W3CDTF">2026-10-28T11:36:03Z</dcterms:modified>
</cp:coreProperties>
</file>