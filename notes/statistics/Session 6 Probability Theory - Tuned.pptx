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02" r:id="rId4"/>
    <p:sldId id="290" r:id="rId5"/>
    <p:sldId id="310" r:id="rId6"/>
    <p:sldId id="311" r:id="rId7"/>
    <p:sldId id="271" r:id="rId8"/>
    <p:sldId id="284" r:id="rId9"/>
    <p:sldId id="312" r:id="rId10"/>
    <p:sldId id="313" r:id="rId11"/>
    <p:sldId id="314" r:id="rId12"/>
    <p:sldId id="282" r:id="rId13"/>
    <p:sldId id="298" r:id="rId14"/>
    <p:sldId id="303" r:id="rId15"/>
    <p:sldId id="315" r:id="rId16"/>
    <p:sldId id="304" r:id="rId17"/>
    <p:sldId id="316" r:id="rId18"/>
    <p:sldId id="322" r:id="rId19"/>
    <p:sldId id="323" r:id="rId20"/>
    <p:sldId id="305" r:id="rId21"/>
    <p:sldId id="317" r:id="rId22"/>
    <p:sldId id="318" r:id="rId23"/>
    <p:sldId id="319" r:id="rId24"/>
    <p:sldId id="320" r:id="rId25"/>
    <p:sldId id="285" r:id="rId26"/>
    <p:sldId id="286" r:id="rId27"/>
    <p:sldId id="321" r:id="rId28"/>
    <p:sldId id="300" r:id="rId29"/>
    <p:sldId id="291" r:id="rId30"/>
    <p:sldId id="293" r:id="rId31"/>
    <p:sldId id="296" r:id="rId32"/>
    <p:sldId id="295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66" userDrawn="1">
          <p15:clr>
            <a:srgbClr val="A4A3A4"/>
          </p15:clr>
        </p15:guide>
        <p15:guide id="4" pos="75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3271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228" y="48"/>
      </p:cViewPr>
      <p:guideLst>
        <p:guide orient="horz" pos="2160"/>
        <p:guide pos="3840"/>
        <p:guide pos="166"/>
        <p:guide pos="75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8CAB6-0A18-B12A-06A5-CFD0B0666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51E932-87D4-E4A3-5EC5-FD37D2ADBA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61194-F8BE-C949-EFCA-00EE7F86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34BE2-760E-FA63-F53E-6EC6D65C1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19652-B072-95C3-666A-824B223F0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103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362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55807-6537-7A6D-A641-B2A17376E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B0403-42FF-1C59-1D5B-32C3D7622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86C83-3353-0411-EE9B-3502DB3E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F388B-76FB-C020-4F27-4E8F47369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13B55-0C9D-95FE-DE57-76D9CAC5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862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0200A-4353-C353-E184-88D52DAD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E2DB6-9BB8-38D4-16CA-0544ED95B0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55387-24D0-58FA-83A3-7DE9457A8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92733-6AE7-EB0F-FA3B-AF5CDFCC8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F2C6F-7464-367E-E3F8-97DC8C8F3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16EA2-7E56-7BA3-2439-E543C4160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239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5A9EF-5440-6E76-FF73-0CF065E3F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46708-25E5-77F6-A964-227D0EE4C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0C22E3-5FB3-FA79-ED62-21819A6A0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96025A-E802-D170-D6B8-690A286BCE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0B7203-20FE-415A-F923-11A30CAAC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7DA1C9-7D6A-71D0-70D9-9B0828718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FE8C4F-142A-8803-C2AD-C6393A49A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83C7CE-86E2-2A63-0ECE-6F7089A68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712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AE12F-6D65-52A0-48AA-B03A63F84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C2E755-9EA8-6439-9AA9-91FF3D918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EB468B-111F-CF06-6C38-3BC8CFF43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94801-333D-738E-07D1-D8DAF45C0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337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345271-495D-152E-CF4A-DF4710D8B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F704DD-032D-53A7-BFF6-45E5965DD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77178-4230-89A4-5872-75B349208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007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A69D6-24F8-42C9-1D77-EC8866907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D61D7-9867-D57B-393C-47C770AA6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ED94E2-1CFC-4DFF-4491-2085D8036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CD279-5116-5E15-60C5-9EF79DDB4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31C19-F77D-04E3-B033-CF6338C13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963EA-8864-E6BE-24F5-23AFDA15D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667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56FE6-775B-5F83-EEAB-E36547DB1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964366-F9DB-7570-8134-3DDD5A101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FF4E6-78FE-6A93-F107-25294F26CE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A6E5D-D1B7-97B4-E5F0-293D2283C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0F263-4F04-05C5-5AB8-17B4BF436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8888F2-58F4-670D-C34D-AD8FC7455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837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48A30-B913-89F3-B532-786CB42C2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D29D4D-DEE7-6A1D-B42E-38574A727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6FAF5-A696-3446-BF82-38164F6A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E94DE-54DD-A6A8-474C-AB93008EA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8F6DA-A2A6-C945-BF21-6706B5FA6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727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308265-AD14-4580-CC74-9C4CF00E99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F309DA-5772-6FBD-97A3-F137B93F9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1C790-714C-45F7-D996-F901BECA5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76402-000D-C35B-9564-25F55D31A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67743-5BF8-DFC2-CBDC-EB27E011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5857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B05E56-8D2F-5F2F-8551-44A2B095F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445D5-7E47-8624-9AC3-BB3BCD277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B5D27-2F61-7E25-7C4F-55CEB62622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E40CC-F5EF-5459-5DE6-51B24194D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77AFA-267B-483B-8828-7D5EC7CBFD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197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vikashsinghy2k/mastering-credit-risk-analysis-a-step-by-step-guide-to-descriptive-statistics-in-python-bfbdfba627d5" TargetMode="External"/><Relationship Id="rId2" Type="http://schemas.openxmlformats.org/officeDocument/2006/relationships/hyperlink" Target="https://medium.com/@vikashsinghy2k/10-must-know-probability-concepts-for-every-aspiring-statistician-and-data-scientist-66a5b48cacec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um.com/@vikashsinghy2k/10-must-know-statistics-interview-questions-with-real-examples-formulas-0b1118f5eb10" TargetMode="External"/><Relationship Id="rId5" Type="http://schemas.openxmlformats.org/officeDocument/2006/relationships/hyperlink" Target="https://medium.com/@vikashsinghy2k/top-20-interview-questions-on-descriptive-and-inferential-statistics-b9ce9da9b1f9" TargetMode="External"/><Relationship Id="rId4" Type="http://schemas.openxmlformats.org/officeDocument/2006/relationships/hyperlink" Target="https://medium.com/@vikashsinghy2k/10-statistical-concepts-every-aspiring-data-scientist-should-know-the-davangers-guide-bf215749c20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8A999DC-A153-1905-C7EE-7C969DA83FFE}"/>
              </a:ext>
            </a:extLst>
          </p:cNvPr>
          <p:cNvSpPr/>
          <p:nvPr/>
        </p:nvSpPr>
        <p:spPr>
          <a:xfrm>
            <a:off x="-419100" y="4152147"/>
            <a:ext cx="12705589" cy="4105276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C59026-22DA-C7EE-E8D5-0A960E14490B}"/>
              </a:ext>
            </a:extLst>
          </p:cNvPr>
          <p:cNvSpPr/>
          <p:nvPr/>
        </p:nvSpPr>
        <p:spPr>
          <a:xfrm>
            <a:off x="0" y="5429251"/>
            <a:ext cx="12192001" cy="865268"/>
          </a:xfrm>
          <a:prstGeom prst="rect">
            <a:avLst/>
          </a:prstGeom>
          <a:solidFill>
            <a:srgbClr val="C00000">
              <a:alpha val="7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FAFFA5-8138-FB30-6CEE-C907D53506F8}"/>
              </a:ext>
            </a:extLst>
          </p:cNvPr>
          <p:cNvSpPr txBox="1"/>
          <p:nvPr/>
        </p:nvSpPr>
        <p:spPr>
          <a:xfrm>
            <a:off x="1195137" y="5113697"/>
            <a:ext cx="9801726" cy="147732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endParaRPr lang="en-US" sz="3000" dirty="0">
              <a:solidFill>
                <a:schemeClr val="bg1"/>
              </a:solidFill>
              <a:latin typeface="Montserrat SemiBold" pitchFamily="2" charset="0"/>
            </a:endParaRPr>
          </a:p>
          <a:p>
            <a:pPr algn="ctr"/>
            <a:r>
              <a:rPr lang="en-US" sz="3000" dirty="0">
                <a:solidFill>
                  <a:schemeClr val="bg1"/>
                </a:solidFill>
                <a:latin typeface="Montserrat SemiBold" pitchFamily="2" charset="0"/>
              </a:rPr>
              <a:t>Probability Theory</a:t>
            </a:r>
          </a:p>
          <a:p>
            <a:pPr algn="ctr"/>
            <a:endParaRPr lang="en-US" sz="3000" dirty="0">
              <a:solidFill>
                <a:schemeClr val="bg1"/>
              </a:solidFill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95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E650A68-EA3A-2D91-1B47-FD55243C0DD5}"/>
              </a:ext>
            </a:extLst>
          </p:cNvPr>
          <p:cNvSpPr txBox="1">
            <a:spLocks/>
          </p:cNvSpPr>
          <p:nvPr/>
        </p:nvSpPr>
        <p:spPr>
          <a:xfrm>
            <a:off x="3606449" y="239070"/>
            <a:ext cx="69091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Learning Objectives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DD431F-D61B-40D1-6A24-AC95A22F2994}"/>
              </a:ext>
            </a:extLst>
          </p:cNvPr>
          <p:cNvSpPr txBox="1">
            <a:spLocks/>
          </p:cNvSpPr>
          <p:nvPr/>
        </p:nvSpPr>
        <p:spPr>
          <a:xfrm>
            <a:off x="864833" y="2134159"/>
            <a:ext cx="10249481" cy="571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latin typeface="Avenir Next LT Pro" panose="020B0504020202020204" pitchFamily="34" charset="0"/>
                <a:cs typeface="Arial" pitchFamily="34" charset="0"/>
              </a:rPr>
              <a:t>By the end of this session, you will be able to: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B7DAA53-E44E-F1A9-8E93-74E570E860D3}"/>
              </a:ext>
            </a:extLst>
          </p:cNvPr>
          <p:cNvSpPr txBox="1">
            <a:spLocks/>
          </p:cNvSpPr>
          <p:nvPr/>
        </p:nvSpPr>
        <p:spPr>
          <a:xfrm>
            <a:off x="864832" y="2819400"/>
            <a:ext cx="10717567" cy="339634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rgbClr val="404040"/>
                </a:solidFill>
                <a:latin typeface="DeepSeek-CJK-patch"/>
              </a:rPr>
              <a:t>Define</a:t>
            </a:r>
            <a:r>
              <a:rPr lang="en-US">
                <a:solidFill>
                  <a:srgbClr val="404040"/>
                </a:solidFill>
                <a:latin typeface="DeepSeek-CJK-patch"/>
              </a:rPr>
              <a:t> probability, sample space, and events.</a:t>
            </a:r>
          </a:p>
          <a:p>
            <a:endParaRPr lang="en-US">
              <a:solidFill>
                <a:srgbClr val="404040"/>
              </a:solidFill>
              <a:latin typeface="DeepSeek-CJK-patch"/>
            </a:endParaRPr>
          </a:p>
          <a:p>
            <a:pPr>
              <a:spcBef>
                <a:spcPts val="300"/>
              </a:spcBef>
            </a:pPr>
            <a:r>
              <a:rPr lang="en-US">
                <a:solidFill>
                  <a:srgbClr val="404040"/>
                </a:solidFill>
                <a:latin typeface="DeepSeek-CJK-patch"/>
              </a:rPr>
              <a:t>Understand key properties of probability.</a:t>
            </a:r>
          </a:p>
          <a:p>
            <a:pPr>
              <a:spcBef>
                <a:spcPts val="300"/>
              </a:spcBef>
            </a:pPr>
            <a:endParaRPr lang="en-US" b="1">
              <a:solidFill>
                <a:srgbClr val="404040"/>
              </a:solidFill>
              <a:latin typeface="DeepSeek-CJK-patch"/>
            </a:endParaRPr>
          </a:p>
          <a:p>
            <a:pPr>
              <a:spcBef>
                <a:spcPts val="300"/>
              </a:spcBef>
            </a:pPr>
            <a:r>
              <a:rPr lang="en-US" b="1">
                <a:solidFill>
                  <a:srgbClr val="404040"/>
                </a:solidFill>
                <a:latin typeface="DeepSeek-CJK-patch"/>
              </a:rPr>
              <a:t>Calculate</a:t>
            </a:r>
            <a:r>
              <a:rPr lang="en-US">
                <a:solidFill>
                  <a:srgbClr val="404040"/>
                </a:solidFill>
                <a:latin typeface="DeepSeek-CJK-patch"/>
              </a:rPr>
              <a:t> probabilities for dice, coins, and cards </a:t>
            </a:r>
            <a:r>
              <a:rPr lang="en-US" b="1">
                <a:solidFill>
                  <a:srgbClr val="404040"/>
                </a:solidFill>
                <a:latin typeface="DeepSeek-CJK-patch"/>
              </a:rPr>
              <a:t>with step-by-step solutions</a:t>
            </a:r>
            <a:r>
              <a:rPr lang="en-US">
                <a:solidFill>
                  <a:srgbClr val="404040"/>
                </a:solidFill>
                <a:latin typeface="DeepSeek-CJK-patch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202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1F271-41DA-A538-EB88-50AE4905C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2645CA2-7F1D-3079-C67B-BC1747BC0515}"/>
              </a:ext>
            </a:extLst>
          </p:cNvPr>
          <p:cNvSpPr txBox="1">
            <a:spLocks/>
          </p:cNvSpPr>
          <p:nvPr/>
        </p:nvSpPr>
        <p:spPr>
          <a:xfrm>
            <a:off x="3606449" y="239070"/>
            <a:ext cx="69091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What is Probability?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D9212B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8FA149C-EB1B-99B9-53FC-346B272B014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68869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404040"/>
                </a:solidFill>
                <a:latin typeface="DeepSeek-CJK-patch"/>
              </a:rPr>
              <a:t>Measures likelihood of an event (Range: 0 to 1).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C48586-F848-F5E8-3553-242F0C481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300" y="2723884"/>
            <a:ext cx="10971399" cy="16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CA3F0-5D74-4967-F591-DED6512EB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8F1DA-ED54-6CD4-86D9-253893DBA29B}"/>
              </a:ext>
            </a:extLst>
          </p:cNvPr>
          <p:cNvSpPr txBox="1">
            <a:spLocks/>
          </p:cNvSpPr>
          <p:nvPr/>
        </p:nvSpPr>
        <p:spPr>
          <a:xfrm>
            <a:off x="3167743" y="217297"/>
            <a:ext cx="778656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Basic Probability Concepts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B12BCE-FDC8-0FB3-87E5-5C7AE612CC40}"/>
              </a:ext>
            </a:extLst>
          </p:cNvPr>
          <p:cNvSpPr txBox="1">
            <a:spLocks noChangeArrowheads="1"/>
          </p:cNvSpPr>
          <p:nvPr/>
        </p:nvSpPr>
        <p:spPr>
          <a:xfrm>
            <a:off x="402771" y="1457523"/>
            <a:ext cx="11375572" cy="394295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en-US" sz="3200">
                <a:solidFill>
                  <a:srgbClr val="0070C0"/>
                </a:solidFill>
              </a:rPr>
              <a:t>Probability</a:t>
            </a:r>
            <a:r>
              <a:rPr lang="en-US" altLang="en-US" sz="3200">
                <a:solidFill>
                  <a:srgbClr val="C1BAF8"/>
                </a:solidFill>
              </a:rPr>
              <a:t> </a:t>
            </a:r>
            <a:r>
              <a:rPr lang="en-US" altLang="en-US" sz="3200"/>
              <a:t>– the chance that an uncertain event will occur (always between 0 and 1)</a:t>
            </a:r>
          </a:p>
          <a:p>
            <a:pPr marL="342900" indent="-342900"/>
            <a:endParaRPr lang="en-US" altLang="en-US" sz="3200"/>
          </a:p>
          <a:p>
            <a:pPr marL="342900" indent="-342900"/>
            <a:r>
              <a:rPr lang="en-US" altLang="en-US" sz="3200">
                <a:solidFill>
                  <a:srgbClr val="0070C0"/>
                </a:solidFill>
              </a:rPr>
              <a:t>Impossible Event </a:t>
            </a:r>
            <a:r>
              <a:rPr lang="en-US" altLang="en-US" sz="3200"/>
              <a:t>– an event that has no chance of occurring (probability = 0)</a:t>
            </a:r>
          </a:p>
          <a:p>
            <a:pPr marL="342900" indent="-342900"/>
            <a:endParaRPr lang="en-US" altLang="en-US" sz="3200"/>
          </a:p>
          <a:p>
            <a:pPr marL="342900" indent="-342900"/>
            <a:r>
              <a:rPr lang="en-US" altLang="en-US" sz="3200">
                <a:solidFill>
                  <a:srgbClr val="0070C0"/>
                </a:solidFill>
              </a:rPr>
              <a:t>Certain Event </a:t>
            </a:r>
            <a:r>
              <a:rPr lang="en-US" altLang="en-US" sz="3200"/>
              <a:t>– an event that is sure to occur (probability = 1)</a:t>
            </a:r>
          </a:p>
          <a:p>
            <a:pPr marL="342900" indent="-342900"/>
            <a:endParaRPr lang="en-US" altLang="en-US" sz="3200" dirty="0"/>
          </a:p>
        </p:txBody>
      </p:sp>
    </p:spTree>
    <p:extLst>
      <p:ext uri="{BB962C8B-B14F-4D97-AF65-F5344CB8AC3E}">
        <p14:creationId xmlns:p14="http://schemas.microsoft.com/office/powerpoint/2010/main" val="521482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50B684-5A06-A39E-AB17-4C258993C23B}"/>
              </a:ext>
            </a:extLst>
          </p:cNvPr>
          <p:cNvSpPr/>
          <p:nvPr/>
        </p:nvSpPr>
        <p:spPr>
          <a:xfrm>
            <a:off x="699562" y="1557887"/>
            <a:ext cx="1079287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Söhne"/>
              </a:rPr>
              <a:t>Question:</a:t>
            </a:r>
            <a:r>
              <a:rPr lang="en-US" sz="3200" dirty="0">
                <a:solidFill>
                  <a:srgbClr val="374151"/>
                </a:solidFill>
                <a:latin typeface="Söhne"/>
              </a:rPr>
              <a:t> What is the probability of rolling a number greater than 4 on a fair six-sided die?</a:t>
            </a:r>
            <a:endParaRPr lang="en-IN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056E92-EF57-D710-A803-73734F11D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997" y="2841053"/>
            <a:ext cx="3279574" cy="3037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909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A35756-6EA7-992F-B7A8-B3F6B8B31371}"/>
              </a:ext>
            </a:extLst>
          </p:cNvPr>
          <p:cNvSpPr/>
          <p:nvPr/>
        </p:nvSpPr>
        <p:spPr>
          <a:xfrm>
            <a:off x="492034" y="1410009"/>
            <a:ext cx="11207931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374151"/>
                </a:solidFill>
                <a:latin typeface="Söhne"/>
              </a:rPr>
              <a:t>Problem:</a:t>
            </a:r>
            <a:r>
              <a:rPr lang="en-US" sz="2800" dirty="0">
                <a:solidFill>
                  <a:srgbClr val="374151"/>
                </a:solidFill>
                <a:latin typeface="Söhne"/>
              </a:rPr>
              <a:t> What is the probability of rolling a number greater than 4 on a fair six-sided die?</a:t>
            </a:r>
          </a:p>
          <a:p>
            <a:endParaRPr lang="en-US" sz="2800" dirty="0">
              <a:solidFill>
                <a:srgbClr val="374151"/>
              </a:solidFill>
              <a:latin typeface="Söhne"/>
            </a:endParaRPr>
          </a:p>
          <a:p>
            <a:r>
              <a:rPr lang="en-US" sz="2800" b="1" dirty="0">
                <a:solidFill>
                  <a:srgbClr val="374151"/>
                </a:solidFill>
                <a:latin typeface="Söhne"/>
              </a:rPr>
              <a:t>Solution:</a:t>
            </a:r>
            <a:r>
              <a:rPr lang="en-US" sz="2800" dirty="0">
                <a:solidFill>
                  <a:srgbClr val="374151"/>
                </a:solidFill>
                <a:latin typeface="Söhne"/>
              </a:rPr>
              <a:t> A six-sided die has six possible outcomes: 1, 2, 3, 4, 5, and 6. The favorable outcomes for rolling a number greater than 4 are 5 and 6.</a:t>
            </a:r>
          </a:p>
          <a:p>
            <a:endParaRPr lang="en-US" sz="2800" dirty="0">
              <a:solidFill>
                <a:srgbClr val="374151"/>
              </a:solidFill>
              <a:latin typeface="Söhn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74151"/>
                </a:solidFill>
                <a:latin typeface="Söhne"/>
              </a:rPr>
              <a:t>Number of favorable outcomes: 2 (which are 5 and 6)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74151"/>
                </a:solidFill>
                <a:latin typeface="Söhne"/>
              </a:rPr>
              <a:t>Total number of outcomes: 6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374151"/>
              </a:solidFill>
              <a:latin typeface="Söhne"/>
            </a:endParaRPr>
          </a:p>
          <a:p>
            <a:r>
              <a:rPr lang="en-US" sz="2800" b="1" dirty="0">
                <a:solidFill>
                  <a:srgbClr val="374151"/>
                </a:solidFill>
                <a:latin typeface="Söhne"/>
              </a:rPr>
              <a:t>Answer:</a:t>
            </a:r>
            <a:r>
              <a:rPr lang="en-US" sz="2800" dirty="0">
                <a:solidFill>
                  <a:srgbClr val="374151"/>
                </a:solidFill>
                <a:latin typeface="Söhne"/>
              </a:rPr>
              <a:t> The probability of rolling a number greater than 4 is </a:t>
            </a:r>
            <a:r>
              <a:rPr lang="en-US" sz="2800" dirty="0">
                <a:solidFill>
                  <a:srgbClr val="374151"/>
                </a:solidFill>
                <a:latin typeface="KaTeX_Main"/>
              </a:rPr>
              <a:t>2/6 = 1/3</a:t>
            </a:r>
            <a:endParaRPr lang="en-US" sz="28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925790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9F5CC-7C78-2830-995A-742570655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0EE76BE-076E-7E6B-B609-64BB0A4E6552}"/>
              </a:ext>
            </a:extLst>
          </p:cNvPr>
          <p:cNvSpPr txBox="1">
            <a:spLocks/>
          </p:cNvSpPr>
          <p:nvPr/>
        </p:nvSpPr>
        <p:spPr>
          <a:xfrm>
            <a:off x="3265713" y="217297"/>
            <a:ext cx="76885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Key Terms in Probability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494782-0397-0445-D606-2DD5ACE03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10528"/>
            <a:ext cx="10751712" cy="3812585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73507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F74FA-259D-AE93-651F-B8A502C1E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41252-497D-FF0D-14FB-D1F83D86864A}"/>
              </a:ext>
            </a:extLst>
          </p:cNvPr>
          <p:cNvSpPr txBox="1">
            <a:spLocks/>
          </p:cNvSpPr>
          <p:nvPr/>
        </p:nvSpPr>
        <p:spPr>
          <a:xfrm>
            <a:off x="2481943" y="217297"/>
            <a:ext cx="847236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Reference Dataset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E017E6-E93E-5CEA-C56F-FEF96B5596BB}"/>
              </a:ext>
            </a:extLst>
          </p:cNvPr>
          <p:cNvSpPr txBox="1"/>
          <p:nvPr/>
        </p:nvSpPr>
        <p:spPr>
          <a:xfrm>
            <a:off x="657059" y="1588618"/>
            <a:ext cx="10877881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‘titanic’ dataset crosstab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128A61-64F4-FBAC-259A-02551A1D4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039" y="2396057"/>
            <a:ext cx="8411749" cy="2305372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846678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11270-9560-CD8A-D8C9-E57D7437EB9E}"/>
              </a:ext>
            </a:extLst>
          </p:cNvPr>
          <p:cNvSpPr txBox="1">
            <a:spLocks/>
          </p:cNvSpPr>
          <p:nvPr/>
        </p:nvSpPr>
        <p:spPr>
          <a:xfrm>
            <a:off x="2481943" y="217297"/>
            <a:ext cx="847236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Simple Calculations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2ED932-8A80-CCF0-5BB4-A29113495064}"/>
              </a:ext>
            </a:extLst>
          </p:cNvPr>
          <p:cNvSpPr txBox="1"/>
          <p:nvPr/>
        </p:nvSpPr>
        <p:spPr>
          <a:xfrm>
            <a:off x="568777" y="905995"/>
            <a:ext cx="474345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Find out the following probabilities:</a:t>
            </a:r>
          </a:p>
          <a:p>
            <a:endParaRPr lang="en-US" sz="2200" dirty="0"/>
          </a:p>
          <a:p>
            <a:r>
              <a:rPr lang="en-US" sz="2200" dirty="0"/>
              <a:t>1. Probability that a passenger is female (P(Female)).</a:t>
            </a:r>
          </a:p>
          <a:p>
            <a:endParaRPr lang="en-US" sz="2200" dirty="0"/>
          </a:p>
          <a:p>
            <a:r>
              <a:rPr lang="en-US" sz="2200" dirty="0"/>
              <a:t>2. Probability that a passenger is male (P(Male))</a:t>
            </a:r>
          </a:p>
          <a:p>
            <a:endParaRPr lang="en-US" sz="2200" dirty="0"/>
          </a:p>
          <a:p>
            <a:r>
              <a:rPr lang="en-US" sz="2200" dirty="0"/>
              <a:t>3. Probability that a passenger survived (P(Survived))</a:t>
            </a:r>
          </a:p>
          <a:p>
            <a:endParaRPr lang="en-US" sz="2200" dirty="0"/>
          </a:p>
          <a:p>
            <a:r>
              <a:rPr lang="en-US" sz="2200" dirty="0"/>
              <a:t>4. Probability that a passenger is female and survived (P(Female ∩ Survived))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C7F6CE-99C5-F5F5-A374-57A2C4979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943" y="2229252"/>
            <a:ext cx="6089102" cy="1668814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648897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DC4429-3681-0C07-65E2-B5B91F0A7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092" y="1075557"/>
            <a:ext cx="9561594" cy="15836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B88B91-3801-DC1F-73E0-D13BB6271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713" y="3149279"/>
            <a:ext cx="9006316" cy="197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191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A05C77-FDFB-9CEB-D3EF-77FC2DA07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903" y="1502818"/>
            <a:ext cx="6639852" cy="13051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77A05D-722A-7A54-8CA2-9BF194D59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8077" y="3439886"/>
            <a:ext cx="8126639" cy="1305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62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3809C-9761-6A1E-B6AA-24619AB85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46EC9-827F-D82C-2A52-67C320195836}"/>
              </a:ext>
            </a:extLst>
          </p:cNvPr>
          <p:cNvSpPr txBox="1">
            <a:spLocks/>
          </p:cNvSpPr>
          <p:nvPr/>
        </p:nvSpPr>
        <p:spPr>
          <a:xfrm>
            <a:off x="2416629" y="217297"/>
            <a:ext cx="8537676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Properties of Probability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78774F-DD39-5DA7-9907-CFEA351B8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05" y="1011043"/>
            <a:ext cx="9977515" cy="25111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F2B0D1-3231-B7D0-CE33-8F4FF9F85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705" y="3720946"/>
            <a:ext cx="9715032" cy="1876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333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199DE-72C0-6C3F-C639-925F1DD8F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5062E-4F1B-E2ED-6D7F-B35CAC48CA20}"/>
              </a:ext>
            </a:extLst>
          </p:cNvPr>
          <p:cNvSpPr txBox="1">
            <a:spLocks/>
          </p:cNvSpPr>
          <p:nvPr/>
        </p:nvSpPr>
        <p:spPr>
          <a:xfrm>
            <a:off x="3722913" y="217297"/>
            <a:ext cx="72313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Complement Rule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07CFF4-6DDD-4D1B-1744-B85FE4041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972" y="1189755"/>
            <a:ext cx="10507541" cy="27150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27A074-6ED7-20B9-8E09-427268E66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56" y="4670561"/>
            <a:ext cx="6639852" cy="130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053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D346C-F2B3-501D-D77C-AB5495317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10763-EFA5-EB85-6023-2636E4F76119}"/>
              </a:ext>
            </a:extLst>
          </p:cNvPr>
          <p:cNvSpPr txBox="1">
            <a:spLocks/>
          </p:cNvSpPr>
          <p:nvPr/>
        </p:nvSpPr>
        <p:spPr>
          <a:xfrm>
            <a:off x="2449286" y="217297"/>
            <a:ext cx="7402286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Addition Rule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192002-CF3F-A19E-2087-D30B561B6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38" y="1418997"/>
            <a:ext cx="11170657" cy="3316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73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E3D1FC-1570-2F5A-E502-7DC3AEC03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60" y="1241294"/>
            <a:ext cx="11618317" cy="2579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3621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37340-B94E-8D83-A375-589741220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E6F9821-B2AA-59A0-5A2B-3A70F8827B40}"/>
              </a:ext>
            </a:extLst>
          </p:cNvPr>
          <p:cNvSpPr txBox="1"/>
          <p:nvPr/>
        </p:nvSpPr>
        <p:spPr>
          <a:xfrm>
            <a:off x="223156" y="1070206"/>
            <a:ext cx="117456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Probability that a passenger is female or survived (P(Female ∪ Survived))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2D8EF0-D23D-DE15-BE93-88E55C074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599" y="2016511"/>
            <a:ext cx="9945488" cy="95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920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3F410-E2BD-532A-699F-FC5F3600C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6D75B2-68DE-9ACA-5E0C-3148775E6BE5}"/>
              </a:ext>
            </a:extLst>
          </p:cNvPr>
          <p:cNvSpPr txBox="1"/>
          <p:nvPr/>
        </p:nvSpPr>
        <p:spPr>
          <a:xfrm>
            <a:off x="223156" y="1070206"/>
            <a:ext cx="117456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Probability that a passenger is female or survived (P(Female ∪ Survived))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59A1D0-50CE-8261-F29B-ADCB60264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99" y="2147498"/>
            <a:ext cx="10307488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1805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2F50D-ED68-3EAB-6A62-0CD5359AAF1A}"/>
              </a:ext>
            </a:extLst>
          </p:cNvPr>
          <p:cNvSpPr txBox="1">
            <a:spLocks/>
          </p:cNvSpPr>
          <p:nvPr/>
        </p:nvSpPr>
        <p:spPr>
          <a:xfrm>
            <a:off x="2427513" y="217297"/>
            <a:ext cx="85267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Addition Rule for Mutually Exclusive Events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80837A-6F37-1DFA-F894-B774099AE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84" y="1536032"/>
            <a:ext cx="11633905" cy="3329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3286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E78BAD7-61F5-C840-D26E-04C32EFC5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05" y="1885406"/>
            <a:ext cx="11553916" cy="237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1624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48D77-7D71-56AB-5618-72EE822BC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0BFC9DD-16D0-8AB8-F594-86D264CE84F2}"/>
              </a:ext>
            </a:extLst>
          </p:cNvPr>
          <p:cNvSpPr txBox="1">
            <a:spLocks/>
          </p:cNvSpPr>
          <p:nvPr/>
        </p:nvSpPr>
        <p:spPr>
          <a:xfrm>
            <a:off x="3301729" y="217297"/>
            <a:ext cx="7652576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Conditional Probability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2768C8-8120-CE3E-49F5-4E08ABE4E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51" y="1285060"/>
            <a:ext cx="11089666" cy="20677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5F3F4A-0F43-7640-277B-EA6EE912B4B5}"/>
              </a:ext>
            </a:extLst>
          </p:cNvPr>
          <p:cNvSpPr txBox="1"/>
          <p:nvPr/>
        </p:nvSpPr>
        <p:spPr>
          <a:xfrm>
            <a:off x="471451" y="4009350"/>
            <a:ext cx="990268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Probability that a passenger survived given that they are female (P(Survived | Female))</a:t>
            </a:r>
          </a:p>
        </p:txBody>
      </p:sp>
    </p:spTree>
    <p:extLst>
      <p:ext uri="{BB962C8B-B14F-4D97-AF65-F5344CB8AC3E}">
        <p14:creationId xmlns:p14="http://schemas.microsoft.com/office/powerpoint/2010/main" val="18850844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D00D2-2941-7C62-451E-76B2C8158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94F7764-3A35-9591-F207-3F406B7941B1}"/>
              </a:ext>
            </a:extLst>
          </p:cNvPr>
          <p:cNvSpPr txBox="1">
            <a:spLocks/>
          </p:cNvSpPr>
          <p:nvPr/>
        </p:nvSpPr>
        <p:spPr>
          <a:xfrm>
            <a:off x="3301729" y="217297"/>
            <a:ext cx="7652576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Conditional Probability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639CB0-C347-B33E-589A-16D434F69C99}"/>
              </a:ext>
            </a:extLst>
          </p:cNvPr>
          <p:cNvSpPr txBox="1"/>
          <p:nvPr/>
        </p:nvSpPr>
        <p:spPr>
          <a:xfrm>
            <a:off x="667393" y="1255265"/>
            <a:ext cx="990268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Probability that a passenger survived given that they are female (P(Survived | Female))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D860F3-4496-CBC1-9AF6-30C9307FD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572" y="2752630"/>
            <a:ext cx="9155794" cy="18520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7364B9-0F35-1871-B95C-716C07C26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057" y="4768328"/>
            <a:ext cx="6089102" cy="1668814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6270046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6696D-6676-70E2-16B1-5E07EA932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B65B39D-02E7-D2DE-61A4-66FEF655C148}"/>
              </a:ext>
            </a:extLst>
          </p:cNvPr>
          <p:cNvSpPr txBox="1">
            <a:spLocks/>
          </p:cNvSpPr>
          <p:nvPr/>
        </p:nvSpPr>
        <p:spPr>
          <a:xfrm>
            <a:off x="3301729" y="217297"/>
            <a:ext cx="7652576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Conditional Probability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FDDFA3-3541-7E47-C2B9-FC01671DB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57" y="1163658"/>
            <a:ext cx="9155794" cy="18520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78D15D-F5CC-2DCB-7FAE-A9F45C2D4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8772" y="3059613"/>
            <a:ext cx="6089102" cy="1668814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C976B8-04AB-0195-E4ED-EBC89CCFE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7552" y="5133915"/>
            <a:ext cx="8145012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1787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B6DD6-AB70-6B82-29ED-C28CC3834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E244D38-3B72-3DB5-BDC5-455EBF93AA85}"/>
              </a:ext>
            </a:extLst>
          </p:cNvPr>
          <p:cNvSpPr txBox="1">
            <a:spLocks/>
          </p:cNvSpPr>
          <p:nvPr/>
        </p:nvSpPr>
        <p:spPr>
          <a:xfrm>
            <a:off x="3301729" y="217297"/>
            <a:ext cx="7652576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Conditional Probability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896130-A135-2125-7A33-3A4712CC3799}"/>
              </a:ext>
            </a:extLst>
          </p:cNvPr>
          <p:cNvSpPr txBox="1"/>
          <p:nvPr/>
        </p:nvSpPr>
        <p:spPr>
          <a:xfrm>
            <a:off x="667393" y="1255265"/>
            <a:ext cx="990268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Probability that a passenger survived given that they are male (P(Male | Female))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6BF698-946D-31FB-C166-D2A27E633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609" y="2804131"/>
            <a:ext cx="9111728" cy="2497212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9477740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A3721-4673-4899-7F22-0E428E310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2A11E7A-90E7-EF73-FB08-46C440A93C77}"/>
              </a:ext>
            </a:extLst>
          </p:cNvPr>
          <p:cNvSpPr txBox="1">
            <a:spLocks/>
          </p:cNvSpPr>
          <p:nvPr/>
        </p:nvSpPr>
        <p:spPr>
          <a:xfrm>
            <a:off x="3301729" y="217297"/>
            <a:ext cx="7652576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Conditional Probability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4D8BB1-ECD3-51FF-23D2-AB381F56F06A}"/>
              </a:ext>
            </a:extLst>
          </p:cNvPr>
          <p:cNvSpPr txBox="1"/>
          <p:nvPr/>
        </p:nvSpPr>
        <p:spPr>
          <a:xfrm>
            <a:off x="667393" y="1255265"/>
            <a:ext cx="990268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Probability that a passenger survived given that they are male (P(Male | Female))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819D32-1DD1-5C96-A019-51AC46556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70" y="2533524"/>
            <a:ext cx="10699256" cy="215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4866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890B2-E345-9525-7ED1-63CC28B0D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122985C-9A04-A956-B273-D1350AB71C8F}"/>
              </a:ext>
            </a:extLst>
          </p:cNvPr>
          <p:cNvSpPr txBox="1">
            <a:spLocks/>
          </p:cNvSpPr>
          <p:nvPr/>
        </p:nvSpPr>
        <p:spPr>
          <a:xfrm>
            <a:off x="3298371" y="217297"/>
            <a:ext cx="7655934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Baye’s Theorem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9F91D-6CDD-0698-86E9-54BB1B827A6A}"/>
              </a:ext>
            </a:extLst>
          </p:cNvPr>
          <p:cNvSpPr txBox="1"/>
          <p:nvPr/>
        </p:nvSpPr>
        <p:spPr>
          <a:xfrm>
            <a:off x="481691" y="1220763"/>
            <a:ext cx="1106805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Bayes’ Theorem</a:t>
            </a:r>
            <a:r>
              <a:rPr lang="en-US" sz="2800" dirty="0"/>
              <a:t> is a way to update our beliefs about the probability of an event based on new evidence.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sz="2800" dirty="0"/>
              <a:t>In simple terms:</a:t>
            </a:r>
          </a:p>
          <a:p>
            <a:pPr>
              <a:buNone/>
            </a:pPr>
            <a:r>
              <a:rPr lang="en-US" sz="2800" b="1" dirty="0"/>
              <a:t>It tells us how likely something is, </a:t>
            </a:r>
            <a:r>
              <a:rPr lang="en-US" sz="2800" b="1" i="1" dirty="0"/>
              <a:t>given</a:t>
            </a:r>
            <a:r>
              <a:rPr lang="en-US" sz="2800" b="1" dirty="0"/>
              <a:t> that we already know something else has happened.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77823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022A7-CBD3-9F27-E4E6-11D40EC2B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9CED029-0C99-C118-B3C9-5364A05BCCF2}"/>
              </a:ext>
            </a:extLst>
          </p:cNvPr>
          <p:cNvSpPr txBox="1">
            <a:spLocks/>
          </p:cNvSpPr>
          <p:nvPr/>
        </p:nvSpPr>
        <p:spPr>
          <a:xfrm>
            <a:off x="4103913" y="217297"/>
            <a:ext cx="68503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Baye’s theorem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8823CC-6B58-1C40-0A5A-CC969A868996}"/>
              </a:ext>
            </a:extLst>
          </p:cNvPr>
          <p:cNvSpPr txBox="1"/>
          <p:nvPr/>
        </p:nvSpPr>
        <p:spPr>
          <a:xfrm>
            <a:off x="742950" y="1371991"/>
            <a:ext cx="62538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Formula of Bayes’ Theorem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9A858-6359-8733-EA8A-59A235C0B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076" y="2299652"/>
            <a:ext cx="9254095" cy="356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2882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FE99EB-6963-264A-84E7-D157C831EF95}"/>
                  </a:ext>
                </a:extLst>
              </p:cNvPr>
              <p:cNvSpPr txBox="1"/>
              <p:nvPr/>
            </p:nvSpPr>
            <p:spPr>
              <a:xfrm>
                <a:off x="329292" y="1462092"/>
                <a:ext cx="8956221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800" b="1" dirty="0"/>
                  <a:t>What’s the probability a survivor was female?</a:t>
                </a:r>
                <a:endParaRPr lang="en-US" sz="2800" dirty="0"/>
              </a:p>
              <a:p>
                <a:pPr>
                  <a:buNone/>
                </a:pPr>
                <a:r>
                  <a:rPr lang="en-US" sz="2800" dirty="0"/>
                  <a:t>That’s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𝐹𝑒𝑚𝑎𝑙𝑒</m:t>
                        </m:r>
                        <m:r>
                          <a:rPr lang="ar-AE" sz="2800" i="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𝑆𝑢𝑟𝑣𝑖𝑣𝑒𝑑</m:t>
                        </m:r>
                      </m:e>
                    </m:d>
                  </m:oMath>
                </a14:m>
                <a:endParaRPr lang="ar-AE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FE99EB-6963-264A-84E7-D157C831E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92" y="1462092"/>
                <a:ext cx="8956221" cy="954107"/>
              </a:xfrm>
              <a:prstGeom prst="rect">
                <a:avLst/>
              </a:prstGeom>
              <a:blipFill>
                <a:blip r:embed="rId2"/>
                <a:stretch>
                  <a:fillRect l="-1361" t="-7051" b="-17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8B9B2B94-80F0-3E53-77FF-D396BB97695C}"/>
              </a:ext>
            </a:extLst>
          </p:cNvPr>
          <p:cNvSpPr txBox="1">
            <a:spLocks/>
          </p:cNvSpPr>
          <p:nvPr/>
        </p:nvSpPr>
        <p:spPr>
          <a:xfrm>
            <a:off x="4103913" y="217297"/>
            <a:ext cx="68503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Baye’s theorem example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B968ED-CA90-A48C-56AB-325B272AB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68" y="2866575"/>
            <a:ext cx="9050703" cy="28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4282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FE265-9529-08FB-A853-5B7072BC9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51C7DD6-2CF8-43FE-7269-2AE74AEDCAF2}"/>
              </a:ext>
            </a:extLst>
          </p:cNvPr>
          <p:cNvSpPr txBox="1">
            <a:spLocks/>
          </p:cNvSpPr>
          <p:nvPr/>
        </p:nvSpPr>
        <p:spPr>
          <a:xfrm>
            <a:off x="4103913" y="217297"/>
            <a:ext cx="68503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Difference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5924688-70E8-A547-9519-F3EB4283D8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259132"/>
              </p:ext>
            </p:extLst>
          </p:nvPr>
        </p:nvGraphicFramePr>
        <p:xfrm>
          <a:off x="576943" y="1628208"/>
          <a:ext cx="10515600" cy="28346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90286169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2778387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09089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Conditional Probability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Bayes’ Theorem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549474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Definition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Probability of A given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Updates probability of A after B is observed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754218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Known Values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(P(A and B)), (P(B))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(P(B))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997559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Purpose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Direct computation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Reversing or updating beliefs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485282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Focus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Inference / learning from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680436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Use Case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"If it’s raining, what’s the chance the ground is wet?"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"The ground is wet — what’s the chance it rained?"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155148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14872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F1030-9CD0-1240-3950-D8F56A05B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951A195-4346-45AB-3A24-8512E8CA2F6C}"/>
              </a:ext>
            </a:extLst>
          </p:cNvPr>
          <p:cNvSpPr txBox="1">
            <a:spLocks/>
          </p:cNvSpPr>
          <p:nvPr/>
        </p:nvSpPr>
        <p:spPr>
          <a:xfrm>
            <a:off x="2623457" y="217297"/>
            <a:ext cx="8330848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Multiple Choice Questions (MCQs)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3D41CA-8F84-975E-86E7-F2666CF267A6}"/>
              </a:ext>
            </a:extLst>
          </p:cNvPr>
          <p:cNvSpPr txBox="1">
            <a:spLocks/>
          </p:cNvSpPr>
          <p:nvPr/>
        </p:nvSpPr>
        <p:spPr>
          <a:xfrm>
            <a:off x="438705" y="1253331"/>
            <a:ext cx="10515600" cy="43513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Q1:</a:t>
            </a:r>
            <a:r>
              <a:rPr lang="en-US" dirty="0"/>
              <a:t> If events A and B are independent, P(A ∩ B) is:</a:t>
            </a:r>
            <a:br>
              <a:rPr lang="en-US" dirty="0"/>
            </a:br>
            <a:r>
              <a:rPr lang="en-US" dirty="0"/>
              <a:t>A) P(A) + P(B)</a:t>
            </a:r>
            <a:br>
              <a:rPr lang="en-US" dirty="0"/>
            </a:br>
            <a:r>
              <a:rPr lang="en-US" dirty="0"/>
              <a:t>B) P(A) – P(B)</a:t>
            </a:r>
            <a:br>
              <a:rPr lang="en-US" dirty="0"/>
            </a:br>
            <a:r>
              <a:rPr lang="en-US" dirty="0"/>
              <a:t>C) P(A) × P(B) </a:t>
            </a:r>
            <a:br>
              <a:rPr lang="en-US" dirty="0"/>
            </a:br>
            <a:r>
              <a:rPr lang="en-US" dirty="0"/>
              <a:t>D) None of the above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404040"/>
                </a:solidFill>
                <a:latin typeface="DeepSeek-CJK-patch"/>
              </a:rPr>
              <a:t>Q2: What is the sample space for a coin toss?</a:t>
            </a:r>
            <a:br>
              <a:rPr lang="en-US" dirty="0"/>
            </a:br>
            <a:r>
              <a:rPr lang="en-US" dirty="0">
                <a:solidFill>
                  <a:srgbClr val="404040"/>
                </a:solidFill>
                <a:latin typeface="DeepSeek-CJK-patch"/>
              </a:rPr>
              <a:t>A) {H, T}</a:t>
            </a:r>
            <a:br>
              <a:rPr lang="en-US" dirty="0"/>
            </a:br>
            <a:r>
              <a:rPr lang="en-US" dirty="0">
                <a:solidFill>
                  <a:srgbClr val="404040"/>
                </a:solidFill>
                <a:latin typeface="DeepSeek-CJK-patch"/>
              </a:rPr>
              <a:t>B) {1, 2}</a:t>
            </a:r>
            <a:br>
              <a:rPr lang="en-US" dirty="0"/>
            </a:br>
            <a:r>
              <a:rPr lang="en-US" dirty="0">
                <a:solidFill>
                  <a:srgbClr val="404040"/>
                </a:solidFill>
                <a:latin typeface="DeepSeek-CJK-patch"/>
              </a:rPr>
              <a:t>C) {Red, Black}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6102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BD7B1-DE66-2A70-9441-A4D9EA811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CD102-CBE3-629B-0142-74A52F6CFAF2}"/>
              </a:ext>
            </a:extLst>
          </p:cNvPr>
          <p:cNvSpPr txBox="1">
            <a:spLocks/>
          </p:cNvSpPr>
          <p:nvPr/>
        </p:nvSpPr>
        <p:spPr>
          <a:xfrm>
            <a:off x="2623457" y="217297"/>
            <a:ext cx="8330848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Multiple Choice Questions (MCQs)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7C130-CCC1-5FAF-0AF6-9DC13FF7CFED}"/>
              </a:ext>
            </a:extLst>
          </p:cNvPr>
          <p:cNvSpPr txBox="1">
            <a:spLocks/>
          </p:cNvSpPr>
          <p:nvPr/>
        </p:nvSpPr>
        <p:spPr>
          <a:xfrm>
            <a:off x="438705" y="1253331"/>
            <a:ext cx="10515600" cy="43513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Q1:</a:t>
            </a:r>
            <a:r>
              <a:rPr lang="en-US"/>
              <a:t> If events A and B are independent, P(A ∩ B) is:</a:t>
            </a:r>
            <a:br>
              <a:rPr lang="en-US"/>
            </a:br>
            <a:r>
              <a:rPr lang="en-US"/>
              <a:t>A) P(A) + P(B)</a:t>
            </a:r>
            <a:br>
              <a:rPr lang="en-US"/>
            </a:br>
            <a:r>
              <a:rPr lang="en-US"/>
              <a:t>B) P(A) – P(B)</a:t>
            </a:r>
            <a:br>
              <a:rPr lang="en-US"/>
            </a:br>
            <a:r>
              <a:rPr lang="en-US"/>
              <a:t>C) P(A) × P(B) ✅</a:t>
            </a:r>
            <a:br>
              <a:rPr lang="en-US"/>
            </a:br>
            <a:r>
              <a:rPr lang="en-US"/>
              <a:t>D) None of the above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olidFill>
                  <a:srgbClr val="404040"/>
                </a:solidFill>
                <a:latin typeface="DeepSeek-CJK-patch"/>
              </a:rPr>
              <a:t>Q2: What is the sample space for a coin toss?</a:t>
            </a:r>
            <a:br>
              <a:rPr lang="en-US"/>
            </a:br>
            <a:r>
              <a:rPr lang="en-US">
                <a:solidFill>
                  <a:srgbClr val="404040"/>
                </a:solidFill>
                <a:latin typeface="DeepSeek-CJK-patch"/>
              </a:rPr>
              <a:t>A) {H, T}</a:t>
            </a:r>
            <a:br>
              <a:rPr lang="en-US"/>
            </a:br>
            <a:r>
              <a:rPr lang="en-US">
                <a:solidFill>
                  <a:srgbClr val="404040"/>
                </a:solidFill>
                <a:latin typeface="DeepSeek-CJK-patch"/>
              </a:rPr>
              <a:t>B) {1, 2}</a:t>
            </a:r>
            <a:br>
              <a:rPr lang="en-US"/>
            </a:br>
            <a:r>
              <a:rPr lang="en-US">
                <a:solidFill>
                  <a:srgbClr val="404040"/>
                </a:solidFill>
                <a:latin typeface="DeepSeek-CJK-patch"/>
              </a:rPr>
              <a:t>C) {Red, Black}</a:t>
            </a:r>
            <a:br>
              <a:rPr lang="en-US"/>
            </a:br>
            <a:r>
              <a:rPr lang="en-US" b="1">
                <a:solidFill>
                  <a:srgbClr val="404040"/>
                </a:solidFill>
                <a:latin typeface="DeepSeek-CJK-patch"/>
              </a:rPr>
              <a:t>Answer:</a:t>
            </a:r>
            <a:r>
              <a:rPr lang="en-US">
                <a:solidFill>
                  <a:srgbClr val="404040"/>
                </a:solidFill>
                <a:latin typeface="DeepSeek-CJK-patch"/>
              </a:rPr>
              <a:t> A) {H, T}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5009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58974-99FB-3720-754B-A84E57884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41BF9BA-6723-0FB9-52FA-08701D972DCC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D9212B"/>
                </a:solidFill>
                <a:effectLst/>
                <a:uLnTx/>
                <a:uFillTx/>
                <a:latin typeface="Avenir Next LT Pro" panose="020B0504020202020204" pitchFamily="34" charset="0"/>
                <a:ea typeface="+mj-ea"/>
                <a:cs typeface="Arial" pitchFamily="34" charset="0"/>
              </a:rPr>
              <a:t>Session Summary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D9212B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BE93AF-E7B5-D045-8429-AD60E786E755}"/>
              </a:ext>
            </a:extLst>
          </p:cNvPr>
          <p:cNvSpPr txBox="1"/>
          <p:nvPr/>
        </p:nvSpPr>
        <p:spPr>
          <a:xfrm>
            <a:off x="1218460" y="2305520"/>
            <a:ext cx="6147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itchFamily="34" charset="0"/>
              </a:rPr>
              <a:t>In this session, we have discussed about: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156DF94-CA52-B7EB-45DA-7C50E631ABE5}"/>
              </a:ext>
            </a:extLst>
          </p:cNvPr>
          <p:cNvSpPr txBox="1">
            <a:spLocks/>
          </p:cNvSpPr>
          <p:nvPr/>
        </p:nvSpPr>
        <p:spPr>
          <a:xfrm>
            <a:off x="864832" y="2819400"/>
            <a:ext cx="10717567" cy="339634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rgbClr val="404040"/>
                </a:solidFill>
                <a:latin typeface="DeepSeek-CJK-patch"/>
              </a:rPr>
              <a:t>Define</a:t>
            </a:r>
            <a:r>
              <a:rPr lang="en-US">
                <a:solidFill>
                  <a:srgbClr val="404040"/>
                </a:solidFill>
                <a:latin typeface="DeepSeek-CJK-patch"/>
              </a:rPr>
              <a:t> probability, sample space, and events.</a:t>
            </a:r>
          </a:p>
          <a:p>
            <a:endParaRPr lang="en-US">
              <a:solidFill>
                <a:srgbClr val="404040"/>
              </a:solidFill>
              <a:latin typeface="DeepSeek-CJK-patch"/>
            </a:endParaRPr>
          </a:p>
          <a:p>
            <a:pPr>
              <a:spcBef>
                <a:spcPts val="300"/>
              </a:spcBef>
            </a:pPr>
            <a:r>
              <a:rPr lang="en-US">
                <a:solidFill>
                  <a:srgbClr val="404040"/>
                </a:solidFill>
                <a:latin typeface="DeepSeek-CJK-patch"/>
              </a:rPr>
              <a:t>Understand key properties of probability.</a:t>
            </a:r>
          </a:p>
          <a:p>
            <a:pPr>
              <a:spcBef>
                <a:spcPts val="300"/>
              </a:spcBef>
            </a:pPr>
            <a:endParaRPr lang="en-US" b="1">
              <a:solidFill>
                <a:srgbClr val="404040"/>
              </a:solidFill>
              <a:latin typeface="DeepSeek-CJK-patch"/>
            </a:endParaRPr>
          </a:p>
          <a:p>
            <a:pPr>
              <a:spcBef>
                <a:spcPts val="300"/>
              </a:spcBef>
            </a:pPr>
            <a:r>
              <a:rPr lang="en-US" b="1">
                <a:solidFill>
                  <a:srgbClr val="404040"/>
                </a:solidFill>
                <a:latin typeface="DeepSeek-CJK-patch"/>
              </a:rPr>
              <a:t>Calculate</a:t>
            </a:r>
            <a:r>
              <a:rPr lang="en-US">
                <a:solidFill>
                  <a:srgbClr val="404040"/>
                </a:solidFill>
                <a:latin typeface="DeepSeek-CJK-patch"/>
              </a:rPr>
              <a:t> probabilities for dice, coins, and cards </a:t>
            </a:r>
            <a:r>
              <a:rPr lang="en-US" b="1">
                <a:solidFill>
                  <a:srgbClr val="404040"/>
                </a:solidFill>
                <a:latin typeface="DeepSeek-CJK-patch"/>
              </a:rPr>
              <a:t>with step-by-step solutions</a:t>
            </a:r>
            <a:r>
              <a:rPr lang="en-US">
                <a:solidFill>
                  <a:srgbClr val="404040"/>
                </a:solidFill>
                <a:latin typeface="DeepSeek-CJK-patch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3594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59546-DE86-A91D-D6C0-4DC694BE7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FE865F2-B3CB-A157-5545-C09B44282D58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Reference Links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6448FF5-C12F-7CD4-DA8D-FBF82FEE1569}"/>
              </a:ext>
            </a:extLst>
          </p:cNvPr>
          <p:cNvSpPr txBox="1">
            <a:spLocks/>
          </p:cNvSpPr>
          <p:nvPr/>
        </p:nvSpPr>
        <p:spPr>
          <a:xfrm>
            <a:off x="622300" y="1160003"/>
            <a:ext cx="10947400" cy="496865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hlinkClick r:id="rId2"/>
              </a:rPr>
              <a:t>10 Must-Know Probability Concepts for Every Aspiring Statistician and Data Scientist</a:t>
            </a:r>
            <a:endParaRPr lang="en-US" dirty="0"/>
          </a:p>
          <a:p>
            <a:endParaRPr lang="en-US" dirty="0"/>
          </a:p>
          <a:p>
            <a:r>
              <a:rPr lang="en-US" u="sng" dirty="0">
                <a:hlinkClick r:id="rId3"/>
              </a:rPr>
              <a:t>Mastering Credit Risk Analysis: A Step-by-Step Guide to Descriptive Statistics in Python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hlinkClick r:id="rId4"/>
              </a:rPr>
              <a:t>10 Statistical Concepts Every Aspiring Data Scientist Should Know — The </a:t>
            </a:r>
            <a:r>
              <a:rPr lang="en-US" dirty="0" err="1">
                <a:hlinkClick r:id="rId4"/>
              </a:rPr>
              <a:t>Davangers</a:t>
            </a:r>
            <a:r>
              <a:rPr lang="en-US" dirty="0">
                <a:hlinkClick r:id="rId4"/>
              </a:rPr>
              <a:t>’ Guide!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hlinkClick r:id="rId5"/>
              </a:rPr>
              <a:t>Top 20 Interview Questions on Descriptive and Inferential Statistics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hlinkClick r:id="rId6"/>
              </a:rPr>
              <a:t>10 Must-Know Statistics Interview Questions (With Real Examples &amp; Formulas!)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708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1025</TotalTime>
  <Words>883</Words>
  <Application>Microsoft Office PowerPoint</Application>
  <PresentationFormat>Widescreen</PresentationFormat>
  <Paragraphs>112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3" baseType="lpstr">
      <vt:lpstr>Aptos</vt:lpstr>
      <vt:lpstr>Aptos Display</vt:lpstr>
      <vt:lpstr>Arial</vt:lpstr>
      <vt:lpstr>Avenir Next LT Pro</vt:lpstr>
      <vt:lpstr>Calibri</vt:lpstr>
      <vt:lpstr>Cambria Math</vt:lpstr>
      <vt:lpstr>DeepSeek-CJK-patch</vt:lpstr>
      <vt:lpstr>KaTeX_Main</vt:lpstr>
      <vt:lpstr>Montserrat SemiBold</vt:lpstr>
      <vt:lpstr>Söhne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idol</dc:creator>
  <cp:lastModifiedBy>Mohamed Ali</cp:lastModifiedBy>
  <cp:revision>81</cp:revision>
  <dcterms:created xsi:type="dcterms:W3CDTF">2025-07-09T10:39:06Z</dcterms:created>
  <dcterms:modified xsi:type="dcterms:W3CDTF">2026-10-28T11:20:21Z</dcterms:modified>
</cp:coreProperties>
</file>