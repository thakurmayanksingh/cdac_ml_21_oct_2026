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302" r:id="rId4"/>
    <p:sldId id="324" r:id="rId5"/>
    <p:sldId id="290" r:id="rId6"/>
    <p:sldId id="310" r:id="rId7"/>
    <p:sldId id="311" r:id="rId8"/>
    <p:sldId id="325" r:id="rId9"/>
    <p:sldId id="271" r:id="rId10"/>
    <p:sldId id="326" r:id="rId11"/>
    <p:sldId id="284" r:id="rId12"/>
    <p:sldId id="327" r:id="rId13"/>
    <p:sldId id="312" r:id="rId14"/>
    <p:sldId id="313" r:id="rId15"/>
    <p:sldId id="314" r:id="rId16"/>
    <p:sldId id="328" r:id="rId17"/>
    <p:sldId id="329" r:id="rId18"/>
    <p:sldId id="282" r:id="rId19"/>
    <p:sldId id="298" r:id="rId20"/>
    <p:sldId id="303" r:id="rId21"/>
    <p:sldId id="315" r:id="rId22"/>
    <p:sldId id="304" r:id="rId23"/>
    <p:sldId id="322" r:id="rId24"/>
    <p:sldId id="291" r:id="rId25"/>
    <p:sldId id="330" r:id="rId26"/>
    <p:sldId id="293" r:id="rId27"/>
    <p:sldId id="331" r:id="rId28"/>
    <p:sldId id="296" r:id="rId29"/>
    <p:sldId id="295" r:id="rId3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166" userDrawn="1">
          <p15:clr>
            <a:srgbClr val="A4A3A4"/>
          </p15:clr>
        </p15:guide>
        <p15:guide id="4" pos="751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>
    <p:restoredLeft sz="13271" autoAdjust="0"/>
    <p:restoredTop sz="94660"/>
  </p:normalViewPr>
  <p:slideViewPr>
    <p:cSldViewPr snapToGrid="0" showGuides="1">
      <p:cViewPr varScale="1">
        <p:scale>
          <a:sx n="97" d="100"/>
          <a:sy n="97" d="100"/>
        </p:scale>
        <p:origin x="228" y="48"/>
      </p:cViewPr>
      <p:guideLst>
        <p:guide orient="horz" pos="2160"/>
        <p:guide pos="3840"/>
        <p:guide pos="166"/>
        <p:guide pos="751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8" Type="http://schemas.openxmlformats.org/officeDocument/2006/relationships/slide" Target="slides/slide7.xml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svg"/><Relationship Id="rId1" Type="http://schemas.openxmlformats.org/officeDocument/2006/relationships/image" Target="../media/image6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svg"/><Relationship Id="rId1" Type="http://schemas.openxmlformats.org/officeDocument/2006/relationships/image" Target="../media/image6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CE20191-79D5-4E5E-B3DA-228445DE07B2}" type="doc">
      <dgm:prSet loTypeId="urn:microsoft.com/office/officeart/2005/8/layout/default" loCatId="list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A46E80D2-9696-40A9-BBD4-48BDBD501277}">
      <dgm:prSet/>
      <dgm:spPr/>
      <dgm:t>
        <a:bodyPr/>
        <a:lstStyle/>
        <a:p>
          <a:r>
            <a:rPr lang="en-US"/>
            <a:t>Discrete Distributions: Binomial, Poisson</a:t>
          </a:r>
        </a:p>
      </dgm:t>
    </dgm:pt>
    <dgm:pt modelId="{3656D5C9-2BDF-48C9-A93F-0100B3D6F134}" type="parTrans" cxnId="{F119818B-DD92-4DF6-8066-D3CA4E0B6CD3}">
      <dgm:prSet/>
      <dgm:spPr/>
      <dgm:t>
        <a:bodyPr/>
        <a:lstStyle/>
        <a:p>
          <a:endParaRPr lang="en-US" sz="2800"/>
        </a:p>
      </dgm:t>
    </dgm:pt>
    <dgm:pt modelId="{83AF8C37-AA60-482A-B9E2-2108CC2B3BE9}" type="sibTrans" cxnId="{F119818B-DD92-4DF6-8066-D3CA4E0B6CD3}">
      <dgm:prSet/>
      <dgm:spPr/>
      <dgm:t>
        <a:bodyPr/>
        <a:lstStyle/>
        <a:p>
          <a:endParaRPr lang="en-US"/>
        </a:p>
      </dgm:t>
    </dgm:pt>
    <dgm:pt modelId="{E293B620-CE18-46D3-973F-02D267B68DA9}">
      <dgm:prSet/>
      <dgm:spPr/>
      <dgm:t>
        <a:bodyPr/>
        <a:lstStyle/>
        <a:p>
          <a:r>
            <a:rPr lang="en-US"/>
            <a:t>Continuous Distributions: Normal, Exponential</a:t>
          </a:r>
        </a:p>
      </dgm:t>
    </dgm:pt>
    <dgm:pt modelId="{062945B8-70EC-44BD-BE24-8329D3EB4022}" type="parTrans" cxnId="{E64D28C5-AE1D-4FF1-B312-4F4CBD255819}">
      <dgm:prSet/>
      <dgm:spPr/>
      <dgm:t>
        <a:bodyPr/>
        <a:lstStyle/>
        <a:p>
          <a:endParaRPr lang="en-US" sz="2800"/>
        </a:p>
      </dgm:t>
    </dgm:pt>
    <dgm:pt modelId="{341ED391-2358-4341-932D-2A1FF32C07F6}" type="sibTrans" cxnId="{E64D28C5-AE1D-4FF1-B312-4F4CBD255819}">
      <dgm:prSet/>
      <dgm:spPr/>
      <dgm:t>
        <a:bodyPr/>
        <a:lstStyle/>
        <a:p>
          <a:endParaRPr lang="en-US"/>
        </a:p>
      </dgm:t>
    </dgm:pt>
    <dgm:pt modelId="{B1CD5AFC-DCBE-4294-8257-BDCF0507580A}" type="pres">
      <dgm:prSet presAssocID="{8CE20191-79D5-4E5E-B3DA-228445DE07B2}" presName="diagram" presStyleCnt="0">
        <dgm:presLayoutVars>
          <dgm:dir/>
          <dgm:resizeHandles val="exact"/>
        </dgm:presLayoutVars>
      </dgm:prSet>
      <dgm:spPr/>
    </dgm:pt>
    <dgm:pt modelId="{B9F869BE-BEBF-4D8E-83C5-8564CCED4894}" type="pres">
      <dgm:prSet presAssocID="{A46E80D2-9696-40A9-BBD4-48BDBD501277}" presName="node" presStyleLbl="node1" presStyleIdx="0" presStyleCnt="2">
        <dgm:presLayoutVars>
          <dgm:bulletEnabled val="1"/>
        </dgm:presLayoutVars>
      </dgm:prSet>
      <dgm:spPr/>
    </dgm:pt>
    <dgm:pt modelId="{C44BD1D9-6620-452F-A3FC-D2F572256911}" type="pres">
      <dgm:prSet presAssocID="{83AF8C37-AA60-482A-B9E2-2108CC2B3BE9}" presName="sibTrans" presStyleCnt="0"/>
      <dgm:spPr/>
    </dgm:pt>
    <dgm:pt modelId="{1D6D2A50-812B-478F-A79A-F5C1091095DC}" type="pres">
      <dgm:prSet presAssocID="{E293B620-CE18-46D3-973F-02D267B68DA9}" presName="node" presStyleLbl="node1" presStyleIdx="1" presStyleCnt="2">
        <dgm:presLayoutVars>
          <dgm:bulletEnabled val="1"/>
        </dgm:presLayoutVars>
      </dgm:prSet>
      <dgm:spPr/>
    </dgm:pt>
  </dgm:ptLst>
  <dgm:cxnLst>
    <dgm:cxn modelId="{4A489871-0023-4FA0-9F69-066CA56DEA8D}" type="presOf" srcId="{E293B620-CE18-46D3-973F-02D267B68DA9}" destId="{1D6D2A50-812B-478F-A79A-F5C1091095DC}" srcOrd="0" destOrd="0" presId="urn:microsoft.com/office/officeart/2005/8/layout/default"/>
    <dgm:cxn modelId="{12137082-3AC5-4362-8E47-6DAC3A09EF69}" type="presOf" srcId="{8CE20191-79D5-4E5E-B3DA-228445DE07B2}" destId="{B1CD5AFC-DCBE-4294-8257-BDCF0507580A}" srcOrd="0" destOrd="0" presId="urn:microsoft.com/office/officeart/2005/8/layout/default"/>
    <dgm:cxn modelId="{F119818B-DD92-4DF6-8066-D3CA4E0B6CD3}" srcId="{8CE20191-79D5-4E5E-B3DA-228445DE07B2}" destId="{A46E80D2-9696-40A9-BBD4-48BDBD501277}" srcOrd="0" destOrd="0" parTransId="{3656D5C9-2BDF-48C9-A93F-0100B3D6F134}" sibTransId="{83AF8C37-AA60-482A-B9E2-2108CC2B3BE9}"/>
    <dgm:cxn modelId="{F96C0CBE-AAD4-48E5-B0B0-8963E1EA0BBE}" type="presOf" srcId="{A46E80D2-9696-40A9-BBD4-48BDBD501277}" destId="{B9F869BE-BEBF-4D8E-83C5-8564CCED4894}" srcOrd="0" destOrd="0" presId="urn:microsoft.com/office/officeart/2005/8/layout/default"/>
    <dgm:cxn modelId="{E64D28C5-AE1D-4FF1-B312-4F4CBD255819}" srcId="{8CE20191-79D5-4E5E-B3DA-228445DE07B2}" destId="{E293B620-CE18-46D3-973F-02D267B68DA9}" srcOrd="1" destOrd="0" parTransId="{062945B8-70EC-44BD-BE24-8329D3EB4022}" sibTransId="{341ED391-2358-4341-932D-2A1FF32C07F6}"/>
    <dgm:cxn modelId="{FC034919-841E-47D9-B888-406AD784CE39}" type="presParOf" srcId="{B1CD5AFC-DCBE-4294-8257-BDCF0507580A}" destId="{B9F869BE-BEBF-4D8E-83C5-8564CCED4894}" srcOrd="0" destOrd="0" presId="urn:microsoft.com/office/officeart/2005/8/layout/default"/>
    <dgm:cxn modelId="{C454750A-7FCD-461A-B82E-9D7F49415E27}" type="presParOf" srcId="{B1CD5AFC-DCBE-4294-8257-BDCF0507580A}" destId="{C44BD1D9-6620-452F-A3FC-D2F572256911}" srcOrd="1" destOrd="0" presId="urn:microsoft.com/office/officeart/2005/8/layout/default"/>
    <dgm:cxn modelId="{FEDF7B10-84B9-4397-944F-D9EC150776ED}" type="presParOf" srcId="{B1CD5AFC-DCBE-4294-8257-BDCF0507580A}" destId="{1D6D2A50-812B-478F-A79A-F5C1091095DC}" srcOrd="2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40B3CF3-4DA9-4DAD-92DE-4AB48AEA458D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6202E6DC-E840-4A7C-8DCB-74CB01A0F4D4}">
      <dgm:prSet/>
      <dgm:spPr/>
      <dgm:t>
        <a:bodyPr/>
        <a:lstStyle/>
        <a:p>
          <a:pPr>
            <a:defRPr cap="all"/>
          </a:pPr>
          <a:r>
            <a:rPr lang="en-US"/>
            <a:t>Binomial: fixed trials, yes/no</a:t>
          </a:r>
        </a:p>
      </dgm:t>
    </dgm:pt>
    <dgm:pt modelId="{211FFB38-06A4-4D4C-A16A-46C361D97EFB}" type="parTrans" cxnId="{F883DBE4-4C2A-42B6-8B34-1BB624F90AC9}">
      <dgm:prSet/>
      <dgm:spPr/>
      <dgm:t>
        <a:bodyPr/>
        <a:lstStyle/>
        <a:p>
          <a:endParaRPr lang="en-US"/>
        </a:p>
      </dgm:t>
    </dgm:pt>
    <dgm:pt modelId="{907CC9BD-6C43-4367-94DE-F960C6F179AA}" type="sibTrans" cxnId="{F883DBE4-4C2A-42B6-8B34-1BB624F90AC9}">
      <dgm:prSet/>
      <dgm:spPr/>
      <dgm:t>
        <a:bodyPr/>
        <a:lstStyle/>
        <a:p>
          <a:endParaRPr lang="en-US"/>
        </a:p>
      </dgm:t>
    </dgm:pt>
    <dgm:pt modelId="{011B9D05-5A5F-4C6E-86AB-6317733475B6}">
      <dgm:prSet/>
      <dgm:spPr/>
      <dgm:t>
        <a:bodyPr/>
        <a:lstStyle/>
        <a:p>
          <a:pPr>
            <a:defRPr cap="all"/>
          </a:pPr>
          <a:r>
            <a:rPr lang="en-US"/>
            <a:t>Poisson: rare events over time</a:t>
          </a:r>
        </a:p>
      </dgm:t>
    </dgm:pt>
    <dgm:pt modelId="{AEDDD25B-9EAC-43C5-9024-B1F261D1BC15}" type="parTrans" cxnId="{C1D2F78D-7FC4-466B-9195-CE3235016B84}">
      <dgm:prSet/>
      <dgm:spPr/>
      <dgm:t>
        <a:bodyPr/>
        <a:lstStyle/>
        <a:p>
          <a:endParaRPr lang="en-US"/>
        </a:p>
      </dgm:t>
    </dgm:pt>
    <dgm:pt modelId="{9F00C446-F41B-447E-A680-BDBF5BB157D3}" type="sibTrans" cxnId="{C1D2F78D-7FC4-466B-9195-CE3235016B84}">
      <dgm:prSet/>
      <dgm:spPr/>
      <dgm:t>
        <a:bodyPr/>
        <a:lstStyle/>
        <a:p>
          <a:endParaRPr lang="en-US"/>
        </a:p>
      </dgm:t>
    </dgm:pt>
    <dgm:pt modelId="{67D3F84B-87DD-4C55-A4BF-62063AC8C489}">
      <dgm:prSet/>
      <dgm:spPr/>
      <dgm:t>
        <a:bodyPr/>
        <a:lstStyle/>
        <a:p>
          <a:pPr>
            <a:defRPr cap="all"/>
          </a:pPr>
          <a:r>
            <a:rPr lang="en-US"/>
            <a:t>Normal: continuous data, bell curve</a:t>
          </a:r>
        </a:p>
      </dgm:t>
    </dgm:pt>
    <dgm:pt modelId="{E964A71E-33DF-4018-A8E2-98D50EE47276}" type="parTrans" cxnId="{844083B7-6BD6-4A34-8A17-604BBC571A4F}">
      <dgm:prSet/>
      <dgm:spPr/>
      <dgm:t>
        <a:bodyPr/>
        <a:lstStyle/>
        <a:p>
          <a:endParaRPr lang="en-US"/>
        </a:p>
      </dgm:t>
    </dgm:pt>
    <dgm:pt modelId="{F08D4CC0-3AB3-41F3-9E21-75B76789000F}" type="sibTrans" cxnId="{844083B7-6BD6-4A34-8A17-604BBC571A4F}">
      <dgm:prSet/>
      <dgm:spPr/>
      <dgm:t>
        <a:bodyPr/>
        <a:lstStyle/>
        <a:p>
          <a:endParaRPr lang="en-US"/>
        </a:p>
      </dgm:t>
    </dgm:pt>
    <dgm:pt modelId="{F291F4A5-C0B5-4241-8EB5-6AE213FA9328}" type="pres">
      <dgm:prSet presAssocID="{E40B3CF3-4DA9-4DAD-92DE-4AB48AEA458D}" presName="root" presStyleCnt="0">
        <dgm:presLayoutVars>
          <dgm:dir/>
          <dgm:resizeHandles val="exact"/>
        </dgm:presLayoutVars>
      </dgm:prSet>
      <dgm:spPr/>
    </dgm:pt>
    <dgm:pt modelId="{3CF4691D-DB62-4EE9-9571-C68B43304356}" type="pres">
      <dgm:prSet presAssocID="{6202E6DC-E840-4A7C-8DCB-74CB01A0F4D4}" presName="compNode" presStyleCnt="0"/>
      <dgm:spPr/>
    </dgm:pt>
    <dgm:pt modelId="{596EAA39-3A1D-47AB-9D25-BFE7EC566BD5}" type="pres">
      <dgm:prSet presAssocID="{6202E6DC-E840-4A7C-8DCB-74CB01A0F4D4}" presName="iconBgRect" presStyleLbl="bgShp" presStyleIdx="0" presStyleCnt="3"/>
      <dgm:spPr/>
    </dgm:pt>
    <dgm:pt modelId="{3263AABD-E461-4C19-93B5-18EDC6BEE13E}" type="pres">
      <dgm:prSet presAssocID="{6202E6DC-E840-4A7C-8DCB-74CB01A0F4D4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arbage"/>
        </a:ext>
      </dgm:extLst>
    </dgm:pt>
    <dgm:pt modelId="{9FA19ABF-1803-46D3-BE03-30AFCEE0158C}" type="pres">
      <dgm:prSet presAssocID="{6202E6DC-E840-4A7C-8DCB-74CB01A0F4D4}" presName="spaceRect" presStyleCnt="0"/>
      <dgm:spPr/>
    </dgm:pt>
    <dgm:pt modelId="{8844FE85-AEF7-4B14-AAE8-1094B87B99D7}" type="pres">
      <dgm:prSet presAssocID="{6202E6DC-E840-4A7C-8DCB-74CB01A0F4D4}" presName="textRect" presStyleLbl="revTx" presStyleIdx="0" presStyleCnt="3">
        <dgm:presLayoutVars>
          <dgm:chMax val="1"/>
          <dgm:chPref val="1"/>
        </dgm:presLayoutVars>
      </dgm:prSet>
      <dgm:spPr/>
    </dgm:pt>
    <dgm:pt modelId="{3760713B-FA72-4833-B9B8-CEA6595F06A2}" type="pres">
      <dgm:prSet presAssocID="{907CC9BD-6C43-4367-94DE-F960C6F179AA}" presName="sibTrans" presStyleCnt="0"/>
      <dgm:spPr/>
    </dgm:pt>
    <dgm:pt modelId="{EB588C2F-02D3-4703-B462-5C4CA4027A81}" type="pres">
      <dgm:prSet presAssocID="{011B9D05-5A5F-4C6E-86AB-6317733475B6}" presName="compNode" presStyleCnt="0"/>
      <dgm:spPr/>
    </dgm:pt>
    <dgm:pt modelId="{FF0B5243-58EA-4798-A54F-06C314B7730B}" type="pres">
      <dgm:prSet presAssocID="{011B9D05-5A5F-4C6E-86AB-6317733475B6}" presName="iconBgRect" presStyleLbl="bgShp" presStyleIdx="1" presStyleCnt="3"/>
      <dgm:spPr/>
    </dgm:pt>
    <dgm:pt modelId="{9B54A11A-4208-48CE-AE07-45A13F98C410}" type="pres">
      <dgm:prSet presAssocID="{011B9D05-5A5F-4C6E-86AB-6317733475B6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hole Pizza"/>
        </a:ext>
      </dgm:extLst>
    </dgm:pt>
    <dgm:pt modelId="{510E1F88-603C-4961-ABEC-D6964B983A38}" type="pres">
      <dgm:prSet presAssocID="{011B9D05-5A5F-4C6E-86AB-6317733475B6}" presName="spaceRect" presStyleCnt="0"/>
      <dgm:spPr/>
    </dgm:pt>
    <dgm:pt modelId="{6186644B-F8E6-4F82-A414-7294124F0EF0}" type="pres">
      <dgm:prSet presAssocID="{011B9D05-5A5F-4C6E-86AB-6317733475B6}" presName="textRect" presStyleLbl="revTx" presStyleIdx="1" presStyleCnt="3">
        <dgm:presLayoutVars>
          <dgm:chMax val="1"/>
          <dgm:chPref val="1"/>
        </dgm:presLayoutVars>
      </dgm:prSet>
      <dgm:spPr/>
    </dgm:pt>
    <dgm:pt modelId="{04181551-78A8-4108-8162-27191A02F177}" type="pres">
      <dgm:prSet presAssocID="{9F00C446-F41B-447E-A680-BDBF5BB157D3}" presName="sibTrans" presStyleCnt="0"/>
      <dgm:spPr/>
    </dgm:pt>
    <dgm:pt modelId="{813F511D-DE69-42AD-A18E-B4422A216D25}" type="pres">
      <dgm:prSet presAssocID="{67D3F84B-87DD-4C55-A4BF-62063AC8C489}" presName="compNode" presStyleCnt="0"/>
      <dgm:spPr/>
    </dgm:pt>
    <dgm:pt modelId="{9FC8642B-7641-4FCF-9485-E1E131035764}" type="pres">
      <dgm:prSet presAssocID="{67D3F84B-87DD-4C55-A4BF-62063AC8C489}" presName="iconBgRect" presStyleLbl="bgShp" presStyleIdx="2" presStyleCnt="3"/>
      <dgm:spPr/>
    </dgm:pt>
    <dgm:pt modelId="{FE658148-441B-4068-876A-0AEAC662F3A1}" type="pres">
      <dgm:prSet presAssocID="{67D3F84B-87DD-4C55-A4BF-62063AC8C489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inger"/>
        </a:ext>
      </dgm:extLst>
    </dgm:pt>
    <dgm:pt modelId="{39DAF5B7-6F46-4D79-B3D2-2953D8AC3515}" type="pres">
      <dgm:prSet presAssocID="{67D3F84B-87DD-4C55-A4BF-62063AC8C489}" presName="spaceRect" presStyleCnt="0"/>
      <dgm:spPr/>
    </dgm:pt>
    <dgm:pt modelId="{9BB9124D-B0F3-435E-9CDB-8DF98D492015}" type="pres">
      <dgm:prSet presAssocID="{67D3F84B-87DD-4C55-A4BF-62063AC8C489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9CA4E53C-268E-4CD6-A054-4AD597D48FFA}" type="presOf" srcId="{6202E6DC-E840-4A7C-8DCB-74CB01A0F4D4}" destId="{8844FE85-AEF7-4B14-AAE8-1094B87B99D7}" srcOrd="0" destOrd="0" presId="urn:microsoft.com/office/officeart/2018/5/layout/IconCircleLabelList"/>
    <dgm:cxn modelId="{745B8E56-3BA3-4D4C-B076-939A9026652F}" type="presOf" srcId="{67D3F84B-87DD-4C55-A4BF-62063AC8C489}" destId="{9BB9124D-B0F3-435E-9CDB-8DF98D492015}" srcOrd="0" destOrd="0" presId="urn:microsoft.com/office/officeart/2018/5/layout/IconCircleLabelList"/>
    <dgm:cxn modelId="{C1D2F78D-7FC4-466B-9195-CE3235016B84}" srcId="{E40B3CF3-4DA9-4DAD-92DE-4AB48AEA458D}" destId="{011B9D05-5A5F-4C6E-86AB-6317733475B6}" srcOrd="1" destOrd="0" parTransId="{AEDDD25B-9EAC-43C5-9024-B1F261D1BC15}" sibTransId="{9F00C446-F41B-447E-A680-BDBF5BB157D3}"/>
    <dgm:cxn modelId="{E0706BA4-5C5B-43B1-B292-03634026F414}" type="presOf" srcId="{011B9D05-5A5F-4C6E-86AB-6317733475B6}" destId="{6186644B-F8E6-4F82-A414-7294124F0EF0}" srcOrd="0" destOrd="0" presId="urn:microsoft.com/office/officeart/2018/5/layout/IconCircleLabelList"/>
    <dgm:cxn modelId="{844083B7-6BD6-4A34-8A17-604BBC571A4F}" srcId="{E40B3CF3-4DA9-4DAD-92DE-4AB48AEA458D}" destId="{67D3F84B-87DD-4C55-A4BF-62063AC8C489}" srcOrd="2" destOrd="0" parTransId="{E964A71E-33DF-4018-A8E2-98D50EE47276}" sibTransId="{F08D4CC0-3AB3-41F3-9E21-75B76789000F}"/>
    <dgm:cxn modelId="{6CBE7EB8-9D26-4BE1-9A74-FC08EC4679C9}" type="presOf" srcId="{E40B3CF3-4DA9-4DAD-92DE-4AB48AEA458D}" destId="{F291F4A5-C0B5-4241-8EB5-6AE213FA9328}" srcOrd="0" destOrd="0" presId="urn:microsoft.com/office/officeart/2018/5/layout/IconCircleLabelList"/>
    <dgm:cxn modelId="{F883DBE4-4C2A-42B6-8B34-1BB624F90AC9}" srcId="{E40B3CF3-4DA9-4DAD-92DE-4AB48AEA458D}" destId="{6202E6DC-E840-4A7C-8DCB-74CB01A0F4D4}" srcOrd="0" destOrd="0" parTransId="{211FFB38-06A4-4D4C-A16A-46C361D97EFB}" sibTransId="{907CC9BD-6C43-4367-94DE-F960C6F179AA}"/>
    <dgm:cxn modelId="{754483FC-663F-4407-8B28-AF36A5F8808A}" type="presParOf" srcId="{F291F4A5-C0B5-4241-8EB5-6AE213FA9328}" destId="{3CF4691D-DB62-4EE9-9571-C68B43304356}" srcOrd="0" destOrd="0" presId="urn:microsoft.com/office/officeart/2018/5/layout/IconCircleLabelList"/>
    <dgm:cxn modelId="{890A7CAA-66D5-4FF8-BA00-2581F709FEAD}" type="presParOf" srcId="{3CF4691D-DB62-4EE9-9571-C68B43304356}" destId="{596EAA39-3A1D-47AB-9D25-BFE7EC566BD5}" srcOrd="0" destOrd="0" presId="urn:microsoft.com/office/officeart/2018/5/layout/IconCircleLabelList"/>
    <dgm:cxn modelId="{6482F969-D3D2-40A7-8222-380BE0A71A8B}" type="presParOf" srcId="{3CF4691D-DB62-4EE9-9571-C68B43304356}" destId="{3263AABD-E461-4C19-93B5-18EDC6BEE13E}" srcOrd="1" destOrd="0" presId="urn:microsoft.com/office/officeart/2018/5/layout/IconCircleLabelList"/>
    <dgm:cxn modelId="{46D75537-2A23-4749-B576-DD496665F4F0}" type="presParOf" srcId="{3CF4691D-DB62-4EE9-9571-C68B43304356}" destId="{9FA19ABF-1803-46D3-BE03-30AFCEE0158C}" srcOrd="2" destOrd="0" presId="urn:microsoft.com/office/officeart/2018/5/layout/IconCircleLabelList"/>
    <dgm:cxn modelId="{CAF93025-86C2-4238-8BF2-19F0F0A7C93E}" type="presParOf" srcId="{3CF4691D-DB62-4EE9-9571-C68B43304356}" destId="{8844FE85-AEF7-4B14-AAE8-1094B87B99D7}" srcOrd="3" destOrd="0" presId="urn:microsoft.com/office/officeart/2018/5/layout/IconCircleLabelList"/>
    <dgm:cxn modelId="{EADF4207-26C0-451E-A9F6-E4267E63FD70}" type="presParOf" srcId="{F291F4A5-C0B5-4241-8EB5-6AE213FA9328}" destId="{3760713B-FA72-4833-B9B8-CEA6595F06A2}" srcOrd="1" destOrd="0" presId="urn:microsoft.com/office/officeart/2018/5/layout/IconCircleLabelList"/>
    <dgm:cxn modelId="{1F99C447-90FC-4A6F-9D61-7018A52A9692}" type="presParOf" srcId="{F291F4A5-C0B5-4241-8EB5-6AE213FA9328}" destId="{EB588C2F-02D3-4703-B462-5C4CA4027A81}" srcOrd="2" destOrd="0" presId="urn:microsoft.com/office/officeart/2018/5/layout/IconCircleLabelList"/>
    <dgm:cxn modelId="{2CB63008-28A6-4A9B-BF07-7352127DFB12}" type="presParOf" srcId="{EB588C2F-02D3-4703-B462-5C4CA4027A81}" destId="{FF0B5243-58EA-4798-A54F-06C314B7730B}" srcOrd="0" destOrd="0" presId="urn:microsoft.com/office/officeart/2018/5/layout/IconCircleLabelList"/>
    <dgm:cxn modelId="{6BD07C43-42FA-4650-84FD-5A211A4A2818}" type="presParOf" srcId="{EB588C2F-02D3-4703-B462-5C4CA4027A81}" destId="{9B54A11A-4208-48CE-AE07-45A13F98C410}" srcOrd="1" destOrd="0" presId="urn:microsoft.com/office/officeart/2018/5/layout/IconCircleLabelList"/>
    <dgm:cxn modelId="{1D954534-DC9F-415C-9CB6-E3FEECD3883B}" type="presParOf" srcId="{EB588C2F-02D3-4703-B462-5C4CA4027A81}" destId="{510E1F88-603C-4961-ABEC-D6964B983A38}" srcOrd="2" destOrd="0" presId="urn:microsoft.com/office/officeart/2018/5/layout/IconCircleLabelList"/>
    <dgm:cxn modelId="{48CDF855-7727-4C97-9299-D2A1A324EF0E}" type="presParOf" srcId="{EB588C2F-02D3-4703-B462-5C4CA4027A81}" destId="{6186644B-F8E6-4F82-A414-7294124F0EF0}" srcOrd="3" destOrd="0" presId="urn:microsoft.com/office/officeart/2018/5/layout/IconCircleLabelList"/>
    <dgm:cxn modelId="{DE2B497C-A18D-482D-BAC7-E0A76D87F490}" type="presParOf" srcId="{F291F4A5-C0B5-4241-8EB5-6AE213FA9328}" destId="{04181551-78A8-4108-8162-27191A02F177}" srcOrd="3" destOrd="0" presId="urn:microsoft.com/office/officeart/2018/5/layout/IconCircleLabelList"/>
    <dgm:cxn modelId="{CB35B37B-C238-4F7C-BD93-BF198CE16D30}" type="presParOf" srcId="{F291F4A5-C0B5-4241-8EB5-6AE213FA9328}" destId="{813F511D-DE69-42AD-A18E-B4422A216D25}" srcOrd="4" destOrd="0" presId="urn:microsoft.com/office/officeart/2018/5/layout/IconCircleLabelList"/>
    <dgm:cxn modelId="{7DF326AF-14FA-431C-B672-2EDB726F9E89}" type="presParOf" srcId="{813F511D-DE69-42AD-A18E-B4422A216D25}" destId="{9FC8642B-7641-4FCF-9485-E1E131035764}" srcOrd="0" destOrd="0" presId="urn:microsoft.com/office/officeart/2018/5/layout/IconCircleLabelList"/>
    <dgm:cxn modelId="{06D53D8F-158D-43C2-BC42-ED3C28FA0E36}" type="presParOf" srcId="{813F511D-DE69-42AD-A18E-B4422A216D25}" destId="{FE658148-441B-4068-876A-0AEAC662F3A1}" srcOrd="1" destOrd="0" presId="urn:microsoft.com/office/officeart/2018/5/layout/IconCircleLabelList"/>
    <dgm:cxn modelId="{7200972D-5E46-4F32-9145-51E4565C3A07}" type="presParOf" srcId="{813F511D-DE69-42AD-A18E-B4422A216D25}" destId="{39DAF5B7-6F46-4D79-B3D2-2953D8AC3515}" srcOrd="2" destOrd="0" presId="urn:microsoft.com/office/officeart/2018/5/layout/IconCircleLabelList"/>
    <dgm:cxn modelId="{70CFED3D-4156-4B56-8018-02B3FFCD4723}" type="presParOf" srcId="{813F511D-DE69-42AD-A18E-B4422A216D25}" destId="{9BB9124D-B0F3-435E-9CDB-8DF98D492015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9F869BE-BEBF-4D8E-83C5-8564CCED4894}">
      <dsp:nvSpPr>
        <dsp:cNvPr id="0" name=""/>
        <dsp:cNvSpPr/>
      </dsp:nvSpPr>
      <dsp:spPr>
        <a:xfrm>
          <a:off x="1107" y="851075"/>
          <a:ext cx="4318241" cy="2590944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/>
            <a:t>Discrete Distributions: Binomial, Poisson</a:t>
          </a:r>
        </a:p>
      </dsp:txBody>
      <dsp:txXfrm>
        <a:off x="1107" y="851075"/>
        <a:ext cx="4318241" cy="2590944"/>
      </dsp:txXfrm>
    </dsp:sp>
    <dsp:sp modelId="{1D6D2A50-812B-478F-A79A-F5C1091095DC}">
      <dsp:nvSpPr>
        <dsp:cNvPr id="0" name=""/>
        <dsp:cNvSpPr/>
      </dsp:nvSpPr>
      <dsp:spPr>
        <a:xfrm>
          <a:off x="4751172" y="851075"/>
          <a:ext cx="4318241" cy="2590944"/>
        </a:xfrm>
        <a:prstGeom prst="rect">
          <a:avLst/>
        </a:prstGeom>
        <a:solidFill>
          <a:schemeClr val="accent5">
            <a:hueOff val="-12152150"/>
            <a:satOff val="-826"/>
            <a:lumOff val="196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/>
            <a:t>Continuous Distributions: Normal, Exponential</a:t>
          </a:r>
        </a:p>
      </dsp:txBody>
      <dsp:txXfrm>
        <a:off x="4751172" y="851075"/>
        <a:ext cx="4318241" cy="259094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96EAA39-3A1D-47AB-9D25-BFE7EC566BD5}">
      <dsp:nvSpPr>
        <dsp:cNvPr id="0" name=""/>
        <dsp:cNvSpPr/>
      </dsp:nvSpPr>
      <dsp:spPr>
        <a:xfrm>
          <a:off x="719969" y="560399"/>
          <a:ext cx="2024437" cy="2024437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263AABD-E461-4C19-93B5-18EDC6BEE13E}">
      <dsp:nvSpPr>
        <dsp:cNvPr id="0" name=""/>
        <dsp:cNvSpPr/>
      </dsp:nvSpPr>
      <dsp:spPr>
        <a:xfrm>
          <a:off x="1151406" y="991837"/>
          <a:ext cx="1161562" cy="116156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844FE85-AEF7-4B14-AAE8-1094B87B99D7}">
      <dsp:nvSpPr>
        <dsp:cNvPr id="0" name=""/>
        <dsp:cNvSpPr/>
      </dsp:nvSpPr>
      <dsp:spPr>
        <a:xfrm>
          <a:off x="72812" y="3215400"/>
          <a:ext cx="331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400" kern="1200"/>
            <a:t>Binomial: fixed trials, yes/no</a:t>
          </a:r>
        </a:p>
      </dsp:txBody>
      <dsp:txXfrm>
        <a:off x="72812" y="3215400"/>
        <a:ext cx="3318750" cy="720000"/>
      </dsp:txXfrm>
    </dsp:sp>
    <dsp:sp modelId="{FF0B5243-58EA-4798-A54F-06C314B7730B}">
      <dsp:nvSpPr>
        <dsp:cNvPr id="0" name=""/>
        <dsp:cNvSpPr/>
      </dsp:nvSpPr>
      <dsp:spPr>
        <a:xfrm>
          <a:off x="4619500" y="560399"/>
          <a:ext cx="2024437" cy="2024437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B54A11A-4208-48CE-AE07-45A13F98C410}">
      <dsp:nvSpPr>
        <dsp:cNvPr id="0" name=""/>
        <dsp:cNvSpPr/>
      </dsp:nvSpPr>
      <dsp:spPr>
        <a:xfrm>
          <a:off x="5050937" y="991837"/>
          <a:ext cx="1161562" cy="116156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186644B-F8E6-4F82-A414-7294124F0EF0}">
      <dsp:nvSpPr>
        <dsp:cNvPr id="0" name=""/>
        <dsp:cNvSpPr/>
      </dsp:nvSpPr>
      <dsp:spPr>
        <a:xfrm>
          <a:off x="3972344" y="3215400"/>
          <a:ext cx="331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400" kern="1200"/>
            <a:t>Poisson: rare events over time</a:t>
          </a:r>
        </a:p>
      </dsp:txBody>
      <dsp:txXfrm>
        <a:off x="3972344" y="3215400"/>
        <a:ext cx="3318750" cy="720000"/>
      </dsp:txXfrm>
    </dsp:sp>
    <dsp:sp modelId="{9FC8642B-7641-4FCF-9485-E1E131035764}">
      <dsp:nvSpPr>
        <dsp:cNvPr id="0" name=""/>
        <dsp:cNvSpPr/>
      </dsp:nvSpPr>
      <dsp:spPr>
        <a:xfrm>
          <a:off x="8519031" y="560399"/>
          <a:ext cx="2024437" cy="2024437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E658148-441B-4068-876A-0AEAC662F3A1}">
      <dsp:nvSpPr>
        <dsp:cNvPr id="0" name=""/>
        <dsp:cNvSpPr/>
      </dsp:nvSpPr>
      <dsp:spPr>
        <a:xfrm>
          <a:off x="8950469" y="991837"/>
          <a:ext cx="1161562" cy="116156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BB9124D-B0F3-435E-9CDB-8DF98D492015}">
      <dsp:nvSpPr>
        <dsp:cNvPr id="0" name=""/>
        <dsp:cNvSpPr/>
      </dsp:nvSpPr>
      <dsp:spPr>
        <a:xfrm>
          <a:off x="7871875" y="3215400"/>
          <a:ext cx="331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400" kern="1200"/>
            <a:t>Normal: continuous data, bell curve</a:t>
          </a:r>
        </a:p>
      </dsp:txBody>
      <dsp:txXfrm>
        <a:off x="7871875" y="3215400"/>
        <a:ext cx="3318750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38CAB6-0A18-B12A-06A5-CFD0B06665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A51E932-87D4-E4A3-5EC5-FD37D2ADBA8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361194-F8BE-C949-EFCA-00EE7F8679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0130E-D3C0-4B5D-8C12-EBDFC4E82B3D}" type="datetimeFigureOut">
              <a:rPr lang="en-IN" smtClean="0"/>
              <a:t>28-10-2026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334BE2-760E-FA63-F53E-6EC6D65C14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019652-B072-95C3-666A-824B223F07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0C9D19-9CC2-4BD0-80ED-38FDA6BAD8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081034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236250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E55807-6537-7A6D-A641-B2A17376E9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5B0403-42FF-1C59-1D5B-32C3D76224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186C83-3353-0411-EE9B-3502DB3E45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0130E-D3C0-4B5D-8C12-EBDFC4E82B3D}" type="datetimeFigureOut">
              <a:rPr lang="en-IN" smtClean="0"/>
              <a:t>28-10-2026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0F388B-76FB-C020-4F27-4E8F47369B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013B55-0C9D-95FE-DE57-76D9CAC538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0C9D19-9CC2-4BD0-80ED-38FDA6BAD8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18621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B0200A-4353-C353-E184-88D52DADCD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3E2DB6-9BB8-38D4-16CA-0544ED95B0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CE55387-24D0-58FA-83A3-7DE9457A88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792733-6AE7-EB0F-FA3B-AF5CDFCC84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0130E-D3C0-4B5D-8C12-EBDFC4E82B3D}" type="datetimeFigureOut">
              <a:rPr lang="en-IN" smtClean="0"/>
              <a:t>28-10-2026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1F2C6F-7464-367E-E3F8-97DC8C8F38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816EA2-7E56-7BA3-2439-E543C4160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0C9D19-9CC2-4BD0-80ED-38FDA6BAD8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82397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55A9EF-5440-6E76-FF73-0CF065E3FE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746708-25E5-77F6-A964-227D0EE4C5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60C22E3-5FB3-FA79-ED62-21819A6A00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E96025A-E802-D170-D6B8-690A286BCE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F0B7203-20FE-415A-F923-11A30CAAC6E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D7DA1C9-7D6A-71D0-70D9-9B08287184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0130E-D3C0-4B5D-8C12-EBDFC4E82B3D}" type="datetimeFigureOut">
              <a:rPr lang="en-IN" smtClean="0"/>
              <a:t>28-10-2026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5FE8C4F-142A-8803-C2AD-C6393A49A3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A83C7CE-86E2-2A63-0ECE-6F7089A686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0C9D19-9CC2-4BD0-80ED-38FDA6BAD8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17125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CAE12F-6D65-52A0-48AA-B03A63F84E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2C2E755-9EA8-6439-9AA9-91FF3D9183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0130E-D3C0-4B5D-8C12-EBDFC4E82B3D}" type="datetimeFigureOut">
              <a:rPr lang="en-IN" smtClean="0"/>
              <a:t>28-10-2026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EB468B-111F-CF06-6C38-3BC8CFF43D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FD94801-333D-738E-07D1-D8DAF45C09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0C9D19-9CC2-4BD0-80ED-38FDA6BAD8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653370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9345271-495D-152E-CF4A-DF4710D8BE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0130E-D3C0-4B5D-8C12-EBDFC4E82B3D}" type="datetimeFigureOut">
              <a:rPr lang="en-IN" smtClean="0"/>
              <a:t>28-10-2026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4F704DD-032D-53A7-BFF6-45E5965DD4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277178-4230-89A4-5872-75B3492082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0C9D19-9CC2-4BD0-80ED-38FDA6BAD8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370078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3A69D6-24F8-42C9-1D77-EC88669074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9D61D7-9867-D57B-393C-47C770AA65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9ED94E2-1CFC-4DFF-4491-2085D8036D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80CD279-5116-5E15-60C5-9EF79DDB4C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0130E-D3C0-4B5D-8C12-EBDFC4E82B3D}" type="datetimeFigureOut">
              <a:rPr lang="en-IN" smtClean="0"/>
              <a:t>28-10-2026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031C19-F77D-04E3-B033-CF6338C139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8963EA-8864-E6BE-24F5-23AFDA15D8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0C9D19-9CC2-4BD0-80ED-38FDA6BAD8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086678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E56FE6-775B-5F83-EEAB-E36547DB11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1964366-F9DB-7570-8134-3DDD5A1017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EFF4E6-78FE-6A93-F107-25294F26CE4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DA6E5D-D1B7-97B4-E5F0-293D2283C2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0130E-D3C0-4B5D-8C12-EBDFC4E82B3D}" type="datetimeFigureOut">
              <a:rPr lang="en-IN" smtClean="0"/>
              <a:t>28-10-2026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70F263-4F04-05C5-5AB8-17B4BF4369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8888F2-58F4-670D-C34D-AD8FC7455A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0C9D19-9CC2-4BD0-80ED-38FDA6BAD8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088370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B48A30-B913-89F3-B532-786CB42C2F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BD29D4D-DEE7-6A1D-B42E-38574A7273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96FAF5-A696-3446-BF82-38164F6A8A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0130E-D3C0-4B5D-8C12-EBDFC4E82B3D}" type="datetimeFigureOut">
              <a:rPr lang="en-IN" smtClean="0"/>
              <a:t>28-10-2026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EE94DE-54DD-A6A8-474C-AB93008EA0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98F6DA-A2A6-C945-BF21-6706B5FA6B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0C9D19-9CC2-4BD0-80ED-38FDA6BAD8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397277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1308265-AD14-4580-CC74-9C4CF00E99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6F309DA-5772-6FBD-97A3-F137B93F90C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C1C790-714C-45F7-D996-F901BECA50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0130E-D3C0-4B5D-8C12-EBDFC4E82B3D}" type="datetimeFigureOut">
              <a:rPr lang="en-IN" smtClean="0"/>
              <a:t>28-10-2026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F76402-000D-C35B-9564-25F55D31AC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067743-5BF8-DFC2-CBDC-EB27E01169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0C9D19-9CC2-4BD0-80ED-38FDA6BAD8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3758575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9B05E56-8D2F-5F2F-8551-44A2B095FC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6445D5-7E47-8624-9AC3-BB3BCD2772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9B5D27-2F61-7E25-7C4F-55CEB62622E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F10130E-D3C0-4B5D-8C12-EBDFC4E82B3D}" type="datetimeFigureOut">
              <a:rPr lang="en-IN" smtClean="0"/>
              <a:t>28-10-2026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8E40CC-F5EF-5459-5DE6-51B24194D79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677AFA-267B-483B-8828-7D5EC7CBFD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A0C9D19-9CC2-4BD0-80ED-38FDA6BAD8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921971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hyperlink" Target="https://medium.com/@vikashsinghy2k/10-must-know-probability-concepts-for-every-aspiring-statistician-and-data-scientist-66a5b48cacec" TargetMode="External"/><Relationship Id="rId7" Type="http://schemas.openxmlformats.org/officeDocument/2006/relationships/hyperlink" Target="https://medium.com/@vikashsinghy2k/10-must-know-statistics-interview-questions-with-real-examples-formulas-0b1118f5eb10" TargetMode="External"/><Relationship Id="rId2" Type="http://schemas.openxmlformats.org/officeDocument/2006/relationships/hyperlink" Target="https://medium.com/@vikashsinghy2k/top-15-probability-distribution-questions-for-data-science-interviews-77d973fc2164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medium.com/@vikashsinghy2k/top-20-interview-questions-on-descriptive-and-inferential-statistics-b9ce9da9b1f9" TargetMode="External"/><Relationship Id="rId5" Type="http://schemas.openxmlformats.org/officeDocument/2006/relationships/hyperlink" Target="https://github.com/vikashkmd/DSMLNotebooks/blob/main/Common_Distributions_Overview.ipynb" TargetMode="External"/><Relationship Id="rId4" Type="http://schemas.openxmlformats.org/officeDocument/2006/relationships/hyperlink" Target="https://medium.com/@vikashsinghy2k/analyzing-loan-data-with-binomial-and-poisson-distributions-in-python-404bbede0af7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33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68A999DC-A153-1905-C7EE-7C969DA83FFE}"/>
              </a:ext>
            </a:extLst>
          </p:cNvPr>
          <p:cNvSpPr/>
          <p:nvPr/>
        </p:nvSpPr>
        <p:spPr>
          <a:xfrm>
            <a:off x="-419100" y="4152147"/>
            <a:ext cx="12705589" cy="4105276"/>
          </a:xfrm>
          <a:prstGeom prst="rect">
            <a:avLst/>
          </a:prstGeom>
          <a:gradFill>
            <a:gsLst>
              <a:gs pos="0">
                <a:schemeClr val="tx1">
                  <a:lumMod val="95000"/>
                  <a:lumOff val="5000"/>
                  <a:alpha val="0"/>
                </a:schemeClr>
              </a:gs>
              <a:gs pos="100000">
                <a:schemeClr val="tx1">
                  <a:lumMod val="95000"/>
                  <a:lumOff val="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1C59026-22DA-C7EE-E8D5-0A960E14490B}"/>
              </a:ext>
            </a:extLst>
          </p:cNvPr>
          <p:cNvSpPr/>
          <p:nvPr/>
        </p:nvSpPr>
        <p:spPr>
          <a:xfrm>
            <a:off x="0" y="5429251"/>
            <a:ext cx="12192001" cy="865268"/>
          </a:xfrm>
          <a:prstGeom prst="rect">
            <a:avLst/>
          </a:prstGeom>
          <a:solidFill>
            <a:srgbClr val="C00000">
              <a:alpha val="76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FFAFFA5-8138-FB30-6CEE-C907D53506F8}"/>
              </a:ext>
            </a:extLst>
          </p:cNvPr>
          <p:cNvSpPr txBox="1"/>
          <p:nvPr/>
        </p:nvSpPr>
        <p:spPr>
          <a:xfrm>
            <a:off x="1195137" y="5113697"/>
            <a:ext cx="9801726" cy="1477328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endParaRPr lang="en-US" sz="3000" dirty="0">
              <a:solidFill>
                <a:schemeClr val="bg1"/>
              </a:solidFill>
              <a:latin typeface="Montserrat SemiBold" pitchFamily="2" charset="0"/>
            </a:endParaRPr>
          </a:p>
          <a:p>
            <a:pPr algn="ctr"/>
            <a:r>
              <a:rPr lang="en-US" sz="3000" dirty="0">
                <a:solidFill>
                  <a:schemeClr val="bg1"/>
                </a:solidFill>
                <a:latin typeface="Montserrat SemiBold" pitchFamily="2" charset="0"/>
              </a:rPr>
              <a:t>Common Probability Distributions</a:t>
            </a:r>
          </a:p>
          <a:p>
            <a:pPr algn="ctr"/>
            <a:endParaRPr lang="en-US" sz="3000" dirty="0">
              <a:solidFill>
                <a:schemeClr val="bg1"/>
              </a:solidFill>
              <a:latin typeface="Montserrat SemiBold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96957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E650A68-EA3A-2D91-1B47-FD55243C0DD5}"/>
              </a:ext>
            </a:extLst>
          </p:cNvPr>
          <p:cNvSpPr txBox="1">
            <a:spLocks/>
          </p:cNvSpPr>
          <p:nvPr/>
        </p:nvSpPr>
        <p:spPr>
          <a:xfrm>
            <a:off x="3606449" y="239070"/>
            <a:ext cx="6909152" cy="688698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b="1" dirty="0">
                <a:solidFill>
                  <a:srgbClr val="D9212B"/>
                </a:solidFill>
                <a:latin typeface="Avenir Next LT Pro" panose="020B0504020202020204" pitchFamily="34" charset="0"/>
                <a:cs typeface="Arial" pitchFamily="34" charset="0"/>
              </a:rPr>
              <a:t>Learning Objectives</a:t>
            </a:r>
            <a:endParaRPr lang="en-US" sz="2800" b="1" dirty="0">
              <a:solidFill>
                <a:srgbClr val="D9212B"/>
              </a:solidFill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25DD431F-D61B-40D1-6A24-AC95A22F2994}"/>
              </a:ext>
            </a:extLst>
          </p:cNvPr>
          <p:cNvSpPr txBox="1">
            <a:spLocks/>
          </p:cNvSpPr>
          <p:nvPr/>
        </p:nvSpPr>
        <p:spPr>
          <a:xfrm>
            <a:off x="864833" y="2134159"/>
            <a:ext cx="10249481" cy="57134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3200" b="1" dirty="0">
                <a:latin typeface="Avenir Next LT Pro" panose="020B0504020202020204" pitchFamily="34" charset="0"/>
                <a:cs typeface="Arial" pitchFamily="34" charset="0"/>
              </a:rPr>
              <a:t>By the end of this session, you will be able to: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0F1AC96C-937F-7EF1-B25C-53F6BC35D4FA}"/>
              </a:ext>
            </a:extLst>
          </p:cNvPr>
          <p:cNvSpPr txBox="1">
            <a:spLocks/>
          </p:cNvSpPr>
          <p:nvPr/>
        </p:nvSpPr>
        <p:spPr>
          <a:xfrm>
            <a:off x="859972" y="2828771"/>
            <a:ext cx="10515600" cy="2918886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Understand the concept of random variable and probability distributions. </a:t>
            </a:r>
          </a:p>
          <a:p>
            <a:r>
              <a:rPr lang="en-US" dirty="0"/>
              <a:t>Understand Normal, Binomial, and Poisson Distributions.</a:t>
            </a:r>
          </a:p>
          <a:p>
            <a:r>
              <a:rPr lang="en-US" dirty="0"/>
              <a:t>Learn the formulas, attempt quizzes and solve numerical problems.</a:t>
            </a:r>
          </a:p>
          <a:p>
            <a:r>
              <a:rPr lang="en-US" dirty="0"/>
              <a:t>How to work with probability distributions using Python!</a:t>
            </a:r>
          </a:p>
        </p:txBody>
      </p:sp>
    </p:spTree>
    <p:extLst>
      <p:ext uri="{BB962C8B-B14F-4D97-AF65-F5344CB8AC3E}">
        <p14:creationId xmlns:p14="http://schemas.microsoft.com/office/powerpoint/2010/main" val="16352026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D1F271-41DA-A538-EB88-50AE4905C6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DEAE32DE-AD3D-9B3C-1A90-6B08F4EC0A11}"/>
              </a:ext>
            </a:extLst>
          </p:cNvPr>
          <p:cNvSpPr txBox="1">
            <a:spLocks/>
          </p:cNvSpPr>
          <p:nvPr/>
        </p:nvSpPr>
        <p:spPr>
          <a:xfrm>
            <a:off x="3516085" y="217297"/>
            <a:ext cx="7438219" cy="688698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b="1">
                <a:solidFill>
                  <a:srgbClr val="D9212B"/>
                </a:solidFill>
                <a:latin typeface="Avenir Next LT Pro" panose="020B0504020202020204" pitchFamily="34" charset="0"/>
                <a:cs typeface="Arial" pitchFamily="34" charset="0"/>
              </a:rPr>
              <a:t>Random Variable Example</a:t>
            </a:r>
            <a:endParaRPr lang="en-US" sz="2800" b="1" dirty="0">
              <a:solidFill>
                <a:srgbClr val="D9212B"/>
              </a:solidFill>
            </a:endParaRPr>
          </a:p>
        </p:txBody>
      </p:sp>
      <p:sp>
        <p:nvSpPr>
          <p:cNvPr id="6" name="Text Placeholder 1">
            <a:extLst>
              <a:ext uri="{FF2B5EF4-FFF2-40B4-BE49-F238E27FC236}">
                <a16:creationId xmlns:a16="http://schemas.microsoft.com/office/drawing/2014/main" id="{5BDDFCA8-7B28-393A-5D9A-7BEC50BD3802}"/>
              </a:ext>
            </a:extLst>
          </p:cNvPr>
          <p:cNvSpPr txBox="1">
            <a:spLocks/>
          </p:cNvSpPr>
          <p:nvPr/>
        </p:nvSpPr>
        <p:spPr>
          <a:xfrm>
            <a:off x="622300" y="1160003"/>
            <a:ext cx="10947400" cy="1156477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000" dirty="0"/>
              <a:t>Number of sixes that will be hit in the last over of a T20 match?</a:t>
            </a:r>
          </a:p>
          <a:p>
            <a:endParaRPr lang="en-US" sz="4000" dirty="0"/>
          </a:p>
          <a:p>
            <a:endParaRPr lang="en-US" sz="4000" dirty="0"/>
          </a:p>
          <a:p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25540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58C753-9842-2EC4-0BC8-2DAA95A190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333DCF42-9D88-245B-9660-B24F0CC56A5C}"/>
              </a:ext>
            </a:extLst>
          </p:cNvPr>
          <p:cNvSpPr txBox="1">
            <a:spLocks/>
          </p:cNvSpPr>
          <p:nvPr/>
        </p:nvSpPr>
        <p:spPr>
          <a:xfrm>
            <a:off x="3516085" y="217297"/>
            <a:ext cx="7438219" cy="688698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b="1">
                <a:solidFill>
                  <a:srgbClr val="D9212B"/>
                </a:solidFill>
                <a:latin typeface="Avenir Next LT Pro" panose="020B0504020202020204" pitchFamily="34" charset="0"/>
                <a:cs typeface="Arial" pitchFamily="34" charset="0"/>
              </a:rPr>
              <a:t>Random Variable Example</a:t>
            </a:r>
            <a:endParaRPr lang="en-US" sz="2800" b="1" dirty="0">
              <a:solidFill>
                <a:srgbClr val="D9212B"/>
              </a:solidFill>
            </a:endParaRP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6901317-1828-8EFB-8794-4524B9C7C59B}"/>
              </a:ext>
            </a:extLst>
          </p:cNvPr>
          <p:cNvSpPr txBox="1">
            <a:spLocks/>
          </p:cNvSpPr>
          <p:nvPr/>
        </p:nvSpPr>
        <p:spPr>
          <a:xfrm>
            <a:off x="622300" y="1160003"/>
            <a:ext cx="10947400" cy="11564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Number of sixes that will be hit in the last over of a T20 match?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E9EAE7D2-CD04-3F28-7B45-813908130D2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43256829"/>
              </p:ext>
            </p:extLst>
          </p:nvPr>
        </p:nvGraphicFramePr>
        <p:xfrm>
          <a:off x="796472" y="2108189"/>
          <a:ext cx="10947400" cy="139192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8425">
                  <a:extLst>
                    <a:ext uri="{9D8B030D-6E8A-4147-A177-3AD203B41FA5}">
                      <a16:colId xmlns:a16="http://schemas.microsoft.com/office/drawing/2014/main" val="4287881851"/>
                    </a:ext>
                  </a:extLst>
                </a:gridCol>
                <a:gridCol w="1368425">
                  <a:extLst>
                    <a:ext uri="{9D8B030D-6E8A-4147-A177-3AD203B41FA5}">
                      <a16:colId xmlns:a16="http://schemas.microsoft.com/office/drawing/2014/main" val="1014742288"/>
                    </a:ext>
                  </a:extLst>
                </a:gridCol>
                <a:gridCol w="1368425">
                  <a:extLst>
                    <a:ext uri="{9D8B030D-6E8A-4147-A177-3AD203B41FA5}">
                      <a16:colId xmlns:a16="http://schemas.microsoft.com/office/drawing/2014/main" val="407805943"/>
                    </a:ext>
                  </a:extLst>
                </a:gridCol>
                <a:gridCol w="1368425">
                  <a:extLst>
                    <a:ext uri="{9D8B030D-6E8A-4147-A177-3AD203B41FA5}">
                      <a16:colId xmlns:a16="http://schemas.microsoft.com/office/drawing/2014/main" val="2322231388"/>
                    </a:ext>
                  </a:extLst>
                </a:gridCol>
                <a:gridCol w="1368425">
                  <a:extLst>
                    <a:ext uri="{9D8B030D-6E8A-4147-A177-3AD203B41FA5}">
                      <a16:colId xmlns:a16="http://schemas.microsoft.com/office/drawing/2014/main" val="787293595"/>
                    </a:ext>
                  </a:extLst>
                </a:gridCol>
                <a:gridCol w="1368425">
                  <a:extLst>
                    <a:ext uri="{9D8B030D-6E8A-4147-A177-3AD203B41FA5}">
                      <a16:colId xmlns:a16="http://schemas.microsoft.com/office/drawing/2014/main" val="1541096171"/>
                    </a:ext>
                  </a:extLst>
                </a:gridCol>
                <a:gridCol w="1368425">
                  <a:extLst>
                    <a:ext uri="{9D8B030D-6E8A-4147-A177-3AD203B41FA5}">
                      <a16:colId xmlns:a16="http://schemas.microsoft.com/office/drawing/2014/main" val="3267532823"/>
                    </a:ext>
                  </a:extLst>
                </a:gridCol>
                <a:gridCol w="1368425">
                  <a:extLst>
                    <a:ext uri="{9D8B030D-6E8A-4147-A177-3AD203B41FA5}">
                      <a16:colId xmlns:a16="http://schemas.microsoft.com/office/drawing/2014/main" val="1927147516"/>
                    </a:ext>
                  </a:extLst>
                </a:gridCol>
              </a:tblGrid>
              <a:tr h="139192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400" dirty="0"/>
                        <a:t>No of sixes</a:t>
                      </a:r>
                    </a:p>
                    <a:p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57717654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3F531975-C7ED-E76D-7F2A-FA20AF744550}"/>
              </a:ext>
            </a:extLst>
          </p:cNvPr>
          <p:cNvSpPr txBox="1"/>
          <p:nvPr/>
        </p:nvSpPr>
        <p:spPr>
          <a:xfrm>
            <a:off x="709385" y="3713892"/>
            <a:ext cx="10947400" cy="24194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925" tIns="16925" rIns="16925" bIns="169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indent="-431800" eaLnBrk="1" hangingPunct="1">
              <a:spcBef>
                <a:spcPts val="640"/>
              </a:spcBef>
              <a:buClr>
                <a:schemeClr val="dk1"/>
              </a:buClr>
              <a:buSzPts val="3200"/>
              <a:buChar char="•"/>
              <a:defRPr sz="3200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defRPr>
            </a:lvl1pPr>
            <a:lvl2pPr marL="914400" indent="-406400" eaLnBrk="1" hangingPunct="1">
              <a:spcBef>
                <a:spcPts val="560"/>
              </a:spcBef>
              <a:buClr>
                <a:schemeClr val="dk1"/>
              </a:buClr>
              <a:buSzPts val="2800"/>
              <a:buChar char="–"/>
              <a:defRPr sz="2800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defRPr>
            </a:lvl2pPr>
            <a:lvl3pPr marL="1371600" indent="-381000" eaLnBrk="1" hangingPunct="1">
              <a:spcBef>
                <a:spcPts val="480"/>
              </a:spcBef>
              <a:buClr>
                <a:srgbClr val="A5A5A5"/>
              </a:buClr>
              <a:buSzPts val="2400"/>
              <a:buChar char="•"/>
              <a:defRPr sz="2400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defRPr>
            </a:lvl3pPr>
            <a:lvl4pPr marL="1828800" indent="-355600" eaLnBrk="1" hangingPunct="1">
              <a:spcBef>
                <a:spcPts val="400"/>
              </a:spcBef>
              <a:buClr>
                <a:srgbClr val="A5A5A5"/>
              </a:buClr>
              <a:buSzPts val="2000"/>
              <a:buChar char="–"/>
              <a:defRPr sz="2000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defRPr>
            </a:lvl4pPr>
            <a:lvl5pPr marL="2286000" indent="-355600" eaLnBrk="1" hangingPunct="1">
              <a:spcBef>
                <a:spcPts val="400"/>
              </a:spcBef>
              <a:buClr>
                <a:srgbClr val="A5A5A5"/>
              </a:buClr>
              <a:buSzPts val="2000"/>
              <a:buChar char="»"/>
              <a:defRPr sz="2000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defRPr>
            </a:lvl5pPr>
            <a:lvl6pPr marL="2743200" indent="-355600" eaLnBrk="1" hangingPunct="1">
              <a:spcBef>
                <a:spcPts val="400"/>
              </a:spcBef>
              <a:buClr>
                <a:schemeClr val="dk1"/>
              </a:buClr>
              <a:buSzPts val="2000"/>
              <a:buChar char="•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indent="-355600" eaLnBrk="1" hangingPunct="1">
              <a:spcBef>
                <a:spcPts val="400"/>
              </a:spcBef>
              <a:buClr>
                <a:schemeClr val="dk1"/>
              </a:buClr>
              <a:buSzPts val="2000"/>
              <a:buChar char="•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indent="-355600" eaLnBrk="1" hangingPunct="1">
              <a:spcBef>
                <a:spcPts val="400"/>
              </a:spcBef>
              <a:buClr>
                <a:schemeClr val="dk1"/>
              </a:buClr>
              <a:buSzPts val="2000"/>
              <a:buChar char="•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indent="-355600" eaLnBrk="1" hangingPunct="1">
              <a:spcBef>
                <a:spcPts val="400"/>
              </a:spcBef>
              <a:buClr>
                <a:schemeClr val="dk1"/>
              </a:buClr>
              <a:buSzPts val="2000"/>
              <a:buChar char="•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lang="en-US" sz="2800" dirty="0"/>
              <a:t>A random variable is a variable that takes on different values based on the outcome of a random event. </a:t>
            </a:r>
          </a:p>
          <a:p>
            <a:endParaRPr lang="en-US" sz="2800" dirty="0"/>
          </a:p>
          <a:p>
            <a:r>
              <a:rPr lang="en-US" sz="2800" dirty="0"/>
              <a:t>It can be thought of as a function that assigns numerical values to each possible outcome of a random process.</a:t>
            </a:r>
          </a:p>
        </p:txBody>
      </p:sp>
    </p:spTree>
    <p:extLst>
      <p:ext uri="{BB962C8B-B14F-4D97-AF65-F5344CB8AC3E}">
        <p14:creationId xmlns:p14="http://schemas.microsoft.com/office/powerpoint/2010/main" val="26161914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3CA3F0-5D74-4967-F591-DED6512EB2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BE53A42-E687-9A3E-498E-107739DAEA52}"/>
              </a:ext>
            </a:extLst>
          </p:cNvPr>
          <p:cNvSpPr txBox="1">
            <a:spLocks/>
          </p:cNvSpPr>
          <p:nvPr/>
        </p:nvSpPr>
        <p:spPr>
          <a:xfrm>
            <a:off x="3004457" y="217297"/>
            <a:ext cx="7949848" cy="688698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b="1">
                <a:solidFill>
                  <a:srgbClr val="D9212B"/>
                </a:solidFill>
                <a:latin typeface="Avenir Next LT Pro" panose="020B0504020202020204" pitchFamily="34" charset="0"/>
                <a:cs typeface="Arial" pitchFamily="34" charset="0"/>
              </a:rPr>
              <a:t>Types of Random Variable</a:t>
            </a:r>
            <a:endParaRPr lang="en-US" sz="2800" b="1" dirty="0">
              <a:solidFill>
                <a:srgbClr val="D9212B"/>
              </a:solidFill>
            </a:endParaRPr>
          </a:p>
        </p:txBody>
      </p:sp>
      <p:sp>
        <p:nvSpPr>
          <p:cNvPr id="5" name="Text Placeholder 1">
            <a:extLst>
              <a:ext uri="{FF2B5EF4-FFF2-40B4-BE49-F238E27FC236}">
                <a16:creationId xmlns:a16="http://schemas.microsoft.com/office/drawing/2014/main" id="{18C6AEA0-7ADC-FEE8-7BE5-DBFC77F76CF8}"/>
              </a:ext>
            </a:extLst>
          </p:cNvPr>
          <p:cNvSpPr txBox="1">
            <a:spLocks/>
          </p:cNvSpPr>
          <p:nvPr/>
        </p:nvSpPr>
        <p:spPr>
          <a:xfrm>
            <a:off x="622300" y="1160003"/>
            <a:ext cx="10947400" cy="48508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5400" indent="0">
              <a:buFont typeface="Arial" panose="020B0604020202020204" pitchFamily="34" charset="0"/>
              <a:buNone/>
            </a:pPr>
            <a:endParaRPr lang="en-US" dirty="0"/>
          </a:p>
          <a:p>
            <a:r>
              <a:rPr lang="en-US" b="1" dirty="0"/>
              <a:t>Discrete Random Variable:</a:t>
            </a:r>
            <a:r>
              <a:rPr lang="en-US" dirty="0"/>
              <a:t> Takes on a countable number of distinct values (e.g., number of heads in a series of coin flips).</a:t>
            </a:r>
          </a:p>
          <a:p>
            <a:endParaRPr lang="en-US" dirty="0"/>
          </a:p>
          <a:p>
            <a:r>
              <a:rPr lang="en-US" b="1" dirty="0"/>
              <a:t>Continuous Random Variable:</a:t>
            </a:r>
            <a:r>
              <a:rPr lang="en-US" dirty="0"/>
              <a:t> Takes on an infinite number of possible values within a given range (e.g., the exact height of students in a class).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14826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536EBB73-70D2-4C49-0719-CBE6C728AEB3}"/>
              </a:ext>
            </a:extLst>
          </p:cNvPr>
          <p:cNvSpPr txBox="1">
            <a:spLocks/>
          </p:cNvSpPr>
          <p:nvPr/>
        </p:nvSpPr>
        <p:spPr>
          <a:xfrm>
            <a:off x="3581399" y="217297"/>
            <a:ext cx="7372905" cy="688698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b="1">
                <a:solidFill>
                  <a:srgbClr val="D9212B"/>
                </a:solidFill>
                <a:latin typeface="Avenir Next LT Pro" panose="020B0504020202020204" pitchFamily="34" charset="0"/>
                <a:cs typeface="Arial" pitchFamily="34" charset="0"/>
              </a:rPr>
              <a:t>Types of Distributions</a:t>
            </a:r>
            <a:endParaRPr lang="en-US" sz="2800" b="1" dirty="0">
              <a:solidFill>
                <a:srgbClr val="D9212B"/>
              </a:solidFill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9D2038E-0307-822F-48B8-CB759551F7F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499022421"/>
              </p:ext>
            </p:extLst>
          </p:nvPr>
        </p:nvGraphicFramePr>
        <p:xfrm>
          <a:off x="1560739" y="1282452"/>
          <a:ext cx="9070521" cy="429309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1909094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156DB2B0-5F90-E190-3B10-25E819826955}"/>
              </a:ext>
            </a:extLst>
          </p:cNvPr>
          <p:cNvSpPr txBox="1">
            <a:spLocks/>
          </p:cNvSpPr>
          <p:nvPr/>
        </p:nvSpPr>
        <p:spPr>
          <a:xfrm>
            <a:off x="2786743" y="217297"/>
            <a:ext cx="8167562" cy="688698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b="1">
                <a:solidFill>
                  <a:srgbClr val="D9212B"/>
                </a:solidFill>
                <a:latin typeface="Avenir Next LT Pro" panose="020B0504020202020204" pitchFamily="34" charset="0"/>
                <a:cs typeface="Arial" pitchFamily="34" charset="0"/>
              </a:rPr>
              <a:t>What is a Probability Distribution?</a:t>
            </a:r>
            <a:endParaRPr lang="en-US" sz="2800" b="1" dirty="0">
              <a:solidFill>
                <a:srgbClr val="D9212B"/>
              </a:solidFill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25312AB5-79E9-C0C9-2D4B-D1B02290EF3F}"/>
              </a:ext>
            </a:extLst>
          </p:cNvPr>
          <p:cNvSpPr txBox="1">
            <a:spLocks/>
          </p:cNvSpPr>
          <p:nvPr/>
        </p:nvSpPr>
        <p:spPr>
          <a:xfrm>
            <a:off x="609600" y="1597025"/>
            <a:ext cx="10515600" cy="435133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A probability distribution is a function that describes the likelihood of outcomes in a sample space.</a:t>
            </a:r>
          </a:p>
          <a:p>
            <a:endParaRPr lang="en-US"/>
          </a:p>
          <a:p>
            <a:r>
              <a:rPr lang="en-US"/>
              <a:t>Examples include: Normal, Binomial, Poisson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57907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C60808-5349-5F51-787F-96F0B403F9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CDEC154A-3141-1A55-8E5D-E2719C960C79}"/>
              </a:ext>
            </a:extLst>
          </p:cNvPr>
          <p:cNvSpPr txBox="1">
            <a:spLocks/>
          </p:cNvSpPr>
          <p:nvPr/>
        </p:nvSpPr>
        <p:spPr>
          <a:xfrm>
            <a:off x="2786743" y="217297"/>
            <a:ext cx="8167562" cy="688698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b="1">
                <a:solidFill>
                  <a:srgbClr val="D9212B"/>
                </a:solidFill>
                <a:latin typeface="Avenir Next LT Pro" panose="020B0504020202020204" pitchFamily="34" charset="0"/>
                <a:cs typeface="Arial" pitchFamily="34" charset="0"/>
              </a:rPr>
              <a:t>What is a Probability Distribution?</a:t>
            </a:r>
            <a:endParaRPr lang="en-US" sz="2800" b="1" dirty="0">
              <a:solidFill>
                <a:srgbClr val="D9212B"/>
              </a:solidFill>
            </a:endParaRPr>
          </a:p>
        </p:txBody>
      </p:sp>
      <p:sp>
        <p:nvSpPr>
          <p:cNvPr id="2" name="Google Shape;66;p42">
            <a:extLst>
              <a:ext uri="{FF2B5EF4-FFF2-40B4-BE49-F238E27FC236}">
                <a16:creationId xmlns:a16="http://schemas.microsoft.com/office/drawing/2014/main" id="{5884FCCD-4EA5-B2AD-60B0-A59A904B67FF}"/>
              </a:ext>
            </a:extLst>
          </p:cNvPr>
          <p:cNvSpPr txBox="1"/>
          <p:nvPr/>
        </p:nvSpPr>
        <p:spPr>
          <a:xfrm>
            <a:off x="622300" y="1193792"/>
            <a:ext cx="10947400" cy="11160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925" tIns="16925" rIns="16925" bIns="16925" anchor="t" anchorCtr="0">
            <a:noAutofit/>
          </a:bodyPr>
          <a:lstStyle/>
          <a:p>
            <a:pPr algn="just">
              <a:lnSpc>
                <a:spcPct val="115000"/>
              </a:lnSpc>
            </a:pPr>
            <a:r>
              <a:rPr lang="en-US" sz="2800" dirty="0">
                <a:effectLst/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Ex:  Consider the random experiment of tossing two coins.  </a:t>
            </a:r>
          </a:p>
          <a:p>
            <a:pPr algn="just">
              <a:lnSpc>
                <a:spcPct val="115000"/>
              </a:lnSpc>
            </a:pPr>
            <a:r>
              <a:rPr lang="en-US" sz="2800" dirty="0">
                <a:effectLst/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Let the occurrence of heads to be counted. There may be 0, 1 or 2 heads.  </a:t>
            </a:r>
          </a:p>
          <a:p>
            <a:pPr algn="just">
              <a:lnSpc>
                <a:spcPct val="115000"/>
              </a:lnSpc>
            </a:pPr>
            <a:endParaRPr lang="en-US" sz="2800" dirty="0">
              <a:latin typeface="Cambria Math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C94BFF4-BC9F-DE5D-E323-A42A1AB97D09}"/>
              </a:ext>
            </a:extLst>
          </p:cNvPr>
          <p:cNvSpPr txBox="1"/>
          <p:nvPr/>
        </p:nvSpPr>
        <p:spPr>
          <a:xfrm>
            <a:off x="535744" y="4833211"/>
            <a:ext cx="11133742" cy="12301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A probability distribution describes how the values of a random variable are distributed. It provides a complete description of the likelihood of different outcomes.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1D5FC031-D051-BD4E-99D3-A0FF6BADAC3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7880212"/>
              </p:ext>
            </p:extLst>
          </p:nvPr>
        </p:nvGraphicFramePr>
        <p:xfrm>
          <a:off x="1560787" y="2309800"/>
          <a:ext cx="7851226" cy="196450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570081">
                  <a:extLst>
                    <a:ext uri="{9D8B030D-6E8A-4147-A177-3AD203B41FA5}">
                      <a16:colId xmlns:a16="http://schemas.microsoft.com/office/drawing/2014/main" val="1702560319"/>
                    </a:ext>
                  </a:extLst>
                </a:gridCol>
                <a:gridCol w="1570081">
                  <a:extLst>
                    <a:ext uri="{9D8B030D-6E8A-4147-A177-3AD203B41FA5}">
                      <a16:colId xmlns:a16="http://schemas.microsoft.com/office/drawing/2014/main" val="1038889644"/>
                    </a:ext>
                  </a:extLst>
                </a:gridCol>
                <a:gridCol w="1570081">
                  <a:extLst>
                    <a:ext uri="{9D8B030D-6E8A-4147-A177-3AD203B41FA5}">
                      <a16:colId xmlns:a16="http://schemas.microsoft.com/office/drawing/2014/main" val="322655758"/>
                    </a:ext>
                  </a:extLst>
                </a:gridCol>
                <a:gridCol w="1570081">
                  <a:extLst>
                    <a:ext uri="{9D8B030D-6E8A-4147-A177-3AD203B41FA5}">
                      <a16:colId xmlns:a16="http://schemas.microsoft.com/office/drawing/2014/main" val="68255498"/>
                    </a:ext>
                  </a:extLst>
                </a:gridCol>
                <a:gridCol w="1570902">
                  <a:extLst>
                    <a:ext uri="{9D8B030D-6E8A-4147-A177-3AD203B41FA5}">
                      <a16:colId xmlns:a16="http://schemas.microsoft.com/office/drawing/2014/main" val="2456589795"/>
                    </a:ext>
                  </a:extLst>
                </a:gridCol>
              </a:tblGrid>
              <a:tr h="608500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</a:pPr>
                      <a:r>
                        <a:rPr lang="en-US" sz="2000" dirty="0">
                          <a:effectLst/>
                        </a:rPr>
                        <a:t>Possible outcomes</a:t>
                      </a:r>
                      <a:endParaRPr lang="en-IN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2000">
                          <a:effectLst/>
                        </a:rPr>
                        <a:t>TT</a:t>
                      </a:r>
                      <a:endParaRPr lang="en-IN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2000" dirty="0">
                          <a:effectLst/>
                        </a:rPr>
                        <a:t>HT</a:t>
                      </a:r>
                      <a:endParaRPr lang="en-IN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2000" dirty="0">
                          <a:effectLst/>
                        </a:rPr>
                        <a:t>TH</a:t>
                      </a:r>
                      <a:endParaRPr lang="en-IN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2000" dirty="0">
                          <a:effectLst/>
                        </a:rPr>
                        <a:t>HH</a:t>
                      </a:r>
                      <a:endParaRPr lang="en-IN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763881273"/>
                  </a:ext>
                </a:extLst>
              </a:tr>
              <a:tr h="60850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lang="en-US" sz="2000">
                          <a:effectLst/>
                        </a:rPr>
                        <a:t>Number of heads</a:t>
                      </a:r>
                      <a:endParaRPr lang="en-IN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3600" dirty="0">
                          <a:effectLst/>
                        </a:rPr>
                        <a:t>0</a:t>
                      </a:r>
                      <a:endParaRPr lang="en-IN" sz="3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3600" dirty="0">
                          <a:effectLst/>
                        </a:rPr>
                        <a:t>1</a:t>
                      </a:r>
                      <a:endParaRPr lang="en-IN" sz="3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3600">
                          <a:effectLst/>
                        </a:rPr>
                        <a:t>1</a:t>
                      </a:r>
                      <a:endParaRPr lang="en-IN" sz="3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3600">
                          <a:effectLst/>
                        </a:rPr>
                        <a:t>2</a:t>
                      </a:r>
                      <a:endParaRPr lang="en-IN" sz="3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034495169"/>
                  </a:ext>
                </a:extLst>
              </a:tr>
              <a:tr h="294142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</a:pPr>
                      <a:r>
                        <a:rPr lang="en-US" sz="2000">
                          <a:effectLst/>
                        </a:rPr>
                        <a:t>Probability</a:t>
                      </a:r>
                      <a:endParaRPr lang="en-IN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3600">
                          <a:effectLst/>
                        </a:rPr>
                        <a:t>¼</a:t>
                      </a:r>
                      <a:endParaRPr lang="en-IN" sz="3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3600" dirty="0">
                          <a:effectLst/>
                        </a:rPr>
                        <a:t>¼</a:t>
                      </a:r>
                      <a:endParaRPr lang="en-IN" sz="3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3600" dirty="0">
                          <a:effectLst/>
                        </a:rPr>
                        <a:t>¼</a:t>
                      </a:r>
                      <a:endParaRPr lang="en-IN" sz="3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3600" dirty="0">
                          <a:effectLst/>
                        </a:rPr>
                        <a:t>¼</a:t>
                      </a:r>
                      <a:endParaRPr lang="en-IN" sz="3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2405625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487684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C9F5CC-7C78-2830-995A-7425706552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B0EE76BE-076E-7E6B-B609-64BB0A4E6552}"/>
              </a:ext>
            </a:extLst>
          </p:cNvPr>
          <p:cNvSpPr txBox="1">
            <a:spLocks/>
          </p:cNvSpPr>
          <p:nvPr/>
        </p:nvSpPr>
        <p:spPr>
          <a:xfrm>
            <a:off x="3265713" y="217297"/>
            <a:ext cx="7688591" cy="688698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b="1" dirty="0">
                <a:solidFill>
                  <a:srgbClr val="D9212B"/>
                </a:solidFill>
                <a:latin typeface="Avenir Next LT Pro" panose="020B0504020202020204" pitchFamily="34" charset="0"/>
                <a:cs typeface="Arial" pitchFamily="34" charset="0"/>
              </a:rPr>
              <a:t>Normal Distribution</a:t>
            </a:r>
            <a:endParaRPr lang="en-US" sz="2800" b="1" dirty="0">
              <a:solidFill>
                <a:srgbClr val="D9212B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9FF640-2804-F106-4FA3-76381D9A93DC}"/>
              </a:ext>
            </a:extLst>
          </p:cNvPr>
          <p:cNvSpPr txBox="1">
            <a:spLocks/>
          </p:cNvSpPr>
          <p:nvPr/>
        </p:nvSpPr>
        <p:spPr>
          <a:xfrm>
            <a:off x="522516" y="1937658"/>
            <a:ext cx="3450770" cy="3309256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/>
              <a:t>A continuous distribution with a symmetric, bell-shaped curve.</a:t>
            </a:r>
          </a:p>
          <a:p>
            <a:endParaRPr lang="en-US" sz="3200" dirty="0"/>
          </a:p>
          <a:p>
            <a:r>
              <a:rPr lang="en-US" sz="3200" dirty="0"/>
              <a:t>Defined by mean (μ) and standard deviation (σ).</a:t>
            </a:r>
          </a:p>
        </p:txBody>
      </p:sp>
      <p:pic>
        <p:nvPicPr>
          <p:cNvPr id="5" name="Picture 2" descr="Visualization of Normal Distribution">
            <a:extLst>
              <a:ext uri="{FF2B5EF4-FFF2-40B4-BE49-F238E27FC236}">
                <a16:creationId xmlns:a16="http://schemas.microsoft.com/office/drawing/2014/main" id="{5974DA21-784C-D5DF-8E52-24E118DA80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49287" y="1549077"/>
            <a:ext cx="7833386" cy="47646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35074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FA12CD-D3EA-60EF-3242-FFB812F4F2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F39C2DA4-749B-B548-588C-C88A87330DFF}"/>
              </a:ext>
            </a:extLst>
          </p:cNvPr>
          <p:cNvSpPr txBox="1">
            <a:spLocks/>
          </p:cNvSpPr>
          <p:nvPr/>
        </p:nvSpPr>
        <p:spPr>
          <a:xfrm>
            <a:off x="3265713" y="217297"/>
            <a:ext cx="7688591" cy="688698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b="1" dirty="0">
                <a:solidFill>
                  <a:srgbClr val="D9212B"/>
                </a:solidFill>
                <a:latin typeface="Avenir Next LT Pro" panose="020B0504020202020204" pitchFamily="34" charset="0"/>
                <a:cs typeface="Arial" pitchFamily="34" charset="0"/>
              </a:rPr>
              <a:t>Normal Distribution - formula</a:t>
            </a:r>
            <a:endParaRPr lang="en-US" sz="2800" b="1" dirty="0">
              <a:solidFill>
                <a:srgbClr val="D9212B"/>
              </a:solidFill>
            </a:endParaRPr>
          </a:p>
        </p:txBody>
      </p:sp>
      <p:pic>
        <p:nvPicPr>
          <p:cNvPr id="2" name="Picture 2" descr="Normal Distribution Function">
            <a:extLst>
              <a:ext uri="{FF2B5EF4-FFF2-40B4-BE49-F238E27FC236}">
                <a16:creationId xmlns:a16="http://schemas.microsoft.com/office/drawing/2014/main" id="{F323B569-BAFF-D5C1-5923-363A5AEF5D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10008" y="1395852"/>
            <a:ext cx="4720682" cy="11296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5CED1AC3-0E1C-B419-7765-AD66C9470F49}"/>
              </a:ext>
            </a:extLst>
          </p:cNvPr>
          <p:cNvSpPr txBox="1">
            <a:spLocks/>
          </p:cNvSpPr>
          <p:nvPr/>
        </p:nvSpPr>
        <p:spPr>
          <a:xfrm>
            <a:off x="7167712" y="3197208"/>
            <a:ext cx="4662978" cy="1668706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Mean = Median = Mode</a:t>
            </a:r>
          </a:p>
          <a:p>
            <a:r>
              <a:rPr lang="en-US" dirty="0"/>
              <a:t>68-95-99.7 Rule</a:t>
            </a:r>
          </a:p>
          <a:p>
            <a:r>
              <a:rPr lang="en-US" dirty="0"/>
              <a:t>Symmetrical shape</a:t>
            </a:r>
          </a:p>
        </p:txBody>
      </p:sp>
      <p:pic>
        <p:nvPicPr>
          <p:cNvPr id="7" name="Picture 6" descr="Visualization of Normal Distribution">
            <a:extLst>
              <a:ext uri="{FF2B5EF4-FFF2-40B4-BE49-F238E27FC236}">
                <a16:creationId xmlns:a16="http://schemas.microsoft.com/office/drawing/2014/main" id="{B8103E24-456E-4EB4-3A1B-184B05190B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071303"/>
            <a:ext cx="6990264" cy="42518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672878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BF74FA-259D-AE93-651F-B8A502C1ED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A3F5D62D-124B-84BE-232A-ADE1269EC664}"/>
              </a:ext>
            </a:extLst>
          </p:cNvPr>
          <p:cNvSpPr txBox="1">
            <a:spLocks/>
          </p:cNvSpPr>
          <p:nvPr/>
        </p:nvSpPr>
        <p:spPr>
          <a:xfrm>
            <a:off x="3145971" y="217297"/>
            <a:ext cx="7808334" cy="688698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b="1">
                <a:solidFill>
                  <a:srgbClr val="D9212B"/>
                </a:solidFill>
                <a:latin typeface="Avenir Next LT Pro" panose="020B0504020202020204" pitchFamily="34" charset="0"/>
                <a:cs typeface="Arial" pitchFamily="34" charset="0"/>
              </a:rPr>
              <a:t>Normal Distribution - Example</a:t>
            </a:r>
            <a:endParaRPr lang="en-US" sz="2800" b="1" dirty="0">
              <a:solidFill>
                <a:srgbClr val="D9212B"/>
              </a:solidFill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EEBEE5D-0DE9-252B-6458-733409F76310}"/>
              </a:ext>
            </a:extLst>
          </p:cNvPr>
          <p:cNvSpPr txBox="1">
            <a:spLocks/>
          </p:cNvSpPr>
          <p:nvPr/>
        </p:nvSpPr>
        <p:spPr>
          <a:xfrm>
            <a:off x="533400" y="1586139"/>
            <a:ext cx="10515600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600"/>
              <a:t>If height ~ N(170, 10), what is the probability a person is between 160 and 180 cm?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8466783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7D1B8F-0D89-70B8-72C9-DBE5FB4C41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1BB6C05A-3CA1-D9C0-4821-240963569294}"/>
              </a:ext>
            </a:extLst>
          </p:cNvPr>
          <p:cNvSpPr txBox="1">
            <a:spLocks/>
          </p:cNvSpPr>
          <p:nvPr/>
        </p:nvSpPr>
        <p:spPr>
          <a:xfrm>
            <a:off x="3145971" y="217297"/>
            <a:ext cx="7808334" cy="688698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b="1" dirty="0">
                <a:solidFill>
                  <a:srgbClr val="D9212B"/>
                </a:solidFill>
                <a:latin typeface="Avenir Next LT Pro" panose="020B0504020202020204" pitchFamily="34" charset="0"/>
                <a:cs typeface="Arial" pitchFamily="34" charset="0"/>
              </a:rPr>
              <a:t>Normal Distribution – Example Solution</a:t>
            </a:r>
            <a:endParaRPr lang="en-US" sz="2800" b="1" dirty="0">
              <a:solidFill>
                <a:srgbClr val="D9212B"/>
              </a:solidFill>
            </a:endParaRP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0EFCCDA8-7580-0116-D541-522536995042}"/>
              </a:ext>
            </a:extLst>
          </p:cNvPr>
          <p:cNvSpPr txBox="1">
            <a:spLocks/>
          </p:cNvSpPr>
          <p:nvPr/>
        </p:nvSpPr>
        <p:spPr>
          <a:xfrm>
            <a:off x="685798" y="1586139"/>
            <a:ext cx="10668001" cy="1069975"/>
          </a:xfrm>
          <a:prstGeom prst="rect">
            <a:avLst/>
          </a:prstGeom>
          <a:ln>
            <a:solidFill>
              <a:srgbClr val="00B0F0"/>
            </a:solidFill>
          </a:ln>
        </p:spPr>
        <p:txBody>
          <a:bodyPr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600"/>
              <a:t>If height ~ N(170, 10), what is the probability a person is between 160 and 180 cm?</a:t>
            </a:r>
            <a:endParaRPr lang="en-US" sz="3600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8C73A394-BB3F-7997-6688-9F0AC80901DF}"/>
              </a:ext>
            </a:extLst>
          </p:cNvPr>
          <p:cNvSpPr txBox="1">
            <a:spLocks/>
          </p:cNvSpPr>
          <p:nvPr/>
        </p:nvSpPr>
        <p:spPr>
          <a:xfrm>
            <a:off x="685800" y="3058887"/>
            <a:ext cx="10668000" cy="2286000"/>
          </a:xfrm>
          <a:prstGeom prst="rect">
            <a:avLst/>
          </a:prstGeom>
          <a:ln>
            <a:solidFill>
              <a:srgbClr val="00B0F0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600"/>
              <a:t>Z = (x - μ)/σ → Z = (180 - 170)/10 = 1</a:t>
            </a:r>
          </a:p>
          <a:p>
            <a:r>
              <a:rPr lang="en-US" sz="3600"/>
              <a:t>P(-1 &lt; Z &lt; 1) = 68%</a:t>
            </a:r>
          </a:p>
          <a:p>
            <a:r>
              <a:rPr lang="en-US" sz="3600"/>
              <a:t>Hence, 68% of people are between 160 and 180 cm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33297481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B11270-9560-CD8A-D8C9-E57D7437EB9E}"/>
              </a:ext>
            </a:extLst>
          </p:cNvPr>
          <p:cNvSpPr txBox="1">
            <a:spLocks/>
          </p:cNvSpPr>
          <p:nvPr/>
        </p:nvSpPr>
        <p:spPr>
          <a:xfrm>
            <a:off x="3690257" y="217297"/>
            <a:ext cx="7264048" cy="688698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b="1" dirty="0">
                <a:solidFill>
                  <a:srgbClr val="D9212B"/>
                </a:solidFill>
                <a:latin typeface="Avenir Next LT Pro" panose="020B0504020202020204" pitchFamily="34" charset="0"/>
                <a:cs typeface="Arial" pitchFamily="34" charset="0"/>
              </a:rPr>
              <a:t>Binomial Distribution</a:t>
            </a:r>
            <a:endParaRPr lang="en-US" sz="2800" b="1" dirty="0">
              <a:solidFill>
                <a:srgbClr val="D9212B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652564-F577-238F-B4D3-5A2471D28B98}"/>
              </a:ext>
            </a:extLst>
          </p:cNvPr>
          <p:cNvSpPr txBox="1">
            <a:spLocks/>
          </p:cNvSpPr>
          <p:nvPr/>
        </p:nvSpPr>
        <p:spPr>
          <a:xfrm>
            <a:off x="359228" y="952180"/>
            <a:ext cx="11473544" cy="1142999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/>
              <a:t>Models the number of successes in n independent trials with probability p.</a:t>
            </a:r>
          </a:p>
          <a:p>
            <a:r>
              <a:rPr lang="en-US" sz="2400" dirty="0"/>
              <a:t>Used for yes/no outcomes.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0C51AA5-2E7B-6CEA-4947-EF1C674B17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3520" y="1790379"/>
            <a:ext cx="10501330" cy="42298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889740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2C2609-57E9-C164-FA56-8A4F313418E8}"/>
              </a:ext>
            </a:extLst>
          </p:cNvPr>
          <p:cNvSpPr txBox="1">
            <a:spLocks/>
          </p:cNvSpPr>
          <p:nvPr/>
        </p:nvSpPr>
        <p:spPr>
          <a:xfrm>
            <a:off x="3026229" y="217297"/>
            <a:ext cx="7928076" cy="688698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b="1">
                <a:solidFill>
                  <a:srgbClr val="D9212B"/>
                </a:solidFill>
                <a:latin typeface="Avenir Next LT Pro" panose="020B0504020202020204" pitchFamily="34" charset="0"/>
                <a:cs typeface="Arial" pitchFamily="34" charset="0"/>
              </a:rPr>
              <a:t>Binomial Distribution Properties</a:t>
            </a:r>
            <a:endParaRPr lang="en-US" sz="2800" b="1" dirty="0">
              <a:solidFill>
                <a:srgbClr val="D9212B"/>
              </a:solidFill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59C3E6E-AC09-4E53-2690-D80BAC1E614A}"/>
              </a:ext>
            </a:extLst>
          </p:cNvPr>
          <p:cNvSpPr txBox="1">
            <a:spLocks/>
          </p:cNvSpPr>
          <p:nvPr/>
        </p:nvSpPr>
        <p:spPr>
          <a:xfrm>
            <a:off x="457199" y="1600200"/>
            <a:ext cx="8860972" cy="4136571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600" dirty="0"/>
              <a:t>Discrete distribution</a:t>
            </a:r>
          </a:p>
          <a:p>
            <a:endParaRPr lang="en-US" sz="3600" dirty="0"/>
          </a:p>
          <a:p>
            <a:r>
              <a:rPr lang="en-US" sz="3600" dirty="0"/>
              <a:t>Fixed number of trials (n)</a:t>
            </a:r>
          </a:p>
          <a:p>
            <a:endParaRPr lang="en-US" sz="3600" dirty="0"/>
          </a:p>
          <a:p>
            <a:r>
              <a:rPr lang="en-US" sz="3600" dirty="0"/>
              <a:t>Constant probability (p)</a:t>
            </a:r>
          </a:p>
          <a:p>
            <a:endParaRPr lang="en-US" sz="3600" dirty="0"/>
          </a:p>
          <a:p>
            <a:r>
              <a:rPr lang="en-US" sz="3600" dirty="0"/>
              <a:t>Independent trials</a:t>
            </a:r>
          </a:p>
        </p:txBody>
      </p:sp>
    </p:spTree>
    <p:extLst>
      <p:ext uri="{BB962C8B-B14F-4D97-AF65-F5344CB8AC3E}">
        <p14:creationId xmlns:p14="http://schemas.microsoft.com/office/powerpoint/2010/main" val="52219111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033E68-4FD9-CF1D-CC04-751C5AAB3F54}"/>
              </a:ext>
            </a:extLst>
          </p:cNvPr>
          <p:cNvSpPr txBox="1">
            <a:spLocks/>
          </p:cNvSpPr>
          <p:nvPr/>
        </p:nvSpPr>
        <p:spPr>
          <a:xfrm>
            <a:off x="2827665" y="217297"/>
            <a:ext cx="8126639" cy="688698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b="1">
                <a:solidFill>
                  <a:srgbClr val="D9212B"/>
                </a:solidFill>
                <a:latin typeface="Avenir Next LT Pro" panose="020B0504020202020204" pitchFamily="34" charset="0"/>
                <a:cs typeface="Arial" pitchFamily="34" charset="0"/>
              </a:rPr>
              <a:t>Binomial Distribution example</a:t>
            </a:r>
            <a:endParaRPr lang="en-US" sz="2800" b="1" dirty="0">
              <a:solidFill>
                <a:srgbClr val="D9212B"/>
              </a:solidFill>
            </a:endParaRPr>
          </a:p>
        </p:txBody>
      </p:sp>
      <p:sp>
        <p:nvSpPr>
          <p:cNvPr id="4" name="Google Shape;74;p43">
            <a:extLst>
              <a:ext uri="{FF2B5EF4-FFF2-40B4-BE49-F238E27FC236}">
                <a16:creationId xmlns:a16="http://schemas.microsoft.com/office/drawing/2014/main" id="{90DA9888-597E-8239-BE76-A0EC8F9A1795}"/>
              </a:ext>
            </a:extLst>
          </p:cNvPr>
          <p:cNvSpPr txBox="1"/>
          <p:nvPr/>
        </p:nvSpPr>
        <p:spPr>
          <a:xfrm>
            <a:off x="447597" y="1252615"/>
            <a:ext cx="5974973" cy="53880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925" tIns="16925" rIns="16925" bIns="169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IN" sz="2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 an inspection of </a:t>
            </a:r>
            <a:r>
              <a:rPr lang="en-IN" sz="2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cement companies</a:t>
            </a:r>
            <a:r>
              <a:rPr lang="en-IN" sz="2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60% of all industries had emissions that do not meet the pollution requirement. For a random sample of 15 companies, compute the following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lang="en-IN" sz="2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073150" lvl="2" indent="-328613">
              <a:buSzPts val="1400"/>
              <a:buFont typeface="+mj-lt"/>
              <a:buAutoNum type="arabicPeriod"/>
            </a:pPr>
            <a:r>
              <a:rPr lang="en-IN" sz="2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Probability that all 15 fails the inspection</a:t>
            </a:r>
          </a:p>
          <a:p>
            <a:pPr marL="1073150" lvl="2" indent="-328613">
              <a:buSzPts val="1400"/>
              <a:buFont typeface="+mj-lt"/>
              <a:buAutoNum type="arabicPeriod"/>
            </a:pPr>
            <a:r>
              <a:rPr lang="en-IN" sz="2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Exactly 8 fails the inspection</a:t>
            </a:r>
          </a:p>
        </p:txBody>
      </p:sp>
    </p:spTree>
    <p:extLst>
      <p:ext uri="{BB962C8B-B14F-4D97-AF65-F5344CB8AC3E}">
        <p14:creationId xmlns:p14="http://schemas.microsoft.com/office/powerpoint/2010/main" val="297936208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7A231B-5798-1C05-825F-354EF88597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89CEB9-DDF2-EB34-C0BE-AF2B648BDBA2}"/>
              </a:ext>
            </a:extLst>
          </p:cNvPr>
          <p:cNvSpPr txBox="1">
            <a:spLocks/>
          </p:cNvSpPr>
          <p:nvPr/>
        </p:nvSpPr>
        <p:spPr>
          <a:xfrm>
            <a:off x="2827665" y="217297"/>
            <a:ext cx="8126639" cy="688698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b="1">
                <a:solidFill>
                  <a:srgbClr val="D9212B"/>
                </a:solidFill>
                <a:latin typeface="Avenir Next LT Pro" panose="020B0504020202020204" pitchFamily="34" charset="0"/>
                <a:cs typeface="Arial" pitchFamily="34" charset="0"/>
              </a:rPr>
              <a:t>Binomial Distribution example</a:t>
            </a:r>
            <a:endParaRPr lang="en-US" sz="2800" b="1" dirty="0">
              <a:solidFill>
                <a:srgbClr val="D9212B"/>
              </a:solidFill>
            </a:endParaRPr>
          </a:p>
        </p:txBody>
      </p:sp>
      <p:sp>
        <p:nvSpPr>
          <p:cNvPr id="4" name="Google Shape;74;p43">
            <a:extLst>
              <a:ext uri="{FF2B5EF4-FFF2-40B4-BE49-F238E27FC236}">
                <a16:creationId xmlns:a16="http://schemas.microsoft.com/office/drawing/2014/main" id="{B2ED43B2-3E94-67AE-A3EC-E227D31E03DC}"/>
              </a:ext>
            </a:extLst>
          </p:cNvPr>
          <p:cNvSpPr txBox="1"/>
          <p:nvPr/>
        </p:nvSpPr>
        <p:spPr>
          <a:xfrm>
            <a:off x="447597" y="1252615"/>
            <a:ext cx="5974973" cy="53880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925" tIns="16925" rIns="16925" bIns="169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IN" sz="2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 an inspection of </a:t>
            </a:r>
            <a:r>
              <a:rPr lang="en-IN" sz="2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cement companies</a:t>
            </a:r>
            <a:r>
              <a:rPr lang="en-IN" sz="2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60% of all industries had emissions that do not meet the pollution requirement. For a random sample of 15 companies, compute the following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lang="en-IN" sz="2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073150" lvl="2" indent="-328613">
              <a:buSzPts val="1400"/>
              <a:buFont typeface="+mj-lt"/>
              <a:buAutoNum type="arabicPeriod"/>
            </a:pPr>
            <a:r>
              <a:rPr lang="en-IN" sz="2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Probability that all 15 fails the inspection</a:t>
            </a:r>
          </a:p>
          <a:p>
            <a:pPr marL="1073150" lvl="2" indent="-328613">
              <a:buSzPts val="1400"/>
              <a:buFont typeface="+mj-lt"/>
              <a:buAutoNum type="arabicPeriod"/>
            </a:pPr>
            <a:r>
              <a:rPr lang="en-IN" sz="2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Exactly 8 fails the inspection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E6C173F-5DC0-B041-00CB-1FF3D9B2AB82}"/>
              </a:ext>
            </a:extLst>
          </p:cNvPr>
          <p:cNvSpPr txBox="1"/>
          <p:nvPr/>
        </p:nvSpPr>
        <p:spPr>
          <a:xfrm>
            <a:off x="6422570" y="1360714"/>
            <a:ext cx="5018314" cy="4739439"/>
          </a:xfrm>
          <a:prstGeom prst="rect">
            <a:avLst/>
          </a:prstGeom>
          <a:noFill/>
          <a:ln w="28575"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marL="0" marR="0" lvl="0" indent="457200" algn="just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Given:</a:t>
            </a:r>
          </a:p>
          <a:p>
            <a:pPr marL="0" marR="0" lvl="0" indent="457200" algn="just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n = 15</a:t>
            </a:r>
          </a:p>
          <a:p>
            <a:pPr marL="0" marR="0" lvl="0" indent="457200" algn="just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p = 0.60</a:t>
            </a:r>
          </a:p>
          <a:p>
            <a:pPr marL="0" marR="0" lvl="0" indent="457200" algn="just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q = 1-p = 1-0.6 = 0.4</a:t>
            </a:r>
          </a:p>
          <a:p>
            <a:pPr marL="0" marR="0" lvl="0" indent="457200" algn="just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Probability that all 15 fails the inspection</a:t>
            </a:r>
          </a:p>
          <a:p>
            <a:pPr marL="0" marR="0" lvl="0" indent="457200" algn="just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Here x = 15</a:t>
            </a:r>
          </a:p>
          <a:p>
            <a:pPr marL="0" marR="0" lvl="0" indent="457200" algn="just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P(x) = </a:t>
            </a:r>
            <a:r>
              <a:rPr kumimoji="0" lang="en-US" sz="2400" b="0" i="0" u="none" strike="noStrike" kern="1200" cap="none" spc="0" normalizeH="0" baseline="3000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</a:t>
            </a:r>
            <a:r>
              <a:rPr kumimoji="0" lang="en-US" sz="2400" b="0" i="0" u="none" strike="noStrike" kern="1200" cap="none" spc="0" normalizeH="0" baseline="-2500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x</a:t>
            </a:r>
            <a:r>
              <a:rPr kumimoji="0" lang="en-US" sz="24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</a:t>
            </a:r>
            <a:r>
              <a:rPr kumimoji="0" lang="en-US" sz="2400" b="0" i="0" u="none" strike="noStrike" kern="1200" cap="none" spc="0" normalizeH="0" baseline="3000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x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</a:t>
            </a:r>
            <a:r>
              <a:rPr kumimoji="0" lang="en-US" sz="2400" b="0" i="0" u="none" strike="noStrike" kern="1200" cap="none" spc="0" normalizeH="0" baseline="3000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</a:t>
            </a:r>
            <a:r>
              <a:rPr kumimoji="0" lang="en-US" sz="24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-x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x: 0,1,2….,n</a:t>
            </a:r>
          </a:p>
          <a:p>
            <a:pPr marL="0" marR="0" lvl="0" indent="457200" algn="just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P(x=15) = </a:t>
            </a:r>
            <a:r>
              <a:rPr kumimoji="0" lang="en-US" sz="24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15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</a:t>
            </a:r>
            <a:r>
              <a:rPr kumimoji="0" lang="en-US" sz="24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15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(0.6)</a:t>
            </a:r>
            <a:r>
              <a:rPr kumimoji="0" lang="en-US" sz="24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15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(0.4)</a:t>
            </a:r>
            <a:r>
              <a:rPr kumimoji="0" lang="en-US" sz="24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0 </a:t>
            </a:r>
          </a:p>
          <a:p>
            <a:pPr marL="0" marR="0" lvl="0" indent="457200" algn="just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P(X=15) = 0.00047</a:t>
            </a:r>
          </a:p>
          <a:p>
            <a:pPr marL="0" marR="0" lvl="0" indent="457200" algn="just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0591938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55E912-419F-7742-BCB2-036ECE49B5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B8C3FF-3265-701A-87CD-2F72B5D63C64}"/>
              </a:ext>
            </a:extLst>
          </p:cNvPr>
          <p:cNvSpPr txBox="1">
            <a:spLocks/>
          </p:cNvSpPr>
          <p:nvPr/>
        </p:nvSpPr>
        <p:spPr>
          <a:xfrm>
            <a:off x="2827665" y="217297"/>
            <a:ext cx="8126639" cy="688698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b="1">
                <a:solidFill>
                  <a:srgbClr val="D9212B"/>
                </a:solidFill>
                <a:latin typeface="Avenir Next LT Pro" panose="020B0504020202020204" pitchFamily="34" charset="0"/>
                <a:cs typeface="Arial" pitchFamily="34" charset="0"/>
              </a:rPr>
              <a:t>Binomial Distribution example</a:t>
            </a:r>
            <a:endParaRPr lang="en-US" sz="2800" b="1" dirty="0">
              <a:solidFill>
                <a:srgbClr val="D9212B"/>
              </a:solidFill>
            </a:endParaRPr>
          </a:p>
        </p:txBody>
      </p:sp>
      <p:sp>
        <p:nvSpPr>
          <p:cNvPr id="4" name="Google Shape;74;p43">
            <a:extLst>
              <a:ext uri="{FF2B5EF4-FFF2-40B4-BE49-F238E27FC236}">
                <a16:creationId xmlns:a16="http://schemas.microsoft.com/office/drawing/2014/main" id="{0FA931FC-BF0B-2F19-2320-52B7BA0C6656}"/>
              </a:ext>
            </a:extLst>
          </p:cNvPr>
          <p:cNvSpPr txBox="1"/>
          <p:nvPr/>
        </p:nvSpPr>
        <p:spPr>
          <a:xfrm>
            <a:off x="447597" y="1252615"/>
            <a:ext cx="5974973" cy="53880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925" tIns="16925" rIns="16925" bIns="169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IN" sz="2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 an inspection of </a:t>
            </a:r>
            <a:r>
              <a:rPr lang="en-IN" sz="2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cement companies</a:t>
            </a:r>
            <a:r>
              <a:rPr lang="en-IN" sz="2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60% of all industries had emissions that do not meet the pollution requirement. For a random sample of 15 companies, compute the following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lang="en-IN" sz="2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073150" lvl="2" indent="-328613">
              <a:buSzPts val="1400"/>
              <a:buFont typeface="+mj-lt"/>
              <a:buAutoNum type="arabicPeriod"/>
            </a:pPr>
            <a:r>
              <a:rPr lang="en-IN" sz="2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Probability that all 15 fails the inspection</a:t>
            </a:r>
          </a:p>
          <a:p>
            <a:pPr marL="1073150" lvl="2" indent="-328613">
              <a:buSzPts val="1400"/>
              <a:buFont typeface="+mj-lt"/>
              <a:buAutoNum type="arabicPeriod"/>
            </a:pPr>
            <a:r>
              <a:rPr lang="en-IN" sz="2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Exactly 8 fails the inspection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091C177-8057-1336-0084-B83591FC721B}"/>
              </a:ext>
            </a:extLst>
          </p:cNvPr>
          <p:cNvSpPr txBox="1"/>
          <p:nvPr/>
        </p:nvSpPr>
        <p:spPr>
          <a:xfrm>
            <a:off x="6422570" y="1552303"/>
            <a:ext cx="5356859" cy="3964932"/>
          </a:xfrm>
          <a:prstGeom prst="rect">
            <a:avLst/>
          </a:prstGeom>
          <a:noFill/>
          <a:ln w="38100">
            <a:solidFill>
              <a:srgbClr val="0070C0"/>
            </a:solidFill>
          </a:ln>
        </p:spPr>
        <p:txBody>
          <a:bodyPr wrap="square">
            <a:spAutoFit/>
          </a:bodyPr>
          <a:lstStyle/>
          <a:p>
            <a:pPr indent="457200" algn="just">
              <a:lnSpc>
                <a:spcPct val="115000"/>
              </a:lnSpc>
            </a:pPr>
            <a:r>
              <a:rPr lang="en-IN" sz="2000" b="0" i="0" u="none" strike="noStrike" cap="none" dirty="0">
                <a:solidFill>
                  <a:schemeClr val="dk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Given:</a:t>
            </a:r>
          </a:p>
          <a:p>
            <a:pPr indent="457200" algn="just">
              <a:lnSpc>
                <a:spcPct val="115000"/>
              </a:lnSpc>
            </a:pPr>
            <a:r>
              <a:rPr lang="en-IN" sz="2000" dirty="0">
                <a:solidFill>
                  <a:schemeClr val="dk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n = 15</a:t>
            </a:r>
          </a:p>
          <a:p>
            <a:pPr indent="457200" algn="just">
              <a:lnSpc>
                <a:spcPct val="115000"/>
              </a:lnSpc>
            </a:pPr>
            <a:r>
              <a:rPr lang="en-IN" sz="2000" dirty="0">
                <a:solidFill>
                  <a:schemeClr val="dk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p = 0.60</a:t>
            </a:r>
          </a:p>
          <a:p>
            <a:pPr indent="457200" algn="just">
              <a:lnSpc>
                <a:spcPct val="115000"/>
              </a:lnSpc>
            </a:pPr>
            <a:r>
              <a:rPr lang="en-IN" sz="2000" dirty="0">
                <a:solidFill>
                  <a:schemeClr val="dk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q = 1-p = 1-0.6 = 0.4</a:t>
            </a:r>
            <a:endParaRPr lang="en-IN" sz="2000" b="0" i="0" u="none" strike="noStrike" cap="none" dirty="0">
              <a:solidFill>
                <a:schemeClr val="dk1"/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  <a:sym typeface="Calibri"/>
            </a:endParaRPr>
          </a:p>
          <a:p>
            <a:pPr indent="457200" algn="just">
              <a:lnSpc>
                <a:spcPct val="115000"/>
              </a:lnSpc>
            </a:pPr>
            <a:r>
              <a:rPr lang="en-IN" sz="2000" b="0" i="0" u="none" strike="noStrike" cap="none" dirty="0">
                <a:solidFill>
                  <a:schemeClr val="dk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Probability that exactly 8 fails the inspection</a:t>
            </a:r>
          </a:p>
          <a:p>
            <a:pPr indent="457200" algn="just">
              <a:lnSpc>
                <a:spcPct val="115000"/>
              </a:lnSpc>
            </a:pPr>
            <a:r>
              <a:rPr lang="en-IN" sz="2000" dirty="0">
                <a:solidFill>
                  <a:schemeClr val="dk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Here x = 8</a:t>
            </a:r>
            <a:endParaRPr lang="en-IN" sz="2000" b="0" i="0" u="none" strike="noStrike" cap="none" dirty="0">
              <a:solidFill>
                <a:schemeClr val="dk1"/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  <a:sym typeface="Calibri"/>
            </a:endParaRPr>
          </a:p>
          <a:p>
            <a:pPr indent="457200" algn="just">
              <a:lnSpc>
                <a:spcPct val="115000"/>
              </a:lnSpc>
            </a:pPr>
            <a:r>
              <a:rPr lang="en-US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P(x) = </a:t>
            </a:r>
            <a:r>
              <a:rPr lang="en-US" sz="2000" baseline="300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</a:t>
            </a:r>
            <a:r>
              <a:rPr lang="en-US" sz="20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</a:t>
            </a:r>
            <a:r>
              <a:rPr lang="en-US" sz="2000" baseline="-250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x</a:t>
            </a:r>
            <a:r>
              <a:rPr lang="en-US" sz="2000" baseline="-25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</a:t>
            </a:r>
            <a:r>
              <a:rPr lang="en-US" sz="2000" baseline="300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x</a:t>
            </a:r>
            <a:r>
              <a:rPr lang="en-US" sz="20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</a:t>
            </a:r>
            <a:r>
              <a:rPr lang="en-US" sz="2000" baseline="300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</a:t>
            </a:r>
            <a:r>
              <a:rPr lang="en-US" sz="2000" baseline="30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-x</a:t>
            </a:r>
            <a:r>
              <a:rPr lang="en-US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x: 0,1,2….,n</a:t>
            </a:r>
          </a:p>
          <a:p>
            <a:pPr indent="457200" algn="just">
              <a:lnSpc>
                <a:spcPct val="115000"/>
              </a:lnSpc>
            </a:pPr>
            <a:r>
              <a:rPr lang="en-US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P(x=8) = </a:t>
            </a:r>
            <a:r>
              <a:rPr lang="en-US" sz="2000" baseline="30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15</a:t>
            </a:r>
            <a:r>
              <a:rPr lang="en-US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</a:t>
            </a:r>
            <a:r>
              <a:rPr lang="en-US" sz="2000" baseline="-25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8 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(0.6)</a:t>
            </a:r>
            <a:r>
              <a:rPr lang="en-US" sz="2000" baseline="30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8</a:t>
            </a:r>
            <a:r>
              <a:rPr lang="en-US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(0.4)</a:t>
            </a:r>
            <a:r>
              <a:rPr lang="en-US" sz="2000" baseline="30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15-8</a:t>
            </a:r>
          </a:p>
          <a:p>
            <a:pPr indent="457200" algn="just">
              <a:lnSpc>
                <a:spcPct val="115000"/>
              </a:lnSpc>
            </a:pPr>
            <a:r>
              <a:rPr lang="en-US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P(x=8) = </a:t>
            </a:r>
            <a:r>
              <a:rPr lang="en-US" sz="2000" baseline="30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15</a:t>
            </a:r>
            <a:r>
              <a:rPr lang="en-US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</a:t>
            </a:r>
            <a:r>
              <a:rPr lang="en-US" sz="2000" baseline="-25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8 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(0.6)</a:t>
            </a:r>
            <a:r>
              <a:rPr lang="en-US" sz="2000" baseline="30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8</a:t>
            </a:r>
            <a:r>
              <a:rPr lang="en-US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(0.4)</a:t>
            </a:r>
            <a:r>
              <a:rPr lang="en-US" sz="2000" baseline="30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7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indent="457200" algn="just">
              <a:lnSpc>
                <a:spcPct val="115000"/>
              </a:lnSpc>
            </a:pPr>
            <a:r>
              <a:rPr lang="en-US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P(X=8) = 0.17708</a:t>
            </a:r>
          </a:p>
          <a:p>
            <a:pPr indent="457200" algn="just">
              <a:lnSpc>
                <a:spcPct val="115000"/>
              </a:lnSpc>
            </a:pPr>
            <a:endParaRPr lang="en-IN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215206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A3809C-9761-6A1E-B6AA-24619AB857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FB6C11AF-9D29-3F21-B36C-3ED3064B8753}"/>
              </a:ext>
            </a:extLst>
          </p:cNvPr>
          <p:cNvSpPr txBox="1">
            <a:spLocks/>
          </p:cNvSpPr>
          <p:nvPr/>
        </p:nvSpPr>
        <p:spPr>
          <a:xfrm>
            <a:off x="3200398" y="222953"/>
            <a:ext cx="7078991" cy="688698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b="1">
                <a:solidFill>
                  <a:srgbClr val="D9212B"/>
                </a:solidFill>
                <a:latin typeface="Avenir Next LT Pro" panose="020B0504020202020204" pitchFamily="34" charset="0"/>
                <a:cs typeface="Arial" pitchFamily="34" charset="0"/>
              </a:rPr>
              <a:t>Poisson Distribution</a:t>
            </a:r>
            <a:endParaRPr lang="en-US" sz="2800" b="1" dirty="0">
              <a:solidFill>
                <a:srgbClr val="D9212B"/>
              </a:solidFill>
            </a:endParaRPr>
          </a:p>
        </p:txBody>
      </p:sp>
      <p:sp>
        <p:nvSpPr>
          <p:cNvPr id="6" name="Google Shape;74;p43">
            <a:extLst>
              <a:ext uri="{FF2B5EF4-FFF2-40B4-BE49-F238E27FC236}">
                <a16:creationId xmlns:a16="http://schemas.microsoft.com/office/drawing/2014/main" id="{3222E333-1535-6CB9-9473-2CFE93D82C49}"/>
              </a:ext>
            </a:extLst>
          </p:cNvPr>
          <p:cNvSpPr txBox="1"/>
          <p:nvPr/>
        </p:nvSpPr>
        <p:spPr>
          <a:xfrm>
            <a:off x="555172" y="1404261"/>
            <a:ext cx="5192486" cy="46414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925" tIns="16925" rIns="16925" bIns="16925" anchor="t" anchorCtr="0">
            <a:noAutofit/>
          </a:bodyPr>
          <a:lstStyle/>
          <a:p>
            <a:pPr algn="just">
              <a:lnSpc>
                <a:spcPct val="115000"/>
              </a:lnSpc>
            </a:pPr>
            <a:r>
              <a:rPr lang="en-US" sz="2400" dirty="0">
                <a:effectLst/>
                <a:latin typeface="Cambria Math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Sometimes there may be a situation that out of a large number of trials, probability of getting a success may be very small i.e., the event may be a rare event.  </a:t>
            </a:r>
          </a:p>
          <a:p>
            <a:pPr algn="just">
              <a:lnSpc>
                <a:spcPct val="115000"/>
              </a:lnSpc>
            </a:pPr>
            <a:endParaRPr lang="en-US" sz="2400" dirty="0">
              <a:latin typeface="Cambria Math" panose="020405030504060302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15000"/>
              </a:lnSpc>
            </a:pPr>
            <a:r>
              <a:rPr lang="en-US" sz="2400" dirty="0">
                <a:effectLst/>
                <a:latin typeface="Cambria Math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Ex: Cyber attack, Fraud, Probability of a tree falling on someone’s head.</a:t>
            </a:r>
            <a:endParaRPr lang="en-IN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15000"/>
              </a:lnSpc>
            </a:pPr>
            <a:r>
              <a:rPr lang="en-US" sz="2400" dirty="0">
                <a:effectLst/>
                <a:latin typeface="Cambria Math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 this kind of situation where the occurrence of event is very rare Poisson distribution may be used.  </a:t>
            </a:r>
          </a:p>
          <a:p>
            <a:pPr algn="just">
              <a:lnSpc>
                <a:spcPct val="115000"/>
              </a:lnSpc>
            </a:pPr>
            <a:endParaRPr lang="en-US" sz="2400" dirty="0">
              <a:latin typeface="Cambria Math" panose="020405030504060302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2532E3F-A344-F685-593B-DCCB0A513F07}"/>
              </a:ext>
            </a:extLst>
          </p:cNvPr>
          <p:cNvSpPr txBox="1"/>
          <p:nvPr/>
        </p:nvSpPr>
        <p:spPr>
          <a:xfrm>
            <a:off x="6096000" y="1335419"/>
            <a:ext cx="5889171" cy="45687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15000"/>
              </a:lnSpc>
            </a:pPr>
            <a:r>
              <a:rPr lang="en-US" sz="2400" dirty="0">
                <a:effectLst/>
                <a:latin typeface="Cambria Math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Poisson distribution is the limiting case of binomial distribution.  Under the following conditions binomial distribution tend to Poisson distribution.</a:t>
            </a:r>
          </a:p>
          <a:p>
            <a:pPr algn="just">
              <a:lnSpc>
                <a:spcPct val="115000"/>
              </a:lnSpc>
            </a:pPr>
            <a:endParaRPr lang="en-IN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15000"/>
              </a:lnSpc>
              <a:spcAft>
                <a:spcPts val="1000"/>
              </a:spcAft>
              <a:buFont typeface="+mj-lt"/>
              <a:buAutoNum type="arabicPeriod"/>
            </a:pPr>
            <a:r>
              <a:rPr lang="en-US" sz="2400" dirty="0">
                <a:effectLst/>
                <a:latin typeface="Cambria Math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There are infinite number of trials; n </a:t>
            </a:r>
            <a:r>
              <a:rPr lang="en-US" sz="2400" dirty="0">
                <a:effectLst/>
                <a:latin typeface="Cambria Math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</a:t>
            </a:r>
            <a:r>
              <a:rPr lang="en-US" sz="2400" dirty="0">
                <a:effectLst/>
                <a:latin typeface="Cambria Math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α</a:t>
            </a:r>
            <a:endParaRPr lang="en-IN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15000"/>
              </a:lnSpc>
              <a:spcAft>
                <a:spcPts val="1000"/>
              </a:spcAft>
              <a:buFont typeface="+mj-lt"/>
              <a:buAutoNum type="arabicPeriod"/>
            </a:pPr>
            <a:r>
              <a:rPr lang="en-US" sz="2400" dirty="0">
                <a:effectLst/>
                <a:latin typeface="Cambria Math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Probability of getting an event is very small p</a:t>
            </a:r>
            <a:r>
              <a:rPr lang="en-US" sz="2400" dirty="0">
                <a:effectLst/>
                <a:latin typeface="Cambria Math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</a:t>
            </a:r>
            <a:r>
              <a:rPr lang="en-US" sz="2400" dirty="0">
                <a:effectLst/>
                <a:latin typeface="Cambria Math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en-IN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15000"/>
              </a:lnSpc>
              <a:spcAft>
                <a:spcPts val="1000"/>
              </a:spcAft>
              <a:buFont typeface="+mj-lt"/>
              <a:buAutoNum type="arabicPeriod"/>
            </a:pPr>
            <a:r>
              <a:rPr lang="en-US" sz="2400" dirty="0">
                <a:effectLst/>
                <a:latin typeface="Cambria Math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product ‘np’ is constant np = λ</a:t>
            </a:r>
            <a:endParaRPr lang="en-IN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4733310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F199DE-72C0-6C3F-C639-925F1DD8F2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A16750C9-8E38-53CB-0E97-BF0934E727DE}"/>
              </a:ext>
            </a:extLst>
          </p:cNvPr>
          <p:cNvSpPr txBox="1">
            <a:spLocks/>
          </p:cNvSpPr>
          <p:nvPr/>
        </p:nvSpPr>
        <p:spPr>
          <a:xfrm>
            <a:off x="3407229" y="217297"/>
            <a:ext cx="6357257" cy="688698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b="1" dirty="0">
                <a:solidFill>
                  <a:srgbClr val="D9212B"/>
                </a:solidFill>
                <a:latin typeface="Avenir Next LT Pro" panose="020B0504020202020204" pitchFamily="34" charset="0"/>
                <a:cs typeface="Arial" pitchFamily="34" charset="0"/>
              </a:rPr>
              <a:t>Poisson Distribution</a:t>
            </a:r>
            <a:endParaRPr lang="en-US" sz="2800" b="1" dirty="0">
              <a:solidFill>
                <a:srgbClr val="D9212B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337C26F-6B56-A4B4-FA3F-9722D41C62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5232" y="1161208"/>
            <a:ext cx="11405713" cy="51033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105327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AD346C-F2B3-501D-D77C-AB5495317E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74;p43">
            <a:extLst>
              <a:ext uri="{FF2B5EF4-FFF2-40B4-BE49-F238E27FC236}">
                <a16:creationId xmlns:a16="http://schemas.microsoft.com/office/drawing/2014/main" id="{E1E0ED56-985B-80E7-28E1-1419D6F5D3D3}"/>
              </a:ext>
            </a:extLst>
          </p:cNvPr>
          <p:cNvSpPr txBox="1"/>
          <p:nvPr/>
        </p:nvSpPr>
        <p:spPr>
          <a:xfrm>
            <a:off x="797002" y="2636173"/>
            <a:ext cx="9065455" cy="29264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925" tIns="16925" rIns="16925" bIns="16925" anchor="t" anchorCtr="0">
            <a:noAutofit/>
          </a:bodyPr>
          <a:lstStyle/>
          <a:p>
            <a:pPr marL="342900" lvl="0" indent="-342900" algn="just">
              <a:lnSpc>
                <a:spcPct val="115000"/>
              </a:lnSpc>
              <a:spcAft>
                <a:spcPts val="1000"/>
              </a:spcAft>
              <a:buFont typeface="+mj-lt"/>
              <a:buAutoNum type="arabicPeriod"/>
            </a:pPr>
            <a:r>
              <a:rPr lang="en-US" sz="2800" dirty="0">
                <a:effectLst/>
                <a:latin typeface="Cambria Math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Mean  = </a:t>
            </a:r>
            <a:r>
              <a:rPr lang="en-US" sz="2800" dirty="0" err="1">
                <a:effectLst/>
                <a:latin typeface="Cambria Math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λ</a:t>
            </a:r>
            <a:endParaRPr lang="en-IN" sz="2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15000"/>
              </a:lnSpc>
              <a:spcAft>
                <a:spcPts val="1000"/>
              </a:spcAft>
              <a:buFont typeface="+mj-lt"/>
              <a:buAutoNum type="arabicPeriod"/>
            </a:pPr>
            <a:r>
              <a:rPr lang="en-US" sz="2800" dirty="0">
                <a:effectLst/>
                <a:latin typeface="Cambria Math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Variance  = </a:t>
            </a:r>
            <a:r>
              <a:rPr lang="en-US" sz="2800" dirty="0" err="1">
                <a:effectLst/>
                <a:latin typeface="Cambria Math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λ</a:t>
            </a:r>
            <a:endParaRPr lang="en-IN" sz="2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15000"/>
              </a:lnSpc>
              <a:spcAft>
                <a:spcPts val="1000"/>
              </a:spcAft>
              <a:buFont typeface="+mj-lt"/>
              <a:buAutoNum type="arabicPeriod"/>
            </a:pPr>
            <a:r>
              <a:rPr lang="en-US" sz="2800" dirty="0">
                <a:effectLst/>
                <a:latin typeface="Cambria Math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 Poisson distribution Mean  = Variance</a:t>
            </a:r>
            <a:endParaRPr lang="en-IN" sz="2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15000"/>
              </a:lnSpc>
              <a:spcAft>
                <a:spcPts val="1000"/>
              </a:spcAft>
              <a:buFont typeface="+mj-lt"/>
              <a:buAutoNum type="arabicPeriod"/>
            </a:pPr>
            <a:r>
              <a:rPr lang="en-US" sz="2800" dirty="0">
                <a:effectLst/>
                <a:latin typeface="Cambria Math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Standard deviation  = Sqrt(Variance)</a:t>
            </a:r>
            <a:endParaRPr lang="en-IN" sz="2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Google Shape;75;p43">
            <a:extLst>
              <a:ext uri="{FF2B5EF4-FFF2-40B4-BE49-F238E27FC236}">
                <a16:creationId xmlns:a16="http://schemas.microsoft.com/office/drawing/2014/main" id="{9BDBAB8E-D3B6-0512-45A4-0ED182CCCF34}"/>
              </a:ext>
            </a:extLst>
          </p:cNvPr>
          <p:cNvSpPr txBox="1"/>
          <p:nvPr/>
        </p:nvSpPr>
        <p:spPr>
          <a:xfrm>
            <a:off x="797002" y="1546688"/>
            <a:ext cx="10947400" cy="756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925" tIns="16925" rIns="16925" bIns="169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IN" sz="36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Properties of Poisson Distribution</a:t>
            </a:r>
            <a:endParaRPr sz="2800" dirty="0"/>
          </a:p>
        </p:txBody>
      </p:sp>
    </p:spTree>
    <p:extLst>
      <p:ext uri="{BB962C8B-B14F-4D97-AF65-F5344CB8AC3E}">
        <p14:creationId xmlns:p14="http://schemas.microsoft.com/office/powerpoint/2010/main" val="36197395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10D29DB-31E3-1B5D-1889-6961064532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8343" y="1513114"/>
            <a:ext cx="11441288" cy="40264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336210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D37340-B94E-8D83-A375-589741220D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AB2C76-FCE9-F243-6132-E5D418DBD2E7}"/>
              </a:ext>
            </a:extLst>
          </p:cNvPr>
          <p:cNvSpPr txBox="1">
            <a:spLocks/>
          </p:cNvSpPr>
          <p:nvPr/>
        </p:nvSpPr>
        <p:spPr>
          <a:xfrm>
            <a:off x="1197429" y="2666582"/>
            <a:ext cx="10493828" cy="1295817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b="1" dirty="0">
                <a:solidFill>
                  <a:srgbClr val="D9212B"/>
                </a:solidFill>
                <a:latin typeface="Avenir Next LT Pro" panose="020B0504020202020204" pitchFamily="34" charset="0"/>
                <a:cs typeface="Arial" pitchFamily="34" charset="0"/>
              </a:rPr>
              <a:t>How to perform Probability distributions using Python?</a:t>
            </a:r>
            <a:endParaRPr lang="en-US" sz="2800" b="1" dirty="0">
              <a:solidFill>
                <a:srgbClr val="D9212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3192011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49F4B2DB-5CFC-447E-7DDD-CC9D193E7FA5}"/>
              </a:ext>
            </a:extLst>
          </p:cNvPr>
          <p:cNvSpPr txBox="1">
            <a:spLocks/>
          </p:cNvSpPr>
          <p:nvPr/>
        </p:nvSpPr>
        <p:spPr>
          <a:xfrm>
            <a:off x="3929743" y="217297"/>
            <a:ext cx="7024562" cy="688698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b="1">
                <a:solidFill>
                  <a:srgbClr val="D9212B"/>
                </a:solidFill>
                <a:latin typeface="Avenir Next LT Pro" panose="020B0504020202020204" pitchFamily="34" charset="0"/>
                <a:cs typeface="Arial" pitchFamily="34" charset="0"/>
              </a:rPr>
              <a:t>Comparison</a:t>
            </a:r>
            <a:endParaRPr lang="en-US" sz="2800" b="1" dirty="0">
              <a:solidFill>
                <a:srgbClr val="D9212B"/>
              </a:solidFill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F29828F-8AE5-EA95-FE28-077E3341BC8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508595266"/>
              </p:ext>
            </p:extLst>
          </p:nvPr>
        </p:nvGraphicFramePr>
        <p:xfrm>
          <a:off x="438705" y="1436915"/>
          <a:ext cx="11263438" cy="4495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14732860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AF1030-9CD0-1240-3950-D8F56A05BE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A951A195-4346-45AB-3A24-8512E8CA2F6C}"/>
              </a:ext>
            </a:extLst>
          </p:cNvPr>
          <p:cNvSpPr txBox="1">
            <a:spLocks/>
          </p:cNvSpPr>
          <p:nvPr/>
        </p:nvSpPr>
        <p:spPr>
          <a:xfrm>
            <a:off x="2623457" y="217297"/>
            <a:ext cx="8330848" cy="688698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b="1" dirty="0">
                <a:solidFill>
                  <a:srgbClr val="D9212B"/>
                </a:solidFill>
                <a:latin typeface="Avenir Next LT Pro" panose="020B0504020202020204" pitchFamily="34" charset="0"/>
                <a:cs typeface="Arial" pitchFamily="34" charset="0"/>
              </a:rPr>
              <a:t>Multiple Choice Questions (MCQs)</a:t>
            </a:r>
            <a:endParaRPr lang="en-US" sz="2800" b="1" dirty="0">
              <a:solidFill>
                <a:srgbClr val="D9212B"/>
              </a:solidFill>
            </a:endParaRPr>
          </a:p>
        </p:txBody>
      </p:sp>
      <p:sp>
        <p:nvSpPr>
          <p:cNvPr id="4" name="Text Placeholder 1">
            <a:extLst>
              <a:ext uri="{FF2B5EF4-FFF2-40B4-BE49-F238E27FC236}">
                <a16:creationId xmlns:a16="http://schemas.microsoft.com/office/drawing/2014/main" id="{E76854D1-4E05-A700-F0E1-C4FF12AF3DE5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5400" indent="0">
              <a:buFont typeface="Arial" panose="020B0604020202020204" pitchFamily="34" charset="0"/>
              <a:buNone/>
            </a:pPr>
            <a:r>
              <a:rPr lang="en-US">
                <a:solidFill>
                  <a:srgbClr val="242424"/>
                </a:solidFill>
                <a:highlight>
                  <a:srgbClr val="FFFFFF"/>
                </a:highlight>
                <a:latin typeface="source-serif-pro"/>
              </a:rPr>
              <a:t>What is a Random Variable?</a:t>
            </a:r>
            <a:br>
              <a:rPr lang="en-US"/>
            </a:br>
            <a:endParaRPr lang="en-US"/>
          </a:p>
          <a:p>
            <a:pPr marL="25400" indent="0">
              <a:buFont typeface="Arial" panose="020B0604020202020204" pitchFamily="34" charset="0"/>
              <a:buNone/>
            </a:pPr>
            <a:r>
              <a:rPr lang="en-US">
                <a:solidFill>
                  <a:srgbClr val="242424"/>
                </a:solidFill>
                <a:highlight>
                  <a:srgbClr val="FFFFFF"/>
                </a:highlight>
                <a:latin typeface="source-serif-pro"/>
              </a:rPr>
              <a:t>a) A variable that takes deterministic values.</a:t>
            </a:r>
            <a:br>
              <a:rPr lang="en-US"/>
            </a:br>
            <a:r>
              <a:rPr lang="en-US">
                <a:solidFill>
                  <a:srgbClr val="242424"/>
                </a:solidFill>
                <a:highlight>
                  <a:srgbClr val="FFFFFF"/>
                </a:highlight>
                <a:latin typeface="source-serif-pro"/>
              </a:rPr>
              <a:t>b) A variable that always takes integer values.</a:t>
            </a:r>
            <a:br>
              <a:rPr lang="en-US"/>
            </a:br>
            <a:r>
              <a:rPr lang="en-US">
                <a:solidFill>
                  <a:srgbClr val="242424"/>
                </a:solidFill>
                <a:highlight>
                  <a:srgbClr val="FFFFFF"/>
                </a:highlight>
                <a:latin typeface="source-serif-pro"/>
              </a:rPr>
              <a:t>c) A constant that never changes.</a:t>
            </a:r>
            <a:br>
              <a:rPr lang="en-US"/>
            </a:br>
            <a:r>
              <a:rPr lang="en-US">
                <a:solidFill>
                  <a:srgbClr val="242424"/>
                </a:solidFill>
                <a:highlight>
                  <a:srgbClr val="FFFFFF"/>
                </a:highlight>
                <a:latin typeface="source-serif-pro"/>
              </a:rPr>
              <a:t>d) A variable that assigns numerical values to the outcomes of a random process.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861021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C0BB34-31D2-DCA8-7016-F4F8FDA241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08707CC4-8D09-85FC-C793-CE98B292CA7F}"/>
              </a:ext>
            </a:extLst>
          </p:cNvPr>
          <p:cNvSpPr txBox="1">
            <a:spLocks/>
          </p:cNvSpPr>
          <p:nvPr/>
        </p:nvSpPr>
        <p:spPr>
          <a:xfrm>
            <a:off x="2623457" y="217297"/>
            <a:ext cx="8330848" cy="688698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b="1" dirty="0">
                <a:solidFill>
                  <a:srgbClr val="D9212B"/>
                </a:solidFill>
                <a:latin typeface="Avenir Next LT Pro" panose="020B0504020202020204" pitchFamily="34" charset="0"/>
                <a:cs typeface="Arial" pitchFamily="34" charset="0"/>
              </a:rPr>
              <a:t>Multiple Choice Questions (MCQs)</a:t>
            </a:r>
            <a:endParaRPr lang="en-US" sz="2800" b="1" dirty="0">
              <a:solidFill>
                <a:srgbClr val="D9212B"/>
              </a:solidFill>
            </a:endParaRPr>
          </a:p>
        </p:txBody>
      </p:sp>
      <p:sp>
        <p:nvSpPr>
          <p:cNvPr id="4" name="Text Placeholder 1">
            <a:extLst>
              <a:ext uri="{FF2B5EF4-FFF2-40B4-BE49-F238E27FC236}">
                <a16:creationId xmlns:a16="http://schemas.microsoft.com/office/drawing/2014/main" id="{93B04AF5-59C4-A89F-858A-4639A2309A63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5400" indent="0">
              <a:buFont typeface="Arial" panose="020B0604020202020204" pitchFamily="34" charset="0"/>
              <a:buNone/>
            </a:pPr>
            <a:r>
              <a:rPr lang="en-US" dirty="0">
                <a:solidFill>
                  <a:srgbClr val="242424"/>
                </a:solidFill>
                <a:highlight>
                  <a:srgbClr val="FFFFFF"/>
                </a:highlight>
                <a:latin typeface="source-serif-pro"/>
              </a:rPr>
              <a:t>What is a Random Variable?</a:t>
            </a:r>
            <a:br>
              <a:rPr lang="en-US" dirty="0"/>
            </a:br>
            <a:endParaRPr lang="en-US" dirty="0"/>
          </a:p>
          <a:p>
            <a:pPr marL="25400" indent="0">
              <a:buFont typeface="Arial" panose="020B0604020202020204" pitchFamily="34" charset="0"/>
              <a:buNone/>
            </a:pPr>
            <a:r>
              <a:rPr lang="en-US" dirty="0">
                <a:solidFill>
                  <a:srgbClr val="242424"/>
                </a:solidFill>
                <a:highlight>
                  <a:srgbClr val="FFFFFF"/>
                </a:highlight>
                <a:latin typeface="source-serif-pro"/>
              </a:rPr>
              <a:t>a) A variable that takes deterministic values.</a:t>
            </a:r>
            <a:br>
              <a:rPr lang="en-US" dirty="0"/>
            </a:br>
            <a:r>
              <a:rPr lang="en-US" dirty="0">
                <a:solidFill>
                  <a:srgbClr val="242424"/>
                </a:solidFill>
                <a:highlight>
                  <a:srgbClr val="FFFFFF"/>
                </a:highlight>
                <a:latin typeface="source-serif-pro"/>
              </a:rPr>
              <a:t>b) A variable that always takes integer values.</a:t>
            </a:r>
            <a:br>
              <a:rPr lang="en-US" dirty="0"/>
            </a:br>
            <a:r>
              <a:rPr lang="en-US" dirty="0">
                <a:solidFill>
                  <a:srgbClr val="242424"/>
                </a:solidFill>
                <a:highlight>
                  <a:srgbClr val="FFFFFF"/>
                </a:highlight>
                <a:latin typeface="source-serif-pro"/>
              </a:rPr>
              <a:t>c) A constant that never changes.</a:t>
            </a:r>
            <a:br>
              <a:rPr lang="en-US" dirty="0"/>
            </a:br>
            <a:r>
              <a:rPr lang="en-US" dirty="0">
                <a:solidFill>
                  <a:srgbClr val="242424"/>
                </a:solidFill>
                <a:highlight>
                  <a:srgbClr val="FFFF00"/>
                </a:highlight>
                <a:latin typeface="source-serif-pro"/>
              </a:rPr>
              <a:t>d) A variable that assigns numerical values to the outcomes of a random process.</a:t>
            </a:r>
            <a:endParaRPr lang="en-US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383675128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9BD7B1-DE66-2A70-9441-A4D9EA811B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7CD102-CBE3-629B-0142-74A52F6CFAF2}"/>
              </a:ext>
            </a:extLst>
          </p:cNvPr>
          <p:cNvSpPr txBox="1">
            <a:spLocks/>
          </p:cNvSpPr>
          <p:nvPr/>
        </p:nvSpPr>
        <p:spPr>
          <a:xfrm>
            <a:off x="2623457" y="217297"/>
            <a:ext cx="8330848" cy="688698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b="1" dirty="0">
                <a:solidFill>
                  <a:srgbClr val="D9212B"/>
                </a:solidFill>
                <a:latin typeface="Avenir Next LT Pro" panose="020B0504020202020204" pitchFamily="34" charset="0"/>
                <a:cs typeface="Arial" pitchFamily="34" charset="0"/>
              </a:rPr>
              <a:t>Multiple Choice Questions (MCQs)</a:t>
            </a:r>
            <a:endParaRPr lang="en-US" sz="2800" b="1" dirty="0">
              <a:solidFill>
                <a:srgbClr val="D9212B"/>
              </a:solidFill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8280A245-8D82-512A-1F36-89BABED9CBA0}"/>
              </a:ext>
            </a:extLst>
          </p:cNvPr>
          <p:cNvSpPr txBox="1">
            <a:spLocks/>
          </p:cNvSpPr>
          <p:nvPr/>
        </p:nvSpPr>
        <p:spPr>
          <a:xfrm>
            <a:off x="438705" y="1253331"/>
            <a:ext cx="10515600" cy="4351338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3200"/>
              <a:t>Q1: Which distribution has mean = variance?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3200"/>
              <a:t>A) Normal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3200"/>
              <a:t>B) Binomial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3200"/>
              <a:t>C) Poisson 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3200"/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3200"/>
              <a:t>Q2: Which is used for yes/no trials?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3200"/>
              <a:t>A) Poisson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3200"/>
              <a:t>B) Binomial 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298850092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F84169-E1E8-0C1F-9F8C-E5C9D919D0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67B2A4-D040-316A-2078-072EFF68142B}"/>
              </a:ext>
            </a:extLst>
          </p:cNvPr>
          <p:cNvSpPr txBox="1">
            <a:spLocks/>
          </p:cNvSpPr>
          <p:nvPr/>
        </p:nvSpPr>
        <p:spPr>
          <a:xfrm>
            <a:off x="2623457" y="217297"/>
            <a:ext cx="8330848" cy="688698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b="1" dirty="0">
                <a:solidFill>
                  <a:srgbClr val="D9212B"/>
                </a:solidFill>
                <a:latin typeface="Avenir Next LT Pro" panose="020B0504020202020204" pitchFamily="34" charset="0"/>
                <a:cs typeface="Arial" pitchFamily="34" charset="0"/>
              </a:rPr>
              <a:t>Multiple Choice Questions (MCQs)</a:t>
            </a:r>
            <a:endParaRPr lang="en-US" sz="2800" b="1" dirty="0">
              <a:solidFill>
                <a:srgbClr val="D9212B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206E6C-85E2-C2E3-7559-AD55AD74B0A3}"/>
              </a:ext>
            </a:extLst>
          </p:cNvPr>
          <p:cNvSpPr txBox="1">
            <a:spLocks/>
          </p:cNvSpPr>
          <p:nvPr/>
        </p:nvSpPr>
        <p:spPr>
          <a:xfrm>
            <a:off x="438705" y="1264216"/>
            <a:ext cx="11013066" cy="4526983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3200"/>
              <a:t>Q1: Which distribution has mean = variance?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3200"/>
              <a:t>A) Normal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3200"/>
              <a:t>B) Binomial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3200"/>
              <a:t>C) Poisson ✅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3200"/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3200"/>
              <a:t>Q2: Which is used for yes/no trials?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3200"/>
              <a:t>A) Poisson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3200"/>
              <a:t>B) Binomial ✅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61291589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D58974-99FB-3720-754B-A84E578845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41BF9BA-6723-0FB9-52FA-08701D972DCC}"/>
              </a:ext>
            </a:extLst>
          </p:cNvPr>
          <p:cNvSpPr txBox="1">
            <a:spLocks/>
          </p:cNvSpPr>
          <p:nvPr/>
        </p:nvSpPr>
        <p:spPr>
          <a:xfrm>
            <a:off x="2768248" y="189252"/>
            <a:ext cx="7899752" cy="688698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D9212B"/>
                </a:solidFill>
                <a:effectLst/>
                <a:uLnTx/>
                <a:uFillTx/>
                <a:latin typeface="Avenir Next LT Pro" panose="020B0504020202020204" pitchFamily="34" charset="0"/>
                <a:ea typeface="+mj-ea"/>
                <a:cs typeface="Arial" pitchFamily="34" charset="0"/>
              </a:rPr>
              <a:t>Session Summary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D9212B"/>
              </a:solidFill>
              <a:effectLst/>
              <a:uLnTx/>
              <a:uFillTx/>
              <a:latin typeface="Aptos Display" panose="02110004020202020204"/>
              <a:ea typeface="+mj-ea"/>
              <a:cs typeface="+mj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3BE93AF-E7B5-D045-8429-AD60E786E755}"/>
              </a:ext>
            </a:extLst>
          </p:cNvPr>
          <p:cNvSpPr txBox="1"/>
          <p:nvPr/>
        </p:nvSpPr>
        <p:spPr>
          <a:xfrm>
            <a:off x="1218460" y="2305520"/>
            <a:ext cx="89161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venir Next LT Pro" panose="020B0504020202020204" pitchFamily="34" charset="0"/>
                <a:ea typeface="+mn-ea"/>
                <a:cs typeface="Arial" pitchFamily="34" charset="0"/>
              </a:rPr>
              <a:t>In this session, we have discussed about: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F19877B6-B575-5552-669B-AE83DCCBAF2B}"/>
              </a:ext>
            </a:extLst>
          </p:cNvPr>
          <p:cNvSpPr txBox="1">
            <a:spLocks/>
          </p:cNvSpPr>
          <p:nvPr/>
        </p:nvSpPr>
        <p:spPr>
          <a:xfrm>
            <a:off x="859972" y="2828771"/>
            <a:ext cx="10515600" cy="2918886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Understand the concept of random variable and probability distributions. </a:t>
            </a:r>
          </a:p>
          <a:p>
            <a:r>
              <a:rPr lang="en-US" dirty="0"/>
              <a:t>Understand Normal, Binomial, and Poisson Distributions.</a:t>
            </a:r>
          </a:p>
          <a:p>
            <a:r>
              <a:rPr lang="en-US" dirty="0"/>
              <a:t>Learn the formulas, attempt quizzes and solve numerical problems.</a:t>
            </a:r>
          </a:p>
          <a:p>
            <a:r>
              <a:rPr lang="en-US" dirty="0"/>
              <a:t>How to work with probability distributions using Python!</a:t>
            </a:r>
          </a:p>
        </p:txBody>
      </p:sp>
    </p:spTree>
    <p:extLst>
      <p:ext uri="{BB962C8B-B14F-4D97-AF65-F5344CB8AC3E}">
        <p14:creationId xmlns:p14="http://schemas.microsoft.com/office/powerpoint/2010/main" val="279635945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C59546-DE86-A91D-D6C0-4DC694BE76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8FE865F2-B3CB-A157-5545-C09B44282D58}"/>
              </a:ext>
            </a:extLst>
          </p:cNvPr>
          <p:cNvSpPr txBox="1">
            <a:spLocks/>
          </p:cNvSpPr>
          <p:nvPr/>
        </p:nvSpPr>
        <p:spPr>
          <a:xfrm>
            <a:off x="2768248" y="189252"/>
            <a:ext cx="7899752" cy="688698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b="1" dirty="0">
                <a:solidFill>
                  <a:srgbClr val="D9212B"/>
                </a:solidFill>
                <a:latin typeface="Avenir Next LT Pro" panose="020B0504020202020204" pitchFamily="34" charset="0"/>
                <a:cs typeface="Arial" pitchFamily="34" charset="0"/>
              </a:rPr>
              <a:t>Reference Links</a:t>
            </a:r>
            <a:endParaRPr lang="en-US" sz="2800" b="1" dirty="0">
              <a:solidFill>
                <a:srgbClr val="D9212B"/>
              </a:solidFill>
            </a:endParaRP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6448FF5-C12F-7CD4-DA8D-FBF82FEE1569}"/>
              </a:ext>
            </a:extLst>
          </p:cNvPr>
          <p:cNvSpPr txBox="1">
            <a:spLocks/>
          </p:cNvSpPr>
          <p:nvPr/>
        </p:nvSpPr>
        <p:spPr>
          <a:xfrm>
            <a:off x="622300" y="1160003"/>
            <a:ext cx="10947400" cy="4968654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hlinkClick r:id="rId2"/>
              </a:rPr>
              <a:t>Top 15 Probability Distribution Questions for Data Science Interviews</a:t>
            </a:r>
            <a:endParaRPr lang="en-US" dirty="0"/>
          </a:p>
          <a:p>
            <a:endParaRPr lang="en-US" dirty="0">
              <a:hlinkClick r:id="rId3"/>
            </a:endParaRPr>
          </a:p>
          <a:p>
            <a:r>
              <a:rPr lang="en-US" dirty="0">
                <a:hlinkClick r:id="rId4"/>
              </a:rPr>
              <a:t>Analyzing loan data with binomial and </a:t>
            </a:r>
            <a:r>
              <a:rPr lang="en-US" dirty="0" err="1">
                <a:hlinkClick r:id="rId4"/>
              </a:rPr>
              <a:t>poisson</a:t>
            </a:r>
            <a:r>
              <a:rPr lang="en-US" dirty="0">
                <a:hlinkClick r:id="rId4"/>
              </a:rPr>
              <a:t> distribution</a:t>
            </a:r>
            <a:endParaRPr lang="en-US" dirty="0"/>
          </a:p>
          <a:p>
            <a:endParaRPr lang="en-US" dirty="0">
              <a:hlinkClick r:id="rId3"/>
            </a:endParaRPr>
          </a:p>
          <a:p>
            <a:r>
              <a:rPr lang="en-US" dirty="0">
                <a:hlinkClick r:id="rId5"/>
              </a:rPr>
              <a:t>Notebook</a:t>
            </a:r>
            <a:endParaRPr lang="en-US" dirty="0">
              <a:hlinkClick r:id="rId3"/>
            </a:endParaRPr>
          </a:p>
          <a:p>
            <a:endParaRPr lang="en-US" dirty="0">
              <a:hlinkClick r:id="rId3"/>
            </a:endParaRPr>
          </a:p>
          <a:p>
            <a:r>
              <a:rPr lang="en-US" dirty="0">
                <a:hlinkClick r:id="rId3"/>
              </a:rPr>
              <a:t>10 Must-Know Probability Concepts for Every Aspiring Statistician and Data Scientist</a:t>
            </a:r>
            <a:endParaRPr lang="en-US" dirty="0"/>
          </a:p>
          <a:p>
            <a:endParaRPr lang="en-US" dirty="0"/>
          </a:p>
          <a:p>
            <a:r>
              <a:rPr lang="en-US" dirty="0">
                <a:hlinkClick r:id="rId6"/>
              </a:rPr>
              <a:t>Top 20 Interview Questions on Descriptive and Inferential Statistics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>
                <a:hlinkClick r:id="rId7"/>
              </a:rPr>
              <a:t>10 Must-Know Statistics Interview Questions (With Real Examples &amp; Formulas!)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17087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1159</TotalTime>
  <Words>1257</Words>
  <Application>Microsoft Office PowerPoint</Application>
  <PresentationFormat>Widescreen</PresentationFormat>
  <Paragraphs>181</Paragraphs>
  <Slides>29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8" baseType="lpstr">
      <vt:lpstr>Aptos</vt:lpstr>
      <vt:lpstr>Aptos Display</vt:lpstr>
      <vt:lpstr>Arial</vt:lpstr>
      <vt:lpstr>Avenir Next LT Pro</vt:lpstr>
      <vt:lpstr>Calibri</vt:lpstr>
      <vt:lpstr>Cambria Math</vt:lpstr>
      <vt:lpstr>Montserrat SemiBold</vt:lpstr>
      <vt:lpstr>source-serif-pro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idol</dc:creator>
  <cp:lastModifiedBy>Mohamed Ali</cp:lastModifiedBy>
  <cp:revision>84</cp:revision>
  <dcterms:created xsi:type="dcterms:W3CDTF">2025-07-09T10:39:06Z</dcterms:created>
  <dcterms:modified xsi:type="dcterms:W3CDTF">2026-10-28T11:24:17Z</dcterms:modified>
</cp:coreProperties>
</file>