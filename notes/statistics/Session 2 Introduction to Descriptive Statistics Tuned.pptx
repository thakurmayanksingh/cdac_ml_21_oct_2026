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258" r:id="rId3"/>
    <p:sldId id="271" r:id="rId4"/>
    <p:sldId id="290" r:id="rId5"/>
    <p:sldId id="284" r:id="rId6"/>
    <p:sldId id="285" r:id="rId7"/>
    <p:sldId id="286" r:id="rId8"/>
    <p:sldId id="298" r:id="rId9"/>
    <p:sldId id="299" r:id="rId10"/>
    <p:sldId id="300" r:id="rId11"/>
    <p:sldId id="281" r:id="rId12"/>
    <p:sldId id="301" r:id="rId13"/>
    <p:sldId id="287" r:id="rId14"/>
    <p:sldId id="302" r:id="rId15"/>
    <p:sldId id="282" r:id="rId16"/>
    <p:sldId id="288" r:id="rId17"/>
    <p:sldId id="291" r:id="rId18"/>
    <p:sldId id="303" r:id="rId19"/>
    <p:sldId id="304" r:id="rId20"/>
    <p:sldId id="305" r:id="rId21"/>
    <p:sldId id="306" r:id="rId22"/>
    <p:sldId id="307" r:id="rId23"/>
    <p:sldId id="308" r:id="rId24"/>
    <p:sldId id="292" r:id="rId25"/>
    <p:sldId id="293" r:id="rId26"/>
    <p:sldId id="294" r:id="rId27"/>
    <p:sldId id="296" r:id="rId28"/>
    <p:sldId id="29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-113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FD2B54-3AFB-4401-A878-91BBB0002AF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89DD3F-AD37-40AC-BFF0-995FA41D2D8D}">
      <dgm:prSet/>
      <dgm:spPr/>
      <dgm:t>
        <a:bodyPr/>
        <a:lstStyle/>
        <a:p>
          <a:r>
            <a:rPr lang="en-US" b="1"/>
            <a:t>Descriptive statistics</a:t>
          </a:r>
          <a:r>
            <a:rPr lang="en-US"/>
            <a:t> summarize and describe the basic features of a dataset.</a:t>
          </a:r>
        </a:p>
      </dgm:t>
    </dgm:pt>
    <dgm:pt modelId="{EA93F9E3-2C1A-41F9-90DD-944F72264F31}" type="parTrans" cxnId="{1E937B01-B3CE-4366-AFCD-04907D196709}">
      <dgm:prSet/>
      <dgm:spPr/>
      <dgm:t>
        <a:bodyPr/>
        <a:lstStyle/>
        <a:p>
          <a:endParaRPr lang="en-US"/>
        </a:p>
      </dgm:t>
    </dgm:pt>
    <dgm:pt modelId="{C70E65FF-00BF-46E4-8933-E0A2E30A00E7}" type="sibTrans" cxnId="{1E937B01-B3CE-4366-AFCD-04907D196709}">
      <dgm:prSet/>
      <dgm:spPr/>
      <dgm:t>
        <a:bodyPr/>
        <a:lstStyle/>
        <a:p>
          <a:endParaRPr lang="en-US"/>
        </a:p>
      </dgm:t>
    </dgm:pt>
    <dgm:pt modelId="{66647393-3CB4-48E4-BBF7-CC02CBF10C87}">
      <dgm:prSet/>
      <dgm:spPr/>
      <dgm:t>
        <a:bodyPr/>
        <a:lstStyle/>
        <a:p>
          <a:r>
            <a:rPr lang="en-US" b="1"/>
            <a:t>Purpose:</a:t>
          </a:r>
          <a:endParaRPr lang="en-US"/>
        </a:p>
      </dgm:t>
    </dgm:pt>
    <dgm:pt modelId="{6E08B9AB-D698-44FB-A454-097BC730DF94}" type="parTrans" cxnId="{C82FBD8D-CAA7-4521-9F23-9E45B0D016F7}">
      <dgm:prSet/>
      <dgm:spPr/>
      <dgm:t>
        <a:bodyPr/>
        <a:lstStyle/>
        <a:p>
          <a:endParaRPr lang="en-US"/>
        </a:p>
      </dgm:t>
    </dgm:pt>
    <dgm:pt modelId="{41D08E0E-8F7B-4221-BFD8-F06EFAAF460B}" type="sibTrans" cxnId="{C82FBD8D-CAA7-4521-9F23-9E45B0D016F7}">
      <dgm:prSet/>
      <dgm:spPr/>
      <dgm:t>
        <a:bodyPr/>
        <a:lstStyle/>
        <a:p>
          <a:endParaRPr lang="en-US"/>
        </a:p>
      </dgm:t>
    </dgm:pt>
    <dgm:pt modelId="{7059D779-117A-486E-8DF7-3DB1A7D66846}">
      <dgm:prSet/>
      <dgm:spPr/>
      <dgm:t>
        <a:bodyPr/>
        <a:lstStyle/>
        <a:p>
          <a:r>
            <a:rPr lang="en-US"/>
            <a:t>Simplifies complex datasets.</a:t>
          </a:r>
        </a:p>
      </dgm:t>
    </dgm:pt>
    <dgm:pt modelId="{7C9BDF12-C397-4AAA-83F3-299F2EBBDA6E}" type="parTrans" cxnId="{37F38F00-786B-48D1-893B-CCAC1BD1985D}">
      <dgm:prSet/>
      <dgm:spPr/>
      <dgm:t>
        <a:bodyPr/>
        <a:lstStyle/>
        <a:p>
          <a:endParaRPr lang="en-US"/>
        </a:p>
      </dgm:t>
    </dgm:pt>
    <dgm:pt modelId="{7E0E364D-3E16-4B45-8059-4DA66E0862E3}" type="sibTrans" cxnId="{37F38F00-786B-48D1-893B-CCAC1BD1985D}">
      <dgm:prSet/>
      <dgm:spPr/>
      <dgm:t>
        <a:bodyPr/>
        <a:lstStyle/>
        <a:p>
          <a:endParaRPr lang="en-US"/>
        </a:p>
      </dgm:t>
    </dgm:pt>
    <dgm:pt modelId="{3AE66BF0-43A3-4F5E-B413-B2B8ACEB49AB}">
      <dgm:prSet/>
      <dgm:spPr/>
      <dgm:t>
        <a:bodyPr/>
        <a:lstStyle/>
        <a:p>
          <a:r>
            <a:rPr lang="en-US"/>
            <a:t>Identifies patterns, trends, and outliers.</a:t>
          </a:r>
        </a:p>
      </dgm:t>
    </dgm:pt>
    <dgm:pt modelId="{08C58CDC-44D3-44EF-9320-A9F952CC03E2}" type="parTrans" cxnId="{1ABA9512-0637-410F-8781-8A99B5F924A5}">
      <dgm:prSet/>
      <dgm:spPr/>
      <dgm:t>
        <a:bodyPr/>
        <a:lstStyle/>
        <a:p>
          <a:endParaRPr lang="en-US"/>
        </a:p>
      </dgm:t>
    </dgm:pt>
    <dgm:pt modelId="{DB37F177-C804-421B-A5EC-C1BAF2E6F6E9}" type="sibTrans" cxnId="{1ABA9512-0637-410F-8781-8A99B5F924A5}">
      <dgm:prSet/>
      <dgm:spPr/>
      <dgm:t>
        <a:bodyPr/>
        <a:lstStyle/>
        <a:p>
          <a:endParaRPr lang="en-US"/>
        </a:p>
      </dgm:t>
    </dgm:pt>
    <dgm:pt modelId="{9AF0F4CD-7AFC-4FAB-88FF-627B5A71C312}">
      <dgm:prSet/>
      <dgm:spPr/>
      <dgm:t>
        <a:bodyPr/>
        <a:lstStyle/>
        <a:p>
          <a:r>
            <a:rPr lang="en-US"/>
            <a:t>Forms the foundation for more advanced statistical modeling.</a:t>
          </a:r>
        </a:p>
      </dgm:t>
    </dgm:pt>
    <dgm:pt modelId="{B6519DD5-613B-4478-9357-D7EFEA9F3892}" type="parTrans" cxnId="{E2BAD465-5E43-4666-A4B0-65A29F372F87}">
      <dgm:prSet/>
      <dgm:spPr/>
      <dgm:t>
        <a:bodyPr/>
        <a:lstStyle/>
        <a:p>
          <a:endParaRPr lang="en-US"/>
        </a:p>
      </dgm:t>
    </dgm:pt>
    <dgm:pt modelId="{DE73EED5-F40E-4138-A3C7-44D7DEC29D8D}" type="sibTrans" cxnId="{E2BAD465-5E43-4666-A4B0-65A29F372F87}">
      <dgm:prSet/>
      <dgm:spPr/>
      <dgm:t>
        <a:bodyPr/>
        <a:lstStyle/>
        <a:p>
          <a:endParaRPr lang="en-US"/>
        </a:p>
      </dgm:t>
    </dgm:pt>
    <dgm:pt modelId="{448851F6-074C-4A13-9F8C-82B0F20499EF}" type="pres">
      <dgm:prSet presAssocID="{9FFD2B54-3AFB-4401-A878-91BBB0002AF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49239C3-B3AD-4842-946F-CA0A6AA1F6C0}" type="pres">
      <dgm:prSet presAssocID="{E689DD3F-AD37-40AC-BFF0-995FA41D2D8D}" presName="hierRoot1" presStyleCnt="0"/>
      <dgm:spPr/>
    </dgm:pt>
    <dgm:pt modelId="{C001FC5D-05CB-4069-88CC-3A475C0818BB}" type="pres">
      <dgm:prSet presAssocID="{E689DD3F-AD37-40AC-BFF0-995FA41D2D8D}" presName="composite" presStyleCnt="0"/>
      <dgm:spPr/>
    </dgm:pt>
    <dgm:pt modelId="{0B2E2605-B3DC-48BC-B800-9EA761FAEF5C}" type="pres">
      <dgm:prSet presAssocID="{E689DD3F-AD37-40AC-BFF0-995FA41D2D8D}" presName="background" presStyleLbl="node0" presStyleIdx="0" presStyleCnt="2"/>
      <dgm:spPr/>
    </dgm:pt>
    <dgm:pt modelId="{659C9DB6-0167-417D-B3B7-D50C3885FD91}" type="pres">
      <dgm:prSet presAssocID="{E689DD3F-AD37-40AC-BFF0-995FA41D2D8D}" presName="text" presStyleLbl="fgAcc0" presStyleIdx="0" presStyleCnt="2">
        <dgm:presLayoutVars>
          <dgm:chPref val="3"/>
        </dgm:presLayoutVars>
      </dgm:prSet>
      <dgm:spPr/>
    </dgm:pt>
    <dgm:pt modelId="{93FAE88D-2889-4BD2-8A25-B6B71BFBB783}" type="pres">
      <dgm:prSet presAssocID="{E689DD3F-AD37-40AC-BFF0-995FA41D2D8D}" presName="hierChild2" presStyleCnt="0"/>
      <dgm:spPr/>
    </dgm:pt>
    <dgm:pt modelId="{756F898A-942E-4AD9-8B47-3705A21989EC}" type="pres">
      <dgm:prSet presAssocID="{66647393-3CB4-48E4-BBF7-CC02CBF10C87}" presName="hierRoot1" presStyleCnt="0"/>
      <dgm:spPr/>
    </dgm:pt>
    <dgm:pt modelId="{69D38104-0F65-4660-8F62-363A3C73D4F3}" type="pres">
      <dgm:prSet presAssocID="{66647393-3CB4-48E4-BBF7-CC02CBF10C87}" presName="composite" presStyleCnt="0"/>
      <dgm:spPr/>
    </dgm:pt>
    <dgm:pt modelId="{14D88101-51E5-4953-9385-4AF695AC8C9F}" type="pres">
      <dgm:prSet presAssocID="{66647393-3CB4-48E4-BBF7-CC02CBF10C87}" presName="background" presStyleLbl="node0" presStyleIdx="1" presStyleCnt="2"/>
      <dgm:spPr/>
    </dgm:pt>
    <dgm:pt modelId="{55C70A79-71F0-436D-8752-F17F14344AED}" type="pres">
      <dgm:prSet presAssocID="{66647393-3CB4-48E4-BBF7-CC02CBF10C87}" presName="text" presStyleLbl="fgAcc0" presStyleIdx="1" presStyleCnt="2">
        <dgm:presLayoutVars>
          <dgm:chPref val="3"/>
        </dgm:presLayoutVars>
      </dgm:prSet>
      <dgm:spPr/>
    </dgm:pt>
    <dgm:pt modelId="{FDDAE2DC-8C0C-4E9E-B346-8E26577E3B3D}" type="pres">
      <dgm:prSet presAssocID="{66647393-3CB4-48E4-BBF7-CC02CBF10C87}" presName="hierChild2" presStyleCnt="0"/>
      <dgm:spPr/>
    </dgm:pt>
    <dgm:pt modelId="{5B6DF833-ADB0-4F2A-9286-6149F93017EC}" type="pres">
      <dgm:prSet presAssocID="{7C9BDF12-C397-4AAA-83F3-299F2EBBDA6E}" presName="Name10" presStyleLbl="parChTrans1D2" presStyleIdx="0" presStyleCnt="3"/>
      <dgm:spPr/>
    </dgm:pt>
    <dgm:pt modelId="{08D24D9B-9848-4D7D-BCBE-0E44BF9DFCDF}" type="pres">
      <dgm:prSet presAssocID="{7059D779-117A-486E-8DF7-3DB1A7D66846}" presName="hierRoot2" presStyleCnt="0"/>
      <dgm:spPr/>
    </dgm:pt>
    <dgm:pt modelId="{DBA4AF50-9779-412B-A932-74D96CEB5D99}" type="pres">
      <dgm:prSet presAssocID="{7059D779-117A-486E-8DF7-3DB1A7D66846}" presName="composite2" presStyleCnt="0"/>
      <dgm:spPr/>
    </dgm:pt>
    <dgm:pt modelId="{389843F5-3EFD-4B0A-93C0-2B73A8C1F0A4}" type="pres">
      <dgm:prSet presAssocID="{7059D779-117A-486E-8DF7-3DB1A7D66846}" presName="background2" presStyleLbl="node2" presStyleIdx="0" presStyleCnt="3"/>
      <dgm:spPr/>
    </dgm:pt>
    <dgm:pt modelId="{16688368-A856-4D17-8213-660020050971}" type="pres">
      <dgm:prSet presAssocID="{7059D779-117A-486E-8DF7-3DB1A7D66846}" presName="text2" presStyleLbl="fgAcc2" presStyleIdx="0" presStyleCnt="3">
        <dgm:presLayoutVars>
          <dgm:chPref val="3"/>
        </dgm:presLayoutVars>
      </dgm:prSet>
      <dgm:spPr/>
    </dgm:pt>
    <dgm:pt modelId="{A92C037A-4E7B-4507-8C3E-3825195538DF}" type="pres">
      <dgm:prSet presAssocID="{7059D779-117A-486E-8DF7-3DB1A7D66846}" presName="hierChild3" presStyleCnt="0"/>
      <dgm:spPr/>
    </dgm:pt>
    <dgm:pt modelId="{689AFA9C-51CB-46F8-B49D-F7B5977DC3B8}" type="pres">
      <dgm:prSet presAssocID="{08C58CDC-44D3-44EF-9320-A9F952CC03E2}" presName="Name10" presStyleLbl="parChTrans1D2" presStyleIdx="1" presStyleCnt="3"/>
      <dgm:spPr/>
    </dgm:pt>
    <dgm:pt modelId="{C1126074-C7E5-4C06-89F8-C48500983758}" type="pres">
      <dgm:prSet presAssocID="{3AE66BF0-43A3-4F5E-B413-B2B8ACEB49AB}" presName="hierRoot2" presStyleCnt="0"/>
      <dgm:spPr/>
    </dgm:pt>
    <dgm:pt modelId="{27C36B1C-9943-441C-8D3A-A141B5C58C7D}" type="pres">
      <dgm:prSet presAssocID="{3AE66BF0-43A3-4F5E-B413-B2B8ACEB49AB}" presName="composite2" presStyleCnt="0"/>
      <dgm:spPr/>
    </dgm:pt>
    <dgm:pt modelId="{B96B2572-03FA-46FB-BCED-220C48174D86}" type="pres">
      <dgm:prSet presAssocID="{3AE66BF0-43A3-4F5E-B413-B2B8ACEB49AB}" presName="background2" presStyleLbl="node2" presStyleIdx="1" presStyleCnt="3"/>
      <dgm:spPr/>
    </dgm:pt>
    <dgm:pt modelId="{938D5953-A73A-4A7F-BB65-0B85812DC92D}" type="pres">
      <dgm:prSet presAssocID="{3AE66BF0-43A3-4F5E-B413-B2B8ACEB49AB}" presName="text2" presStyleLbl="fgAcc2" presStyleIdx="1" presStyleCnt="3">
        <dgm:presLayoutVars>
          <dgm:chPref val="3"/>
        </dgm:presLayoutVars>
      </dgm:prSet>
      <dgm:spPr/>
    </dgm:pt>
    <dgm:pt modelId="{C5767C1A-D76E-4A16-8FAD-B40FE761CE51}" type="pres">
      <dgm:prSet presAssocID="{3AE66BF0-43A3-4F5E-B413-B2B8ACEB49AB}" presName="hierChild3" presStyleCnt="0"/>
      <dgm:spPr/>
    </dgm:pt>
    <dgm:pt modelId="{C687A1BA-645F-4B62-9908-38B4075CDAD3}" type="pres">
      <dgm:prSet presAssocID="{B6519DD5-613B-4478-9357-D7EFEA9F3892}" presName="Name10" presStyleLbl="parChTrans1D2" presStyleIdx="2" presStyleCnt="3"/>
      <dgm:spPr/>
    </dgm:pt>
    <dgm:pt modelId="{8B021ED2-8A5A-4A94-BC66-80D1B61C551A}" type="pres">
      <dgm:prSet presAssocID="{9AF0F4CD-7AFC-4FAB-88FF-627B5A71C312}" presName="hierRoot2" presStyleCnt="0"/>
      <dgm:spPr/>
    </dgm:pt>
    <dgm:pt modelId="{05F61C9A-7092-4C19-9A49-26F47739C11B}" type="pres">
      <dgm:prSet presAssocID="{9AF0F4CD-7AFC-4FAB-88FF-627B5A71C312}" presName="composite2" presStyleCnt="0"/>
      <dgm:spPr/>
    </dgm:pt>
    <dgm:pt modelId="{3D3F5D3D-1D49-46F2-9C99-4DF4CFFE1CC2}" type="pres">
      <dgm:prSet presAssocID="{9AF0F4CD-7AFC-4FAB-88FF-627B5A71C312}" presName="background2" presStyleLbl="node2" presStyleIdx="2" presStyleCnt="3"/>
      <dgm:spPr/>
    </dgm:pt>
    <dgm:pt modelId="{BD632BF3-CF7D-4CE8-8A83-5693C5D7B5A6}" type="pres">
      <dgm:prSet presAssocID="{9AF0F4CD-7AFC-4FAB-88FF-627B5A71C312}" presName="text2" presStyleLbl="fgAcc2" presStyleIdx="2" presStyleCnt="3">
        <dgm:presLayoutVars>
          <dgm:chPref val="3"/>
        </dgm:presLayoutVars>
      </dgm:prSet>
      <dgm:spPr/>
    </dgm:pt>
    <dgm:pt modelId="{793FA4C2-C83F-4771-A53C-55EB5E2B8F51}" type="pres">
      <dgm:prSet presAssocID="{9AF0F4CD-7AFC-4FAB-88FF-627B5A71C312}" presName="hierChild3" presStyleCnt="0"/>
      <dgm:spPr/>
    </dgm:pt>
  </dgm:ptLst>
  <dgm:cxnLst>
    <dgm:cxn modelId="{37F38F00-786B-48D1-893B-CCAC1BD1985D}" srcId="{66647393-3CB4-48E4-BBF7-CC02CBF10C87}" destId="{7059D779-117A-486E-8DF7-3DB1A7D66846}" srcOrd="0" destOrd="0" parTransId="{7C9BDF12-C397-4AAA-83F3-299F2EBBDA6E}" sibTransId="{7E0E364D-3E16-4B45-8059-4DA66E0862E3}"/>
    <dgm:cxn modelId="{1E937B01-B3CE-4366-AFCD-04907D196709}" srcId="{9FFD2B54-3AFB-4401-A878-91BBB0002AFC}" destId="{E689DD3F-AD37-40AC-BFF0-995FA41D2D8D}" srcOrd="0" destOrd="0" parTransId="{EA93F9E3-2C1A-41F9-90DD-944F72264F31}" sibTransId="{C70E65FF-00BF-46E4-8933-E0A2E30A00E7}"/>
    <dgm:cxn modelId="{1ABA9512-0637-410F-8781-8A99B5F924A5}" srcId="{66647393-3CB4-48E4-BBF7-CC02CBF10C87}" destId="{3AE66BF0-43A3-4F5E-B413-B2B8ACEB49AB}" srcOrd="1" destOrd="0" parTransId="{08C58CDC-44D3-44EF-9320-A9F952CC03E2}" sibTransId="{DB37F177-C804-421B-A5EC-C1BAF2E6F6E9}"/>
    <dgm:cxn modelId="{8AA9B82C-868B-420E-8234-50DEF18B376F}" type="presOf" srcId="{08C58CDC-44D3-44EF-9320-A9F952CC03E2}" destId="{689AFA9C-51CB-46F8-B49D-F7B5977DC3B8}" srcOrd="0" destOrd="0" presId="urn:microsoft.com/office/officeart/2005/8/layout/hierarchy1"/>
    <dgm:cxn modelId="{EF015B31-45AD-47A7-860D-A96FCE29303C}" type="presOf" srcId="{B6519DD5-613B-4478-9357-D7EFEA9F3892}" destId="{C687A1BA-645F-4B62-9908-38B4075CDAD3}" srcOrd="0" destOrd="0" presId="urn:microsoft.com/office/officeart/2005/8/layout/hierarchy1"/>
    <dgm:cxn modelId="{E2BAD465-5E43-4666-A4B0-65A29F372F87}" srcId="{66647393-3CB4-48E4-BBF7-CC02CBF10C87}" destId="{9AF0F4CD-7AFC-4FAB-88FF-627B5A71C312}" srcOrd="2" destOrd="0" parTransId="{B6519DD5-613B-4478-9357-D7EFEA9F3892}" sibTransId="{DE73EED5-F40E-4138-A3C7-44D7DEC29D8D}"/>
    <dgm:cxn modelId="{FCF35B4B-9F42-45DB-B73A-ED5AD16B4909}" type="presOf" srcId="{3AE66BF0-43A3-4F5E-B413-B2B8ACEB49AB}" destId="{938D5953-A73A-4A7F-BB65-0B85812DC92D}" srcOrd="0" destOrd="0" presId="urn:microsoft.com/office/officeart/2005/8/layout/hierarchy1"/>
    <dgm:cxn modelId="{AFA41C53-2FB2-4E3C-8139-A60DF4841563}" type="presOf" srcId="{9AF0F4CD-7AFC-4FAB-88FF-627B5A71C312}" destId="{BD632BF3-CF7D-4CE8-8A83-5693C5D7B5A6}" srcOrd="0" destOrd="0" presId="urn:microsoft.com/office/officeart/2005/8/layout/hierarchy1"/>
    <dgm:cxn modelId="{62231F7F-A6CB-4263-ACD7-647E8DAF79B2}" type="presOf" srcId="{7C9BDF12-C397-4AAA-83F3-299F2EBBDA6E}" destId="{5B6DF833-ADB0-4F2A-9286-6149F93017EC}" srcOrd="0" destOrd="0" presId="urn:microsoft.com/office/officeart/2005/8/layout/hierarchy1"/>
    <dgm:cxn modelId="{C82FBD8D-CAA7-4521-9F23-9E45B0D016F7}" srcId="{9FFD2B54-3AFB-4401-A878-91BBB0002AFC}" destId="{66647393-3CB4-48E4-BBF7-CC02CBF10C87}" srcOrd="1" destOrd="0" parTransId="{6E08B9AB-D698-44FB-A454-097BC730DF94}" sibTransId="{41D08E0E-8F7B-4221-BFD8-F06EFAAF460B}"/>
    <dgm:cxn modelId="{2421A494-2CB8-44A3-A920-AD8F142B9024}" type="presOf" srcId="{9FFD2B54-3AFB-4401-A878-91BBB0002AFC}" destId="{448851F6-074C-4A13-9F8C-82B0F20499EF}" srcOrd="0" destOrd="0" presId="urn:microsoft.com/office/officeart/2005/8/layout/hierarchy1"/>
    <dgm:cxn modelId="{31A068A8-E131-43D3-B120-62E2A76FDF7E}" type="presOf" srcId="{66647393-3CB4-48E4-BBF7-CC02CBF10C87}" destId="{55C70A79-71F0-436D-8752-F17F14344AED}" srcOrd="0" destOrd="0" presId="urn:microsoft.com/office/officeart/2005/8/layout/hierarchy1"/>
    <dgm:cxn modelId="{974B8CBA-8718-4619-B265-95C82F48135E}" type="presOf" srcId="{E689DD3F-AD37-40AC-BFF0-995FA41D2D8D}" destId="{659C9DB6-0167-417D-B3B7-D50C3885FD91}" srcOrd="0" destOrd="0" presId="urn:microsoft.com/office/officeart/2005/8/layout/hierarchy1"/>
    <dgm:cxn modelId="{B26A69C5-A82D-4C75-AA47-B0EE1B9271F4}" type="presOf" srcId="{7059D779-117A-486E-8DF7-3DB1A7D66846}" destId="{16688368-A856-4D17-8213-660020050971}" srcOrd="0" destOrd="0" presId="urn:microsoft.com/office/officeart/2005/8/layout/hierarchy1"/>
    <dgm:cxn modelId="{49A4647F-972C-400C-85DC-6703B187AA60}" type="presParOf" srcId="{448851F6-074C-4A13-9F8C-82B0F20499EF}" destId="{449239C3-B3AD-4842-946F-CA0A6AA1F6C0}" srcOrd="0" destOrd="0" presId="urn:microsoft.com/office/officeart/2005/8/layout/hierarchy1"/>
    <dgm:cxn modelId="{3395BBA0-8B45-4E28-AB39-15E49548EE59}" type="presParOf" srcId="{449239C3-B3AD-4842-946F-CA0A6AA1F6C0}" destId="{C001FC5D-05CB-4069-88CC-3A475C0818BB}" srcOrd="0" destOrd="0" presId="urn:microsoft.com/office/officeart/2005/8/layout/hierarchy1"/>
    <dgm:cxn modelId="{15279309-7AEC-49FA-9EAA-CADE9F37F8F1}" type="presParOf" srcId="{C001FC5D-05CB-4069-88CC-3A475C0818BB}" destId="{0B2E2605-B3DC-48BC-B800-9EA761FAEF5C}" srcOrd="0" destOrd="0" presId="urn:microsoft.com/office/officeart/2005/8/layout/hierarchy1"/>
    <dgm:cxn modelId="{6110ECFF-240E-4BD0-ADBF-2E30CF6D244E}" type="presParOf" srcId="{C001FC5D-05CB-4069-88CC-3A475C0818BB}" destId="{659C9DB6-0167-417D-B3B7-D50C3885FD91}" srcOrd="1" destOrd="0" presId="urn:microsoft.com/office/officeart/2005/8/layout/hierarchy1"/>
    <dgm:cxn modelId="{FF9B86AA-51F5-4C1D-9BBD-012C03D97081}" type="presParOf" srcId="{449239C3-B3AD-4842-946F-CA0A6AA1F6C0}" destId="{93FAE88D-2889-4BD2-8A25-B6B71BFBB783}" srcOrd="1" destOrd="0" presId="urn:microsoft.com/office/officeart/2005/8/layout/hierarchy1"/>
    <dgm:cxn modelId="{634AAB11-364B-4236-8D1C-114E2B305883}" type="presParOf" srcId="{448851F6-074C-4A13-9F8C-82B0F20499EF}" destId="{756F898A-942E-4AD9-8B47-3705A21989EC}" srcOrd="1" destOrd="0" presId="urn:microsoft.com/office/officeart/2005/8/layout/hierarchy1"/>
    <dgm:cxn modelId="{E395251B-DD87-4A01-9D4B-DE8433B2A6D6}" type="presParOf" srcId="{756F898A-942E-4AD9-8B47-3705A21989EC}" destId="{69D38104-0F65-4660-8F62-363A3C73D4F3}" srcOrd="0" destOrd="0" presId="urn:microsoft.com/office/officeart/2005/8/layout/hierarchy1"/>
    <dgm:cxn modelId="{DEA29A48-B3D5-4316-9F57-22972C22C61F}" type="presParOf" srcId="{69D38104-0F65-4660-8F62-363A3C73D4F3}" destId="{14D88101-51E5-4953-9385-4AF695AC8C9F}" srcOrd="0" destOrd="0" presId="urn:microsoft.com/office/officeart/2005/8/layout/hierarchy1"/>
    <dgm:cxn modelId="{198F5D74-83F3-469E-97EB-EDE2CAD5F8DC}" type="presParOf" srcId="{69D38104-0F65-4660-8F62-363A3C73D4F3}" destId="{55C70A79-71F0-436D-8752-F17F14344AED}" srcOrd="1" destOrd="0" presId="urn:microsoft.com/office/officeart/2005/8/layout/hierarchy1"/>
    <dgm:cxn modelId="{647AD220-A461-441C-A434-869AE47F1484}" type="presParOf" srcId="{756F898A-942E-4AD9-8B47-3705A21989EC}" destId="{FDDAE2DC-8C0C-4E9E-B346-8E26577E3B3D}" srcOrd="1" destOrd="0" presId="urn:microsoft.com/office/officeart/2005/8/layout/hierarchy1"/>
    <dgm:cxn modelId="{F2311C99-80D7-4BBA-9568-A3DBB66E364C}" type="presParOf" srcId="{FDDAE2DC-8C0C-4E9E-B346-8E26577E3B3D}" destId="{5B6DF833-ADB0-4F2A-9286-6149F93017EC}" srcOrd="0" destOrd="0" presId="urn:microsoft.com/office/officeart/2005/8/layout/hierarchy1"/>
    <dgm:cxn modelId="{E80304A2-3A16-45D5-87BB-91DAA485FA8A}" type="presParOf" srcId="{FDDAE2DC-8C0C-4E9E-B346-8E26577E3B3D}" destId="{08D24D9B-9848-4D7D-BCBE-0E44BF9DFCDF}" srcOrd="1" destOrd="0" presId="urn:microsoft.com/office/officeart/2005/8/layout/hierarchy1"/>
    <dgm:cxn modelId="{25DCFD70-0DA8-43BF-8167-C51F755F39CA}" type="presParOf" srcId="{08D24D9B-9848-4D7D-BCBE-0E44BF9DFCDF}" destId="{DBA4AF50-9779-412B-A932-74D96CEB5D99}" srcOrd="0" destOrd="0" presId="urn:microsoft.com/office/officeart/2005/8/layout/hierarchy1"/>
    <dgm:cxn modelId="{7799B8F9-2B03-453E-ABA5-A6A7D96EF88D}" type="presParOf" srcId="{DBA4AF50-9779-412B-A932-74D96CEB5D99}" destId="{389843F5-3EFD-4B0A-93C0-2B73A8C1F0A4}" srcOrd="0" destOrd="0" presId="urn:microsoft.com/office/officeart/2005/8/layout/hierarchy1"/>
    <dgm:cxn modelId="{4BF16ED3-9C1C-4FF3-9D93-F8170CBE165D}" type="presParOf" srcId="{DBA4AF50-9779-412B-A932-74D96CEB5D99}" destId="{16688368-A856-4D17-8213-660020050971}" srcOrd="1" destOrd="0" presId="urn:microsoft.com/office/officeart/2005/8/layout/hierarchy1"/>
    <dgm:cxn modelId="{328EE22F-4577-42E3-9AA0-BF8A54D49A8E}" type="presParOf" srcId="{08D24D9B-9848-4D7D-BCBE-0E44BF9DFCDF}" destId="{A92C037A-4E7B-4507-8C3E-3825195538DF}" srcOrd="1" destOrd="0" presId="urn:microsoft.com/office/officeart/2005/8/layout/hierarchy1"/>
    <dgm:cxn modelId="{F244B347-E41F-4F00-A93A-08E2D47CB148}" type="presParOf" srcId="{FDDAE2DC-8C0C-4E9E-B346-8E26577E3B3D}" destId="{689AFA9C-51CB-46F8-B49D-F7B5977DC3B8}" srcOrd="2" destOrd="0" presId="urn:microsoft.com/office/officeart/2005/8/layout/hierarchy1"/>
    <dgm:cxn modelId="{C30F8751-688C-4D09-B394-5C7186901BA8}" type="presParOf" srcId="{FDDAE2DC-8C0C-4E9E-B346-8E26577E3B3D}" destId="{C1126074-C7E5-4C06-89F8-C48500983758}" srcOrd="3" destOrd="0" presId="urn:microsoft.com/office/officeart/2005/8/layout/hierarchy1"/>
    <dgm:cxn modelId="{977DCFC6-DB76-44AB-AE0B-E5866BD8A568}" type="presParOf" srcId="{C1126074-C7E5-4C06-89F8-C48500983758}" destId="{27C36B1C-9943-441C-8D3A-A141B5C58C7D}" srcOrd="0" destOrd="0" presId="urn:microsoft.com/office/officeart/2005/8/layout/hierarchy1"/>
    <dgm:cxn modelId="{4190A171-EFBB-4A9F-8054-CF18F6800296}" type="presParOf" srcId="{27C36B1C-9943-441C-8D3A-A141B5C58C7D}" destId="{B96B2572-03FA-46FB-BCED-220C48174D86}" srcOrd="0" destOrd="0" presId="urn:microsoft.com/office/officeart/2005/8/layout/hierarchy1"/>
    <dgm:cxn modelId="{A81A57F0-6F01-486C-9E92-72763BA91F92}" type="presParOf" srcId="{27C36B1C-9943-441C-8D3A-A141B5C58C7D}" destId="{938D5953-A73A-4A7F-BB65-0B85812DC92D}" srcOrd="1" destOrd="0" presId="urn:microsoft.com/office/officeart/2005/8/layout/hierarchy1"/>
    <dgm:cxn modelId="{BC7708EC-1BDE-4AB6-97D4-6842FC0F0233}" type="presParOf" srcId="{C1126074-C7E5-4C06-89F8-C48500983758}" destId="{C5767C1A-D76E-4A16-8FAD-B40FE761CE51}" srcOrd="1" destOrd="0" presId="urn:microsoft.com/office/officeart/2005/8/layout/hierarchy1"/>
    <dgm:cxn modelId="{51808E9A-066B-40D1-AE7F-D585E14F85F3}" type="presParOf" srcId="{FDDAE2DC-8C0C-4E9E-B346-8E26577E3B3D}" destId="{C687A1BA-645F-4B62-9908-38B4075CDAD3}" srcOrd="4" destOrd="0" presId="urn:microsoft.com/office/officeart/2005/8/layout/hierarchy1"/>
    <dgm:cxn modelId="{1AA77BCC-4008-495B-950A-361F06A2C780}" type="presParOf" srcId="{FDDAE2DC-8C0C-4E9E-B346-8E26577E3B3D}" destId="{8B021ED2-8A5A-4A94-BC66-80D1B61C551A}" srcOrd="5" destOrd="0" presId="urn:microsoft.com/office/officeart/2005/8/layout/hierarchy1"/>
    <dgm:cxn modelId="{81657F72-9F47-4D7D-9830-BBF15066686C}" type="presParOf" srcId="{8B021ED2-8A5A-4A94-BC66-80D1B61C551A}" destId="{05F61C9A-7092-4C19-9A49-26F47739C11B}" srcOrd="0" destOrd="0" presId="urn:microsoft.com/office/officeart/2005/8/layout/hierarchy1"/>
    <dgm:cxn modelId="{586EA791-9B4F-4224-800A-8EB1206F9D8F}" type="presParOf" srcId="{05F61C9A-7092-4C19-9A49-26F47739C11B}" destId="{3D3F5D3D-1D49-46F2-9C99-4DF4CFFE1CC2}" srcOrd="0" destOrd="0" presId="urn:microsoft.com/office/officeart/2005/8/layout/hierarchy1"/>
    <dgm:cxn modelId="{EA124EFF-4593-42B9-B15E-4C3B68A24712}" type="presParOf" srcId="{05F61C9A-7092-4C19-9A49-26F47739C11B}" destId="{BD632BF3-CF7D-4CE8-8A83-5693C5D7B5A6}" srcOrd="1" destOrd="0" presId="urn:microsoft.com/office/officeart/2005/8/layout/hierarchy1"/>
    <dgm:cxn modelId="{41392AD3-A5BE-4C72-B8C9-A39224F48918}" type="presParOf" srcId="{8B021ED2-8A5A-4A94-BC66-80D1B61C551A}" destId="{793FA4C2-C83F-4771-A53C-55EB5E2B8F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7A1BA-645F-4B62-9908-38B4075CDAD3}">
      <dsp:nvSpPr>
        <dsp:cNvPr id="0" name=""/>
        <dsp:cNvSpPr/>
      </dsp:nvSpPr>
      <dsp:spPr>
        <a:xfrm>
          <a:off x="5446164" y="1499587"/>
          <a:ext cx="2884777" cy="686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792"/>
              </a:lnTo>
              <a:lnTo>
                <a:pt x="2884777" y="467792"/>
              </a:lnTo>
              <a:lnTo>
                <a:pt x="2884777" y="6864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9AFA9C-51CB-46F8-B49D-F7B5977DC3B8}">
      <dsp:nvSpPr>
        <dsp:cNvPr id="0" name=""/>
        <dsp:cNvSpPr/>
      </dsp:nvSpPr>
      <dsp:spPr>
        <a:xfrm>
          <a:off x="5400444" y="1499587"/>
          <a:ext cx="91440" cy="6864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64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6DF833-ADB0-4F2A-9286-6149F93017EC}">
      <dsp:nvSpPr>
        <dsp:cNvPr id="0" name=""/>
        <dsp:cNvSpPr/>
      </dsp:nvSpPr>
      <dsp:spPr>
        <a:xfrm>
          <a:off x="2561387" y="1499587"/>
          <a:ext cx="2884777" cy="686445"/>
        </a:xfrm>
        <a:custGeom>
          <a:avLst/>
          <a:gdLst/>
          <a:ahLst/>
          <a:cxnLst/>
          <a:rect l="0" t="0" r="0" b="0"/>
          <a:pathLst>
            <a:path>
              <a:moveTo>
                <a:pt x="2884777" y="0"/>
              </a:moveTo>
              <a:lnTo>
                <a:pt x="2884777" y="467792"/>
              </a:lnTo>
              <a:lnTo>
                <a:pt x="0" y="467792"/>
              </a:lnTo>
              <a:lnTo>
                <a:pt x="0" y="6864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2E2605-B3DC-48BC-B800-9EA761FAEF5C}">
      <dsp:nvSpPr>
        <dsp:cNvPr id="0" name=""/>
        <dsp:cNvSpPr/>
      </dsp:nvSpPr>
      <dsp:spPr>
        <a:xfrm>
          <a:off x="1381250" y="814"/>
          <a:ext cx="2360272" cy="1498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C9DB6-0167-417D-B3B7-D50C3885FD91}">
      <dsp:nvSpPr>
        <dsp:cNvPr id="0" name=""/>
        <dsp:cNvSpPr/>
      </dsp:nvSpPr>
      <dsp:spPr>
        <a:xfrm>
          <a:off x="1643503" y="249954"/>
          <a:ext cx="2360272" cy="14987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Descriptive statistics</a:t>
          </a:r>
          <a:r>
            <a:rPr lang="en-US" sz="1800" kern="1200"/>
            <a:t> summarize and describe the basic features of a dataset.</a:t>
          </a:r>
        </a:p>
      </dsp:txBody>
      <dsp:txXfrm>
        <a:off x="1687401" y="293852"/>
        <a:ext cx="2272476" cy="1410976"/>
      </dsp:txXfrm>
    </dsp:sp>
    <dsp:sp modelId="{14D88101-51E5-4953-9385-4AF695AC8C9F}">
      <dsp:nvSpPr>
        <dsp:cNvPr id="0" name=""/>
        <dsp:cNvSpPr/>
      </dsp:nvSpPr>
      <dsp:spPr>
        <a:xfrm>
          <a:off x="4266028" y="814"/>
          <a:ext cx="2360272" cy="1498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70A79-71F0-436D-8752-F17F14344AED}">
      <dsp:nvSpPr>
        <dsp:cNvPr id="0" name=""/>
        <dsp:cNvSpPr/>
      </dsp:nvSpPr>
      <dsp:spPr>
        <a:xfrm>
          <a:off x="4528280" y="249954"/>
          <a:ext cx="2360272" cy="14987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Purpose:</a:t>
          </a:r>
          <a:endParaRPr lang="en-US" sz="1800" kern="1200"/>
        </a:p>
      </dsp:txBody>
      <dsp:txXfrm>
        <a:off x="4572178" y="293852"/>
        <a:ext cx="2272476" cy="1410976"/>
      </dsp:txXfrm>
    </dsp:sp>
    <dsp:sp modelId="{389843F5-3EFD-4B0A-93C0-2B73A8C1F0A4}">
      <dsp:nvSpPr>
        <dsp:cNvPr id="0" name=""/>
        <dsp:cNvSpPr/>
      </dsp:nvSpPr>
      <dsp:spPr>
        <a:xfrm>
          <a:off x="1381250" y="2186033"/>
          <a:ext cx="2360272" cy="1498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88368-A856-4D17-8213-660020050971}">
      <dsp:nvSpPr>
        <dsp:cNvPr id="0" name=""/>
        <dsp:cNvSpPr/>
      </dsp:nvSpPr>
      <dsp:spPr>
        <a:xfrm>
          <a:off x="1643503" y="2435172"/>
          <a:ext cx="2360272" cy="14987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Simplifies complex datasets.</a:t>
          </a:r>
        </a:p>
      </dsp:txBody>
      <dsp:txXfrm>
        <a:off x="1687401" y="2479070"/>
        <a:ext cx="2272476" cy="1410976"/>
      </dsp:txXfrm>
    </dsp:sp>
    <dsp:sp modelId="{B96B2572-03FA-46FB-BCED-220C48174D86}">
      <dsp:nvSpPr>
        <dsp:cNvPr id="0" name=""/>
        <dsp:cNvSpPr/>
      </dsp:nvSpPr>
      <dsp:spPr>
        <a:xfrm>
          <a:off x="4266028" y="2186033"/>
          <a:ext cx="2360272" cy="1498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D5953-A73A-4A7F-BB65-0B85812DC92D}">
      <dsp:nvSpPr>
        <dsp:cNvPr id="0" name=""/>
        <dsp:cNvSpPr/>
      </dsp:nvSpPr>
      <dsp:spPr>
        <a:xfrm>
          <a:off x="4528280" y="2435172"/>
          <a:ext cx="2360272" cy="14987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Identifies patterns, trends, and outliers.</a:t>
          </a:r>
        </a:p>
      </dsp:txBody>
      <dsp:txXfrm>
        <a:off x="4572178" y="2479070"/>
        <a:ext cx="2272476" cy="1410976"/>
      </dsp:txXfrm>
    </dsp:sp>
    <dsp:sp modelId="{3D3F5D3D-1D49-46F2-9C99-4DF4CFFE1CC2}">
      <dsp:nvSpPr>
        <dsp:cNvPr id="0" name=""/>
        <dsp:cNvSpPr/>
      </dsp:nvSpPr>
      <dsp:spPr>
        <a:xfrm>
          <a:off x="7150805" y="2186033"/>
          <a:ext cx="2360272" cy="1498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32BF3-CF7D-4CE8-8A83-5693C5D7B5A6}">
      <dsp:nvSpPr>
        <dsp:cNvPr id="0" name=""/>
        <dsp:cNvSpPr/>
      </dsp:nvSpPr>
      <dsp:spPr>
        <a:xfrm>
          <a:off x="7413057" y="2435172"/>
          <a:ext cx="2360272" cy="14987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Forms the foundation for more advanced statistical modeling.</a:t>
          </a:r>
        </a:p>
      </dsp:txBody>
      <dsp:txXfrm>
        <a:off x="7456955" y="2479070"/>
        <a:ext cx="2272476" cy="1410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05:03:24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05:05:40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05:12:24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05:13:3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6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0" Type="http://schemas.openxmlformats.org/officeDocument/2006/relationships/customXml" Target="../ink/ink4.xm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top-20-frequently-asked-questions-on-descriptive-statistics-for-data-science-aspirants-8cc8b7351402" TargetMode="External"/><Relationship Id="rId2" Type="http://schemas.openxmlformats.org/officeDocument/2006/relationships/hyperlink" Target="https://medium.com/@vikashsinghy2k/mastering-credit-risk-analysis-a-step-by-step-guide-to-descriptive-statistics-in-python-bfbdfba627d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vikashsinghy2k/phases-of-data-science-and-analytics-7bfc524cc23a" TargetMode="External"/><Relationship Id="rId4" Type="http://schemas.openxmlformats.org/officeDocument/2006/relationships/hyperlink" Target="https://medium.com/@vikashsinghy2k/how-much-statistics-do-you-really-need-for-data-science-77dc3a8c4d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02C3A7-D23D-822D-2A2D-1A386E2C5B07}"/>
              </a:ext>
            </a:extLst>
          </p:cNvPr>
          <p:cNvSpPr txBox="1"/>
          <p:nvPr/>
        </p:nvSpPr>
        <p:spPr>
          <a:xfrm>
            <a:off x="1560897" y="2769179"/>
            <a:ext cx="9801726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Montserrat SemiBold" pitchFamily="2" charset="0"/>
              </a:rPr>
              <a:t>Introduction to Descriptive Statistics </a:t>
            </a:r>
          </a:p>
        </p:txBody>
      </p:sp>
    </p:spTree>
    <p:extLst>
      <p:ext uri="{BB962C8B-B14F-4D97-AF65-F5344CB8AC3E}">
        <p14:creationId xmlns:p14="http://schemas.microsoft.com/office/powerpoint/2010/main" val="310789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9B894-2F59-1DC0-5CF8-CAD328C1D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33" y="2504114"/>
            <a:ext cx="998822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Understand </a:t>
            </a:r>
            <a:r>
              <a:rPr lang="en-US" sz="2800" b="1" dirty="0"/>
              <a:t>measures of descriptive statistics</a:t>
            </a:r>
            <a:r>
              <a:rPr lang="en-US" sz="2800" dirty="0"/>
              <a:t>: Mean, Median, Mode, Standard Deviation, etc.</a:t>
            </a:r>
            <a:endParaRPr lang="en-US" sz="2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Learn how to </a:t>
            </a:r>
            <a:r>
              <a:rPr lang="en-US" sz="2800" b="1" dirty="0"/>
              <a:t>derive and interpret</a:t>
            </a:r>
            <a:r>
              <a:rPr lang="en-US" sz="2800" dirty="0"/>
              <a:t> these measures.</a:t>
            </a:r>
            <a:endParaRPr lang="en-US" sz="2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/>
              <a:t>Use </a:t>
            </a:r>
            <a:r>
              <a:rPr lang="en-US" sz="2800" b="1" dirty="0"/>
              <a:t>Python</a:t>
            </a:r>
            <a:r>
              <a:rPr lang="en-US" sz="2800" dirty="0"/>
              <a:t> for hands-on calculation of statistics.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92CC7-A17C-D165-0C27-BC2DBA9AC279}"/>
              </a:ext>
            </a:extLst>
          </p:cNvPr>
          <p:cNvSpPr txBox="1">
            <a:spLocks/>
          </p:cNvSpPr>
          <p:nvPr/>
        </p:nvSpPr>
        <p:spPr>
          <a:xfrm>
            <a:off x="3189513" y="217297"/>
            <a:ext cx="7764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303A-762B-977B-AFB1-DB5B7BA93D8F}"/>
              </a:ext>
            </a:extLst>
          </p:cNvPr>
          <p:cNvSpPr txBox="1">
            <a:spLocks/>
          </p:cNvSpPr>
          <p:nvPr/>
        </p:nvSpPr>
        <p:spPr>
          <a:xfrm>
            <a:off x="525591" y="1079096"/>
            <a:ext cx="10196838" cy="49189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What is the primary goal of descriptive statistics?</a:t>
            </a: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539750" indent="-514350">
              <a:buFont typeface="Arial" panose="020B0604020202020204" pitchFamily="34" charset="0"/>
              <a:buAutoNum type="alphaUcParenR"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To make inferences about a population</a:t>
            </a:r>
          </a:p>
          <a:p>
            <a:pPr marL="25400" indent="0">
              <a:buFont typeface="Arial" panose="020B0604020202020204" pitchFamily="34" charset="0"/>
              <a:buNone/>
            </a:pP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B) To describe and summarize data</a:t>
            </a: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C) To test hypotheses</a:t>
            </a: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D) To establish causality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D09A-1783-4C1F-B896-AA05DE106626}"/>
              </a:ext>
            </a:extLst>
          </p:cNvPr>
          <p:cNvSpPr txBox="1">
            <a:spLocks/>
          </p:cNvSpPr>
          <p:nvPr/>
        </p:nvSpPr>
        <p:spPr>
          <a:xfrm>
            <a:off x="3189513" y="217297"/>
            <a:ext cx="7764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FFA05A-1D5E-8563-A51C-9AAE92DFC66A}"/>
              </a:ext>
            </a:extLst>
          </p:cNvPr>
          <p:cNvSpPr txBox="1">
            <a:spLocks/>
          </p:cNvSpPr>
          <p:nvPr/>
        </p:nvSpPr>
        <p:spPr>
          <a:xfrm>
            <a:off x="958029" y="1070605"/>
            <a:ext cx="10275941" cy="545035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What is the primary goal of descriptive statistics?</a:t>
            </a: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539750" indent="-514350">
              <a:buFont typeface="Arial" panose="020B0604020202020204" pitchFamily="34" charset="0"/>
              <a:buAutoNum type="alphaUcParenR"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To make inferences about a population</a:t>
            </a: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539750" indent="-514350">
              <a:buFont typeface="Arial" panose="020B0604020202020204" pitchFamily="34" charset="0"/>
              <a:buAutoNum type="alphaUcParenR"/>
            </a:pPr>
            <a:r>
              <a:rPr lang="en-US" dirty="0">
                <a:solidFill>
                  <a:srgbClr val="242424"/>
                </a:solidFill>
                <a:highlight>
                  <a:srgbClr val="FFFF00"/>
                </a:highlight>
                <a:latin typeface="source-serif-pro"/>
              </a:rPr>
              <a:t>To describe and summarize data</a:t>
            </a: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539750" indent="-514350">
              <a:buFont typeface="Arial" panose="020B0604020202020204" pitchFamily="34" charset="0"/>
              <a:buAutoNum type="alphaUcParenR"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To test hypotheses</a:t>
            </a:r>
            <a:b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</a:b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539750" indent="-514350">
              <a:buFont typeface="Arial" panose="020B0604020202020204" pitchFamily="34" charset="0"/>
              <a:buAutoNum type="alphaUcParenR"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To establish causality</a:t>
            </a:r>
          </a:p>
          <a:p>
            <a:pPr marL="25400" indent="0">
              <a:buFont typeface="Arial" panose="020B0604020202020204" pitchFamily="34" charset="0"/>
              <a:buNone/>
            </a:pP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Answer: B) To describe and summarize data</a:t>
            </a:r>
            <a:br>
              <a:rPr lang="en-US" dirty="0"/>
            </a:b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Descriptive statistics aims to provide a summary of the main features of a dataset, making it easier to understand.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E3E03E-A044-318B-5CA4-202F987831B5}"/>
              </a:ext>
            </a:extLst>
          </p:cNvPr>
          <p:cNvSpPr txBox="1">
            <a:spLocks/>
          </p:cNvSpPr>
          <p:nvPr/>
        </p:nvSpPr>
        <p:spPr>
          <a:xfrm>
            <a:off x="3603171" y="217297"/>
            <a:ext cx="73511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Descriptive Statistics?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EC74858-14F6-DFB3-A18D-0E280FA4AB94}"/>
              </a:ext>
            </a:extLst>
          </p:cNvPr>
          <p:cNvGraphicFramePr/>
          <p:nvPr/>
        </p:nvGraphicFramePr>
        <p:xfrm>
          <a:off x="438705" y="1584297"/>
          <a:ext cx="11154581" cy="3934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377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3A041B-1B1D-03BB-E1D5-02E569B34BF9}"/>
              </a:ext>
            </a:extLst>
          </p:cNvPr>
          <p:cNvSpPr txBox="1">
            <a:spLocks/>
          </p:cNvSpPr>
          <p:nvPr/>
        </p:nvSpPr>
        <p:spPr>
          <a:xfrm>
            <a:off x="3494313" y="217297"/>
            <a:ext cx="74599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Descriptive Statistics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212460-89E8-1443-6B41-B9682FCB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2" y="1688441"/>
            <a:ext cx="11034716" cy="34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3EA18A-7683-7A4A-C778-AD08D3BF0F3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Mean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24FB5-E40D-A13A-A57D-2E8F23BAB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30" y="1149932"/>
            <a:ext cx="10337555" cy="366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8679B-8356-B555-53C9-90F3C47A1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833" y="914399"/>
            <a:ext cx="8969431" cy="537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81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4C1C33A-C534-B2B0-E211-8C12C4126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9" y="1009102"/>
            <a:ext cx="3801005" cy="41249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3D6AC-1C9E-A74D-A45B-9472F136A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894" y="694112"/>
            <a:ext cx="5285601" cy="529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1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68F820-402D-1709-FD2B-0E4B64A3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995"/>
            <a:ext cx="12192000" cy="36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9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952C-0B2F-5AF8-0F2E-1FE6D215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96E9F9-33F2-646A-5288-09C695A11664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Median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33F60-0D72-47E0-B275-0F4EA85A0920}"/>
              </a:ext>
            </a:extLst>
          </p:cNvPr>
          <p:cNvSpPr txBox="1"/>
          <p:nvPr/>
        </p:nvSpPr>
        <p:spPr>
          <a:xfrm>
            <a:off x="762000" y="1443841"/>
            <a:ext cx="990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Definition:</a:t>
            </a:r>
            <a:r>
              <a:rPr lang="en-US" sz="2800" dirty="0"/>
              <a:t> The </a:t>
            </a:r>
            <a:r>
              <a:rPr lang="en-US" sz="2800" b="1" dirty="0"/>
              <a:t>middle value</a:t>
            </a:r>
            <a:r>
              <a:rPr lang="en-US" sz="2800" dirty="0"/>
              <a:t> when data is sorted in ascending order.</a:t>
            </a:r>
          </a:p>
          <a:p>
            <a:endParaRPr lang="en-US" sz="2800" dirty="0"/>
          </a:p>
          <a:p>
            <a:r>
              <a:rPr lang="en-US" sz="2800" b="1" dirty="0"/>
              <a:t>When to Use:</a:t>
            </a:r>
            <a:r>
              <a:rPr lang="en-US" sz="2800" dirty="0"/>
              <a:t> Best for </a:t>
            </a:r>
            <a:r>
              <a:rPr lang="en-US" sz="2800" b="1" dirty="0"/>
              <a:t>skewed</a:t>
            </a:r>
            <a:r>
              <a:rPr lang="en-US" sz="2800" dirty="0"/>
              <a:t> data or when there are </a:t>
            </a:r>
            <a:r>
              <a:rPr lang="en-US" sz="2800" b="1" dirty="0"/>
              <a:t>outliers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b="1" dirty="0"/>
              <a:t>Example:</a:t>
            </a:r>
          </a:p>
          <a:p>
            <a:br>
              <a:rPr lang="en-US" sz="2800" dirty="0"/>
            </a:br>
            <a:r>
              <a:rPr lang="en-US" sz="2800" i="1" dirty="0"/>
              <a:t>For data [5, 10, 15, 20, 100], the </a:t>
            </a:r>
            <a:r>
              <a:rPr lang="en-US" sz="2800" b="1" i="1" dirty="0"/>
              <a:t>median</a:t>
            </a:r>
            <a:r>
              <a:rPr lang="en-US" sz="2800" i="1" dirty="0"/>
              <a:t> is 15, while the </a:t>
            </a:r>
            <a:r>
              <a:rPr lang="en-US" sz="2800" b="1" i="1" dirty="0"/>
              <a:t>mean</a:t>
            </a:r>
            <a:r>
              <a:rPr lang="en-US" sz="2800" i="1" dirty="0"/>
              <a:t> is skewed by 100.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358FDCC-CA87-741B-A818-81D98233B74D}"/>
                  </a:ext>
                </a:extLst>
              </p14:cNvPr>
              <p14:cNvContentPartPr/>
              <p14:nvPr/>
            </p14:nvContentPartPr>
            <p14:xfrm>
              <a:off x="11985348" y="274313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358FDCC-CA87-741B-A818-81D98233B74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979228" y="27370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D9B8D22-2446-C691-FB2E-6B38E6CEA0D1}"/>
                  </a:ext>
                </a:extLst>
              </p14:cNvPr>
              <p14:cNvContentPartPr/>
              <p14:nvPr/>
            </p14:nvContentPartPr>
            <p14:xfrm>
              <a:off x="304788" y="5024450"/>
              <a:ext cx="3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D9B8D22-2446-C691-FB2E-6B38E6CEA0D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8668" y="501833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6288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A34F9-F161-1324-B1E2-0DF7D14D0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4" y="1057495"/>
            <a:ext cx="12192000" cy="485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7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5858-2F64-E3D9-4C14-8F4ED0A9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0835AB-6708-E26F-350A-FDF3939E496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Mode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0E0039-6F84-1A30-364E-36EDD36241B2}"/>
              </a:ext>
            </a:extLst>
          </p:cNvPr>
          <p:cNvSpPr txBox="1"/>
          <p:nvPr/>
        </p:nvSpPr>
        <p:spPr>
          <a:xfrm>
            <a:off x="838199" y="1699385"/>
            <a:ext cx="1078774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Definition:</a:t>
            </a:r>
            <a:r>
              <a:rPr lang="en-US" sz="2800" dirty="0"/>
              <a:t> The value that appears </a:t>
            </a:r>
            <a:r>
              <a:rPr lang="en-US" sz="2800" b="1" dirty="0"/>
              <a:t>most frequently</a:t>
            </a:r>
            <a:r>
              <a:rPr lang="en-US" sz="2800" dirty="0"/>
              <a:t> in a dataset.</a:t>
            </a:r>
          </a:p>
          <a:p>
            <a:endParaRPr lang="en-US" sz="2800" dirty="0"/>
          </a:p>
          <a:p>
            <a:r>
              <a:rPr lang="en-US" sz="2800" b="1" dirty="0"/>
              <a:t>When to Use:</a:t>
            </a:r>
            <a:r>
              <a:rPr lang="en-US" sz="2800" dirty="0"/>
              <a:t> Useful for </a:t>
            </a:r>
            <a:r>
              <a:rPr lang="en-US" sz="2800" b="1" dirty="0"/>
              <a:t>categorical data</a:t>
            </a:r>
            <a:r>
              <a:rPr lang="en-US" sz="2800" dirty="0"/>
              <a:t> or identifying the most common occurrence.</a:t>
            </a:r>
          </a:p>
          <a:p>
            <a:endParaRPr lang="en-US" sz="2800" dirty="0"/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i="1" dirty="0"/>
              <a:t>If the most common loan amount is $10,000, that’s the mode.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80763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AFC805-F927-1257-552C-F5E714DB5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78" y="814647"/>
            <a:ext cx="11521440" cy="538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95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7A76531-75DB-2EEE-42DA-BD4EE5F6C90F}"/>
              </a:ext>
            </a:extLst>
          </p:cNvPr>
          <p:cNvSpPr txBox="1">
            <a:spLocks/>
          </p:cNvSpPr>
          <p:nvPr/>
        </p:nvSpPr>
        <p:spPr>
          <a:xfrm>
            <a:off x="2642044" y="452267"/>
            <a:ext cx="66979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Standard Deviation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BC24A-77BC-EE13-79C2-EF36579BFF5C}"/>
              </a:ext>
            </a:extLst>
          </p:cNvPr>
          <p:cNvSpPr txBox="1"/>
          <p:nvPr/>
        </p:nvSpPr>
        <p:spPr>
          <a:xfrm>
            <a:off x="503465" y="1269163"/>
            <a:ext cx="111877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1D35"/>
                </a:solidFill>
                <a:effectLst/>
              </a:rPr>
              <a:t>Standard deviation </a:t>
            </a:r>
            <a:r>
              <a:rPr lang="en-US" sz="2400" b="0" i="0" dirty="0">
                <a:solidFill>
                  <a:srgbClr val="001D35"/>
                </a:solidFill>
                <a:effectLst/>
              </a:rPr>
              <a:t>is </a:t>
            </a:r>
            <a:r>
              <a:rPr lang="en-US" sz="2400" dirty="0"/>
              <a:t>a statistical measure of data dispersion that quantifies how much individual data points differ from the mean (average) of a dataset.</a:t>
            </a:r>
          </a:p>
          <a:p>
            <a:endParaRPr lang="en-US" sz="2400" dirty="0"/>
          </a:p>
          <a:p>
            <a:r>
              <a:rPr lang="en-US" sz="2400" b="1" dirty="0"/>
              <a:t>A low standard deviation </a:t>
            </a:r>
            <a:r>
              <a:rPr lang="en-US" sz="2400" dirty="0"/>
              <a:t>signifies that data points are clustered closely around the mean, </a:t>
            </a:r>
            <a:r>
              <a:rPr lang="en-US" sz="2400" b="1" dirty="0"/>
              <a:t>indicating consistency, </a:t>
            </a:r>
            <a:r>
              <a:rPr lang="en-US" sz="2400" dirty="0"/>
              <a:t>while a </a:t>
            </a:r>
            <a:r>
              <a:rPr lang="en-US" sz="2400" b="1" dirty="0"/>
              <a:t>high standard deviation</a:t>
            </a:r>
            <a:r>
              <a:rPr lang="en-US" sz="2400" dirty="0"/>
              <a:t> shows that the data points are spread out over a wider range, </a:t>
            </a:r>
            <a:r>
              <a:rPr lang="en-US" sz="2400" b="1" dirty="0"/>
              <a:t>indicating greater variability. </a:t>
            </a:r>
          </a:p>
          <a:p>
            <a:endParaRPr lang="en-US" sz="2400" dirty="0"/>
          </a:p>
          <a:p>
            <a:r>
              <a:rPr lang="en-US" sz="2400" dirty="0"/>
              <a:t>It is calculated as the square root of the </a:t>
            </a:r>
            <a:r>
              <a:rPr lang="en-US" sz="2400" b="1" dirty="0"/>
              <a:t>variance</a:t>
            </a:r>
            <a:r>
              <a:rPr lang="en-US" sz="2400" dirty="0"/>
              <a:t>, which is the average of the squared differences from the mean.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E483CEA-B91D-8DD7-49E1-B962EBBE4295}"/>
                  </a:ext>
                </a:extLst>
              </p14:cNvPr>
              <p14:cNvContentPartPr/>
              <p14:nvPr/>
            </p14:nvContentPartPr>
            <p14:xfrm>
              <a:off x="11700228" y="497513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E483CEA-B91D-8DD7-49E1-B962EBBE429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694108" y="49690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33F2BA7-BFB7-3A2F-FC3B-4E0EA7FD3A48}"/>
                  </a:ext>
                </a:extLst>
              </p14:cNvPr>
              <p14:cNvContentPartPr/>
              <p14:nvPr/>
            </p14:nvContentPartPr>
            <p14:xfrm>
              <a:off x="11709948" y="3844370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33F2BA7-BFB7-3A2F-FC3B-4E0EA7FD3A4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703828" y="383825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3000-91C4-5E07-1766-DF7B28C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4E3F30B-21EE-CD0C-FB4D-C224B0D4100F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Variance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A8082B-5F6D-6B09-8248-219758835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03" y="1743573"/>
            <a:ext cx="10508802" cy="280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02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113F-8F2B-A423-569A-7E9266938483}"/>
              </a:ext>
            </a:extLst>
          </p:cNvPr>
          <p:cNvSpPr txBox="1">
            <a:spLocks/>
          </p:cNvSpPr>
          <p:nvPr/>
        </p:nvSpPr>
        <p:spPr>
          <a:xfrm>
            <a:off x="2884713" y="217297"/>
            <a:ext cx="8069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Range and Interquartile Range (IQR)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CF9DB-4DB3-2E9C-95C6-08F2A914B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59" y="1402652"/>
            <a:ext cx="9418698" cy="445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0C05F4-3C43-3FB3-3217-2F0D96DB3957}"/>
              </a:ext>
            </a:extLst>
          </p:cNvPr>
          <p:cNvSpPr txBox="1"/>
          <p:nvPr/>
        </p:nvSpPr>
        <p:spPr>
          <a:xfrm>
            <a:off x="2107277" y="2152687"/>
            <a:ext cx="86660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Range,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IQR (</a:t>
            </a:r>
            <a:r>
              <a:rPr lang="en-US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Interquartile Range </a:t>
            </a:r>
            <a:r>
              <a:rPr lang="en-US" dirty="0"/>
              <a:t>),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Variance, and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Standard Deviation (SD) </a:t>
            </a:r>
          </a:p>
          <a:p>
            <a:r>
              <a:rPr lang="en-US" dirty="0"/>
              <a:t>	are the four main ways to measure </a:t>
            </a:r>
            <a:r>
              <a:rPr lang="en-US" b="1" dirty="0"/>
              <a:t>dispersion</a:t>
            </a:r>
            <a:r>
              <a:rPr lang="en-US" dirty="0"/>
              <a:t> (or spread) in a data 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397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F50121-1A65-DEA6-6686-060FF2F8F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3" y="985954"/>
            <a:ext cx="4890603" cy="1291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F5106-0A7B-5A63-1709-0BD9A898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834" y="2552903"/>
            <a:ext cx="9048685" cy="33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8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F6B9D0-AA2A-A55E-C45D-1A615EDA6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3" y="985954"/>
            <a:ext cx="4699411" cy="1291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E7DFB8-DA3D-84FC-7565-0304B444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954" y="839584"/>
            <a:ext cx="7005808" cy="540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3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489C3F-222D-6038-591A-F49EFA4D2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2" y="749041"/>
            <a:ext cx="4699411" cy="1291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06FE10-844C-6FFE-B4C2-BAE2DA1C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72" y="2186231"/>
            <a:ext cx="5420481" cy="4081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C2A24-07FA-AA59-66F2-4D90B1AA3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677" y="1702034"/>
            <a:ext cx="5382376" cy="444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67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of normal distribution curve with standard deviation showing 68 95 99.7 percent ranges">
            <a:extLst>
              <a:ext uri="{FF2B5EF4-FFF2-40B4-BE49-F238E27FC236}">
                <a16:creationId xmlns:a16="http://schemas.microsoft.com/office/drawing/2014/main" id="{1810B4E2-4C60-2D69-8CCF-8B5CF91E7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" y="1263535"/>
            <a:ext cx="11095037" cy="490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221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CFD7EB-1A54-7B37-7537-D1FF88A6D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059659"/>
              </p:ext>
            </p:extLst>
          </p:nvPr>
        </p:nvGraphicFramePr>
        <p:xfrm>
          <a:off x="405937" y="2024250"/>
          <a:ext cx="11148753" cy="2225040"/>
        </p:xfrm>
        <a:graphic>
          <a:graphicData uri="http://schemas.openxmlformats.org/drawingml/2006/table">
            <a:tbl>
              <a:tblPr/>
              <a:tblGrid>
                <a:gridCol w="3716251">
                  <a:extLst>
                    <a:ext uri="{9D8B030D-6E8A-4147-A177-3AD203B41FA5}">
                      <a16:colId xmlns:a16="http://schemas.microsoft.com/office/drawing/2014/main" val="3172957723"/>
                    </a:ext>
                  </a:extLst>
                </a:gridCol>
                <a:gridCol w="1731802">
                  <a:extLst>
                    <a:ext uri="{9D8B030D-6E8A-4147-A177-3AD203B41FA5}">
                      <a16:colId xmlns:a16="http://schemas.microsoft.com/office/drawing/2014/main" val="3490484046"/>
                    </a:ext>
                  </a:extLst>
                </a:gridCol>
                <a:gridCol w="5700700">
                  <a:extLst>
                    <a:ext uri="{9D8B030D-6E8A-4147-A177-3AD203B41FA5}">
                      <a16:colId xmlns:a16="http://schemas.microsoft.com/office/drawing/2014/main" val="163505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Measure of Dispersion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Result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Interpretation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entire data set spans 30 units (from 12 to 42).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235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IQR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middle 50% of sales are spread over 12 units.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0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Variance ($s^2$)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92.61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average of the squared differences from the mean (units squared, harder to interpret directly).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909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Deviation ($s$)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9.62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average distance each sales figure is from the mean ($\bar{x}=24.57$) in the original units.</a:t>
                      </a:r>
                    </a:p>
                  </a:txBody>
                  <a:tcPr marL="45720" marR="45720" marT="30480" marB="30480" anchor="ctr">
                    <a:lnL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426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83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BB05-C771-01FD-580C-30924829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CA9F46A-B1C3-3FAA-D57D-BB359B900D06}"/>
              </a:ext>
            </a:extLst>
          </p:cNvPr>
          <p:cNvSpPr txBox="1">
            <a:spLocks/>
          </p:cNvSpPr>
          <p:nvPr/>
        </p:nvSpPr>
        <p:spPr>
          <a:xfrm>
            <a:off x="4767943" y="217297"/>
            <a:ext cx="6186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Questions?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9C0678-6944-56F9-615F-B4C921000D19}"/>
              </a:ext>
            </a:extLst>
          </p:cNvPr>
          <p:cNvSpPr txBox="1">
            <a:spLocks/>
          </p:cNvSpPr>
          <p:nvPr/>
        </p:nvSpPr>
        <p:spPr>
          <a:xfrm>
            <a:off x="457200" y="1338943"/>
            <a:ext cx="10831286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1. Which measure of central tendency is most affected by outliers?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Median  B) Mode  C) Mean  D) Range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What does a standard deviation of 0 indicate?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All values are different  B) Data is widely spread  C) All values are the same  D) There are outliers in the data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3. If the mean and median are equal, the data is likely: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Skewed right  B) Symmetrical  C) Skewed left  D) Uniform</a:t>
            </a:r>
          </a:p>
        </p:txBody>
      </p:sp>
    </p:spTree>
    <p:extLst>
      <p:ext uri="{BB962C8B-B14F-4D97-AF65-F5344CB8AC3E}">
        <p14:creationId xmlns:p14="http://schemas.microsoft.com/office/powerpoint/2010/main" val="3989791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AD2DD7-782E-7AC6-BD99-A31CFEA14750}"/>
              </a:ext>
            </a:extLst>
          </p:cNvPr>
          <p:cNvSpPr txBox="1">
            <a:spLocks/>
          </p:cNvSpPr>
          <p:nvPr/>
        </p:nvSpPr>
        <p:spPr>
          <a:xfrm>
            <a:off x="4256313" y="217297"/>
            <a:ext cx="66979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Questions?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2A5377-087F-97E7-B046-E0E5910C58E3}"/>
              </a:ext>
            </a:extLst>
          </p:cNvPr>
          <p:cNvSpPr txBox="1">
            <a:spLocks/>
          </p:cNvSpPr>
          <p:nvPr/>
        </p:nvSpPr>
        <p:spPr>
          <a:xfrm>
            <a:off x="468086" y="1262743"/>
            <a:ext cx="10831286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1. Which measure of central tendency is most affected by outliers?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Median  B) Mode  C) Mean ✅  D) Range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What does a standard deviation of 0 indicate?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All values are different  B) Data is widely spread  C) All values are the same ✅  D) There are outliers in the data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3. If the mean and median are equal, the data is likely: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Skewed right  B) Symmetrical ✅  C) Skewed left  D) Uniform</a:t>
            </a:r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F0B0-7767-AA56-DFF6-C3A4D65F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9DBCA5A-4C8C-0A6A-988F-EE6198AA6229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Python Implementation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D27B4-C72A-9704-B593-9274AB6CB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626" y="793118"/>
            <a:ext cx="6990669" cy="558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7C497B-4702-7D5F-410D-F9432EBC8089}"/>
              </a:ext>
            </a:extLst>
          </p:cNvPr>
          <p:cNvSpPr txBox="1"/>
          <p:nvPr/>
        </p:nvSpPr>
        <p:spPr>
          <a:xfrm>
            <a:off x="438705" y="1905506"/>
            <a:ext cx="4082143" cy="3046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Credit Risk Analysis for LendingClub.com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are a data scientist working at LendingClub.com and you have been asked to perform descriptive statistics on the data….</a:t>
            </a:r>
          </a:p>
        </p:txBody>
      </p:sp>
    </p:spTree>
    <p:extLst>
      <p:ext uri="{BB962C8B-B14F-4D97-AF65-F5344CB8AC3E}">
        <p14:creationId xmlns:p14="http://schemas.microsoft.com/office/powerpoint/2010/main" val="2686585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8CEBF-D55B-9046-F8AC-4AB2F16A600C}"/>
              </a:ext>
            </a:extLst>
          </p:cNvPr>
          <p:cNvSpPr txBox="1"/>
          <p:nvPr/>
        </p:nvSpPr>
        <p:spPr>
          <a:xfrm>
            <a:off x="1218460" y="2674852"/>
            <a:ext cx="99938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Descriptive statistics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help summarize and interpret datasets.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Central tendency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measures (Mean, Median, Mode) describe data location.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Dispersion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measures (Standard Deviation, Variance, IQR) show variability.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8C176-D24E-C86B-ACBC-07DDEB6A5C84}"/>
              </a:ext>
            </a:extLst>
          </p:cNvPr>
          <p:cNvSpPr txBox="1"/>
          <p:nvPr/>
        </p:nvSpPr>
        <p:spPr>
          <a:xfrm>
            <a:off x="1000746" y="1836652"/>
            <a:ext cx="99938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Mastering Credit Risk Analysis: A Step-by-Step Guide to Descriptive Statistics in Python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Top 20 Frequently Asked Questions on Descriptive Statistics for Data Science Aspirants.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How Much Statistics Do You Really Need for Data Science?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Phases of data science and analytics.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844</Words>
  <Application>Microsoft Office PowerPoint</Application>
  <PresentationFormat>Widescreen</PresentationFormat>
  <Paragraphs>109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Arial</vt:lpstr>
      <vt:lpstr>Avenir Next LT Pro</vt:lpstr>
      <vt:lpstr>Calibri</vt:lpstr>
      <vt:lpstr>Google Sans Text</vt:lpstr>
      <vt:lpstr>Montserrat SemiBold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36</cp:revision>
  <dcterms:created xsi:type="dcterms:W3CDTF">2025-07-09T10:39:06Z</dcterms:created>
  <dcterms:modified xsi:type="dcterms:W3CDTF">2026-10-28T11:10:54Z</dcterms:modified>
</cp:coreProperties>
</file>